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Garamond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Lato"/>
      <p:regular r:id="rId50"/>
      <p:bold r:id="rId51"/>
      <p:italic r:id="rId52"/>
      <p:boldItalic r:id="rId53"/>
    </p:embeddedFont>
    <p:embeddedFont>
      <p:font typeface="Poppins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8" roundtripDataSignature="AMtx7miSTirK7+pl75ZFGqKc+6b+veJa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0439B0-657B-4394-A5D2-5862ADFBC961}">
  <a:tblStyle styleId="{120439B0-657B-4394-A5D2-5862ADFBC9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Garamond-regular.fntdata"/><Relationship Id="rId41" Type="http://schemas.openxmlformats.org/officeDocument/2006/relationships/slide" Target="slides/slide35.xml"/><Relationship Id="rId44" Type="http://schemas.openxmlformats.org/officeDocument/2006/relationships/font" Target="fonts/Garamond-italic.fntdata"/><Relationship Id="rId43" Type="http://schemas.openxmlformats.org/officeDocument/2006/relationships/font" Target="fonts/Garamond-bold.fntdata"/><Relationship Id="rId46" Type="http://schemas.openxmlformats.org/officeDocument/2006/relationships/font" Target="fonts/Poppins-regular.fntdata"/><Relationship Id="rId45" Type="http://schemas.openxmlformats.org/officeDocument/2006/relationships/font" Target="fonts/Garamon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5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9" name="Google Shape;61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0929" y="0"/>
            <a:ext cx="1811338" cy="5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1399082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0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24" name="Google Shape;24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40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6" name="Google Shape;2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7" name="Google Shape;27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40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0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" name="Google Shape;33;p40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4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4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42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4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4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9" name="Google Shape;59;p44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61" name="Google Shape;61;p44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4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1" name="Google Shape;71;p4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6" name="Google Shape;76;p4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46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3" name="Google Shape;83;p47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4" name="Google Shape;84;p4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8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8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0" name="Google Shape;90;p48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91" name="Google Shape;91;p4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9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9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4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0" name="Google Shape;100;p49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0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0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4" name="Google Shape;104;p50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5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9" name="Google Shape;109;p50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cxnSp>
        <p:nvCxnSpPr>
          <p:cNvPr id="110" name="Google Shape;110;p50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1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1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5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2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2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52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5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2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5" name="Google Shape;125;p5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cxnSp>
        <p:nvCxnSpPr>
          <p:cNvPr id="126" name="Google Shape;126;p52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3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3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53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5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4" name="Google Shape;134;p53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4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8" name="Google Shape;138;p5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1" name="Google Shape;141;p5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5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5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5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5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5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5" name="Google Shape;145;p5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8" name="Google Shape;148;p55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jp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8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5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4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5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5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52.png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Relationship Id="rId5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Relationship Id="rId4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5287" y="5141416"/>
            <a:ext cx="3781425" cy="74101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"/>
          <p:cNvSpPr txBox="1"/>
          <p:nvPr/>
        </p:nvSpPr>
        <p:spPr>
          <a:xfrm>
            <a:off x="1255394" y="1356568"/>
            <a:ext cx="968121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Industrial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Communication Protocols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for IoT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3052762" y="4000351"/>
            <a:ext cx="60864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The Digital Architecture of Modern Factories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4205287" y="5446216"/>
            <a:ext cx="37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37507"/>
            <a:ext cx="336545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437507"/>
            <a:ext cx="336545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437507"/>
            <a:ext cx="3365450" cy="3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TRAINING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019472" y="3494782"/>
            <a:ext cx="285035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Legacy 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057275" y="4075807"/>
            <a:ext cx="27749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Master Fieldbus protocols like Modbus and CAN for connecting established hardware.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900701" y="3494782"/>
            <a:ext cx="23902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Messaging 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4708475" y="4075807"/>
            <a:ext cx="27749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Implement modern telemetry protocols like MQTT and CoAP for cloud scalability.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8516897" y="3494782"/>
            <a:ext cx="246030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8359675" y="4075807"/>
            <a:ext cx="27749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Understand the OPC UA framework for cross-vendor industrial interoperability.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2" name="Google Shape;17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4613" y="278040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813" y="278040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08926" y="2780407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762000" y="2062162"/>
            <a:ext cx="5048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Communication protocols are the "language" of industrial automation. Without them, machines cannot share state or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3" name="Google Shape;1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 txBox="1"/>
          <p:nvPr/>
        </p:nvSpPr>
        <p:spPr>
          <a:xfrm>
            <a:off x="1190625" y="3094583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Market Impact: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75B+ connected devices by 2030 require standardized protocols.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1190625" y="382413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Operational Alpha: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Enables Predictive Maintenance and Digital Twins.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1190625" y="4553694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Reduces manual data logging by 90% via automated telemetry.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7" name="Google Shape;18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136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4318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7274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AUTOMATION PYRAMID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"/>
          <p:cNvSpPr txBox="1"/>
          <p:nvPr/>
        </p:nvSpPr>
        <p:spPr>
          <a:xfrm>
            <a:off x="6810375" y="221456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ERP/Cloud: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HTTP, AMQP, MQTT (Business Logic).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6810375" y="2650777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SCADA/MES: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OPC UA, Modbus TCP (Operational Control).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6810375" y="338033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Control: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Profinet, EtherCAT (PLC Management).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810375" y="381654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Field: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Modbus RTU, IO-Link (Sensors/Actuators).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2" name="Google Shape;20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33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698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993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355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65102"/>
            <a:ext cx="5048250" cy="219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65102"/>
            <a:ext cx="5048250" cy="219447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"DATA SILO"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2050970" y="3260377"/>
            <a:ext cx="247030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D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Legacy Isolation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057275" y="3841402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Analog machines speak proprietary languages. Data is trapped in local memory and cannot reach the analytics cloud.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7445692" y="3260377"/>
            <a:ext cx="292036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7AE6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Protocol 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677025" y="3841402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Translation gateways convert Modbus/Serial into MQTT/TCP, allowing real-time visibility across the enterprise.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OSI MODEL VS IOT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6"/>
          <p:cNvGraphicFramePr/>
          <p:nvPr/>
        </p:nvGraphicFramePr>
        <p:xfrm>
          <a:off x="762000" y="2495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{120439B0-657B-4394-A5D2-5862ADFBC961}</a:tableStyleId>
              </a:tblPr>
              <a:tblGrid>
                <a:gridCol w="2423825"/>
                <a:gridCol w="3779200"/>
                <a:gridCol w="4465000"/>
              </a:tblGrid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OSI Layer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Industrial Context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 Protocols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Representation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MQTT, HTTP, OPC UA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Transport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Delivery Reliability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TCP, UDP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Routing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IP (IPv4/IPv6), 6LoWPAN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Physical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Signals &amp; Hardware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Ethernet, RS-485, LoRa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6"/>
          <p:cNvSpPr/>
          <p:nvPr/>
        </p:nvSpPr>
        <p:spPr>
          <a:xfrm>
            <a:off x="762000" y="3127027"/>
            <a:ext cx="242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185814" y="3127027"/>
            <a:ext cx="377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965007" y="3127027"/>
            <a:ext cx="446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62000" y="3772792"/>
            <a:ext cx="242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185814" y="3772792"/>
            <a:ext cx="377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965007" y="3772792"/>
            <a:ext cx="446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62000" y="4418558"/>
            <a:ext cx="242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185814" y="4418558"/>
            <a:ext cx="377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965007" y="4418558"/>
            <a:ext cx="446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62000" y="5064323"/>
            <a:ext cx="242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185814" y="5064323"/>
            <a:ext cx="377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965007" y="5064323"/>
            <a:ext cx="446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62000" y="5710088"/>
            <a:ext cx="242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185814" y="5710088"/>
            <a:ext cx="37791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965007" y="5710088"/>
            <a:ext cx="44649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35647"/>
            <a:ext cx="3365450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3035647"/>
            <a:ext cx="3365450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3035647"/>
            <a:ext cx="3365450" cy="205353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COMMUNICATION TOPOLOGIES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8450" y="333092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2129611" y="3483322"/>
            <a:ext cx="63007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1057275" y="40643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Centralized hub (Gateway) managing nodes (LoRaWAN).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2" name="Google Shape;25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0126" y="333092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5685799" y="3483322"/>
            <a:ext cx="820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4708475" y="40643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Self-healing, redundant node connections (Zigbee).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5" name="Google Shape;25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333092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 txBox="1"/>
          <p:nvPr/>
        </p:nvSpPr>
        <p:spPr>
          <a:xfrm>
            <a:off x="9467016" y="3483322"/>
            <a:ext cx="56007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8359675" y="40643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Sequential Daisy-chain connectivity (Modbus/CAN).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5143500" y="2728912"/>
            <a:ext cx="19050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2857500" y="3109912"/>
            <a:ext cx="68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Fieldbus &amp; Serial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3881437" y="4252912"/>
            <a:ext cx="4429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Legacy Roots of Industrial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MODBUS RTU (SERIAL)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6200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1979 standard that still powers 40% of industrial sensors. Reliable, simple, and master-slave based.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3" name="Google Shape;2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/>
        </p:nvSpPr>
        <p:spPr>
          <a:xfrm>
            <a:off x="1190625" y="2801242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Wiring: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Uses RS-485 (Differential Pair) for noise immunity.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1190625" y="353079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Max Nodes: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247 devices on one segment.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1190625" y="396701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Payload: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Raw binary with CRC checksum.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498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606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MODBUS MEMORY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6" name="Google Shape;286;p10"/>
          <p:cNvGraphicFramePr/>
          <p:nvPr/>
        </p:nvGraphicFramePr>
        <p:xfrm>
          <a:off x="762000" y="2495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{120439B0-657B-4394-A5D2-5862ADFBC961}</a:tableStyleId>
              </a:tblPr>
              <a:tblGrid>
                <a:gridCol w="3141025"/>
                <a:gridCol w="2340925"/>
                <a:gridCol w="5186075"/>
              </a:tblGrid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 Type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Typical Usage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Coils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 / Write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Relay/Motor Status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Discrete Inputs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 Only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 Switches, Push buttons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Input Registers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 Only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Analog Sensors (Temp/Pressure)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Holding Registers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 / Write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650"/>
                        <a:buFont typeface="Lato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Configuration, PWM values</a:t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10"/>
          <p:cNvSpPr/>
          <p:nvPr/>
        </p:nvSpPr>
        <p:spPr>
          <a:xfrm>
            <a:off x="762000" y="3127027"/>
            <a:ext cx="3141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903017" y="3127027"/>
            <a:ext cx="23409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243935" y="3127027"/>
            <a:ext cx="518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62000" y="3772792"/>
            <a:ext cx="3141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903017" y="3772792"/>
            <a:ext cx="23409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243935" y="3772792"/>
            <a:ext cx="518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62000" y="4418558"/>
            <a:ext cx="3141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903017" y="4418558"/>
            <a:ext cx="23409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243935" y="4418558"/>
            <a:ext cx="518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62000" y="5064323"/>
            <a:ext cx="3141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3903017" y="5064323"/>
            <a:ext cx="23409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243935" y="5064323"/>
            <a:ext cx="518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762000" y="5710088"/>
            <a:ext cx="3141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903017" y="5710088"/>
            <a:ext cx="23409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243935" y="5710088"/>
            <a:ext cx="5186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MODBUS TCP (ETHERNET)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762000" y="2887116"/>
            <a:ext cx="5048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Wraps the Modbus frame in a TCP/IP packet. No more RS-485 daisy-chaining; uses standard network switches.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9" name="Google Shape;3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9675" y="318239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 txBox="1"/>
          <p:nvPr/>
        </p:nvSpPr>
        <p:spPr>
          <a:xfrm>
            <a:off x="6677025" y="3334791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Enables integration into standard IT infrastructure while maintaining legacy data structures.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1190625" y="3919537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Speed: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10/100 Mbps (vs 115 kbps for Serial).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1190625" y="435575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Addressing: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Uses IP Addresses.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1190625" y="4791967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Port: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Default Port 502.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4" name="Google Shape;3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38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7480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1101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CAN BUS (CONTROLLER AREA)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 txBox="1"/>
          <p:nvPr/>
        </p:nvSpPr>
        <p:spPr>
          <a:xfrm>
            <a:off x="638175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High-reliability bus for automotive and robotics. Message-based, not node-based.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6810375" y="280124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Priority: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Lower ID = Higher priority.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6810375" y="323745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Collision: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Uses Non-destructive arbitration.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6810375" y="367367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Wiring: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Shielded twisted pair (CAN-H, CAN-L).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9" name="Google Shape;32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565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927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>
            <a:off x="5143500" y="2728912"/>
            <a:ext cx="19050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2028825" y="3109912"/>
            <a:ext cx="854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Messaging Protocols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3957637" y="4252912"/>
            <a:ext cx="4276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Telemetric Data Flow in Cloud IoT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MQTT: PUB-SUB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6" name="Google Shape;34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1687"/>
            <a:ext cx="18383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 txBox="1"/>
          <p:nvPr/>
        </p:nvSpPr>
        <p:spPr>
          <a:xfrm>
            <a:off x="638175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Broker-based: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Decouples the Publisher (Sensor) from the Subscriber (Dashboard).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6810375" y="2801242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Lightweight: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Smallest packet header is only 2 bytes.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6810375" y="3530798"/>
            <a:ext cx="4619625" cy="3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Topics: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Logical paths (e.g., factory/line1/temp).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6810375" y="397653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Persistence: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Broker stores messages for offline clients.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1" name="Google Shape;35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498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9558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MQTT QUALITY OF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2004595" y="3407122"/>
            <a:ext cx="8801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QoS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10572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At most once. Fast but unreliable (Fire and forget).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5700801" y="3407122"/>
            <a:ext cx="7900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QoS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47084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At least once. Guaranteed delivery but may duplicate.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9321998" y="3407122"/>
            <a:ext cx="85010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83596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Exactly once. Guaranteed and unique (Critical data).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COAP (CONSTRAINED APP)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762000" y="303371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Designed for low-power nodes on 6LoWPAN. A specialized version of HTTP over UDP.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0150" y="332898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6"/>
          <p:cNvSpPr txBox="1"/>
          <p:nvPr/>
        </p:nvSpPr>
        <p:spPr>
          <a:xfrm>
            <a:off x="6677025" y="3481387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Ideal for battery-operated sensors that sleep often.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1190625" y="377279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No TCP handshake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1190625" y="420900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RESTful (GET, POST, PUT, DELETE).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 txBox="1"/>
          <p:nvPr/>
        </p:nvSpPr>
        <p:spPr>
          <a:xfrm>
            <a:off x="1190625" y="464522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Discovery: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Supports device resource discovery.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1" name="Google Shape;3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918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280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6427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105150"/>
            <a:ext cx="504825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AMQP (ADVANCED QUEUEING)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 txBox="1"/>
          <p:nvPr/>
        </p:nvSpPr>
        <p:spPr>
          <a:xfrm>
            <a:off x="2421016" y="3400425"/>
            <a:ext cx="173021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Heavy Duty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1057275" y="3981450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Rich features, complex routing, and transactional reliability.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6381750" y="3105150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standard for Enterprise Messaging (Azure IoT Hub). Focused on interoperability and security at scale.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6810375" y="3844230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Guaranteed End-to-End delivery.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6810375" y="4280445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Enterprise: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Integrates easily with high-level business software.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6" name="Google Shape;3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632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29949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/>
          <p:nvPr/>
        </p:nvSpPr>
        <p:spPr>
          <a:xfrm>
            <a:off x="5143500" y="2728912"/>
            <a:ext cx="19050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 txBox="1"/>
          <p:nvPr/>
        </p:nvSpPr>
        <p:spPr>
          <a:xfrm>
            <a:off x="2057400" y="3109912"/>
            <a:ext cx="848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Industrial Standards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3524250" y="4252912"/>
            <a:ext cx="514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OPC UA, IO-Link, and Deterministic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9" name="Google Shape;4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9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OPC UA (UNIFIED ARCH)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76200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"Universal Language" for industrial integration. Platform independent and highly secure.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3" name="Google Shape;4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9"/>
          <p:cNvSpPr txBox="1"/>
          <p:nvPr/>
        </p:nvSpPr>
        <p:spPr>
          <a:xfrm>
            <a:off x="1190625" y="280124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Metadata: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Data tags include units and context.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1190625" y="323745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Built-in encryption and certificate exchange.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1190625" y="396701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Client-Server and Pub-Sub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7" name="Google Shape;4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565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606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0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ETHERCAT (REAL-TIME ETH)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7" name="Google Shape;4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1687"/>
            <a:ext cx="25717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0"/>
          <p:cNvSpPr txBox="1"/>
          <p:nvPr/>
        </p:nvSpPr>
        <p:spPr>
          <a:xfrm>
            <a:off x="638175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"Ethernet for Control Automation Technology". The fastest protocol for motion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6810375" y="2801242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Speed: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Processes data "on-the-fly" as packet passes through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0"/>
          <p:cNvSpPr txBox="1"/>
          <p:nvPr/>
        </p:nvSpPr>
        <p:spPr>
          <a:xfrm>
            <a:off x="6810375" y="353079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Sync: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Distributed clock for sub-microsecond synchronization.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31" name="Google Shape;4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498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IO-LINK FOR SENSORS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762000" y="2958554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final meter of connectivity. Standard 3-wire cabling for "Smart" sensors.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40" name="Google Shape;4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9675" y="325382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1"/>
          <p:cNvSpPr txBox="1"/>
          <p:nvPr/>
        </p:nvSpPr>
        <p:spPr>
          <a:xfrm>
            <a:off x="6677025" y="3406229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Turns standard I/O into a high-fidelity digital diagnostic channel.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1190625" y="3697634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Diagnostics: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Detects if a sensor is broken or needs cleaning.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1190625" y="4427190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Auto-Config: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Replace a sensor, and the master auto-configures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44" name="Google Shape;4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16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4624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38325"/>
            <a:ext cx="10668000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2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PROTOCOL BENCHMARKING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"/>
          <p:cNvSpPr/>
          <p:nvPr/>
        </p:nvSpPr>
        <p:spPr>
          <a:xfrm>
            <a:off x="5143500" y="2157412"/>
            <a:ext cx="19050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762000" y="2538412"/>
            <a:ext cx="1120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Gateways &amp; Implementation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4657725" y="4824412"/>
            <a:ext cx="2876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Bridging the OT-IT Gap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IOT GATEWAY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76200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"Translator" between local Fieldbus and Cloud Telemetry.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8" name="Google Shape;4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4"/>
          <p:cNvSpPr txBox="1"/>
          <p:nvPr/>
        </p:nvSpPr>
        <p:spPr>
          <a:xfrm>
            <a:off x="1190625" y="2801242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Edge Processing: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Filters noise before cloud upload.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4"/>
          <p:cNvSpPr txBox="1"/>
          <p:nvPr/>
        </p:nvSpPr>
        <p:spPr>
          <a:xfrm>
            <a:off x="1190625" y="353079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Firewall between PLC network and Internet.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1190625" y="426035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Caching: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Stores data during network outages.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2" name="Google Shape;4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498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7940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9" name="Google Shape;4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5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WIRELESS: LORAWAN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2" name="Google Shape;4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1687"/>
            <a:ext cx="50292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5"/>
          <p:cNvSpPr txBox="1"/>
          <p:nvPr/>
        </p:nvSpPr>
        <p:spPr>
          <a:xfrm>
            <a:off x="6381750" y="20621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Long Range, Low Power. Perfect for Agriculture and Smart Cities.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5"/>
          <p:cNvSpPr txBox="1"/>
          <p:nvPr/>
        </p:nvSpPr>
        <p:spPr>
          <a:xfrm>
            <a:off x="6810375" y="280124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Range: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Up to 15km in rural areas.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5"/>
          <p:cNvSpPr txBox="1"/>
          <p:nvPr/>
        </p:nvSpPr>
        <p:spPr>
          <a:xfrm>
            <a:off x="6810375" y="323745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Battery: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10 years on a coin cell.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5"/>
          <p:cNvSpPr txBox="1"/>
          <p:nvPr/>
        </p:nvSpPr>
        <p:spPr>
          <a:xfrm>
            <a:off x="6810375" y="367367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Speed: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Low (bps), for small telemetry bursts.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87" name="Google Shape;4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20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565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927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4" name="Google Shape;4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35647"/>
            <a:ext cx="5048250" cy="205353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6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CELLULAR: NB-IOT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7" name="Google Shape;4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333092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6"/>
          <p:cNvSpPr txBox="1"/>
          <p:nvPr/>
        </p:nvSpPr>
        <p:spPr>
          <a:xfrm>
            <a:off x="2446020" y="3483322"/>
            <a:ext cx="16802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Cellular IoT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6"/>
          <p:cNvSpPr txBox="1"/>
          <p:nvPr/>
        </p:nvSpPr>
        <p:spPr>
          <a:xfrm>
            <a:off x="1057275" y="4064347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Uses licensed spectrum for massive node density and high reliability.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6"/>
          <p:cNvSpPr txBox="1"/>
          <p:nvPr/>
        </p:nvSpPr>
        <p:spPr>
          <a:xfrm>
            <a:off x="6810375" y="3188047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Mobility: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Works across moving assets (Trucks/Trains).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6"/>
          <p:cNvSpPr txBox="1"/>
          <p:nvPr/>
        </p:nvSpPr>
        <p:spPr>
          <a:xfrm>
            <a:off x="6810375" y="391760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SIM-based hardware authentication.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2" name="Google Shape;5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070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3665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8" name="Google Shape;5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11003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2700" y="411003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400" y="411003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101" y="41100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7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DEPLOYMENT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762000" y="423386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 txBox="1"/>
          <p:nvPr/>
        </p:nvSpPr>
        <p:spPr>
          <a:xfrm>
            <a:off x="-57150" y="4614862"/>
            <a:ext cx="2000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-9525" y="5634037"/>
            <a:ext cx="1905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RS-485 / Ethernet Cabling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3403550" y="4614862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Local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3451175" y="5195887"/>
            <a:ext cx="1905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Register Mapping &amp; Polling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6864250" y="4614862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7"/>
          <p:cNvSpPr txBox="1"/>
          <p:nvPr/>
        </p:nvSpPr>
        <p:spPr>
          <a:xfrm>
            <a:off x="6911875" y="5195887"/>
            <a:ext cx="1905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TLS Certificates &amp; Firewalls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7"/>
          <p:cNvSpPr txBox="1"/>
          <p:nvPr/>
        </p:nvSpPr>
        <p:spPr>
          <a:xfrm>
            <a:off x="10415364" y="4614862"/>
            <a:ext cx="1819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10415364" y="5195887"/>
            <a:ext cx="181942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MQTT Broker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7" name="Google Shape;5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3111847"/>
            <a:ext cx="336545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8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TROUBLESHOOTING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 txBox="1"/>
          <p:nvPr/>
        </p:nvSpPr>
        <p:spPr>
          <a:xfrm>
            <a:off x="1659552" y="3407122"/>
            <a:ext cx="157019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Wireshark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8"/>
          <p:cNvSpPr txBox="1"/>
          <p:nvPr/>
        </p:nvSpPr>
        <p:spPr>
          <a:xfrm>
            <a:off x="10572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Packet analysis for Ethernet protocols.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 txBox="1"/>
          <p:nvPr/>
        </p:nvSpPr>
        <p:spPr>
          <a:xfrm>
            <a:off x="5390763" y="3407122"/>
            <a:ext cx="141017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8"/>
          <p:cNvSpPr txBox="1"/>
          <p:nvPr/>
        </p:nvSpPr>
        <p:spPr>
          <a:xfrm>
            <a:off x="47084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Verification of Modbus registers.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 txBox="1"/>
          <p:nvPr/>
        </p:nvSpPr>
        <p:spPr>
          <a:xfrm>
            <a:off x="9156977" y="3407122"/>
            <a:ext cx="11801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MQTT.fx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8359675" y="3988147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Monitoring MQTT topic traffic.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/>
          <p:cNvSpPr/>
          <p:nvPr/>
        </p:nvSpPr>
        <p:spPr>
          <a:xfrm>
            <a:off x="5143500" y="2728912"/>
            <a:ext cx="1905000" cy="9525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 txBox="1"/>
          <p:nvPr/>
        </p:nvSpPr>
        <p:spPr>
          <a:xfrm>
            <a:off x="3805237" y="3109912"/>
            <a:ext cx="48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Mini Project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 txBox="1"/>
          <p:nvPr/>
        </p:nvSpPr>
        <p:spPr>
          <a:xfrm>
            <a:off x="3824287" y="4252912"/>
            <a:ext cx="454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Modbus-to-MQTT Telemetry Bridge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9" name="Google Shape;5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2162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0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0"/>
          <p:cNvSpPr txBox="1"/>
          <p:nvPr/>
        </p:nvSpPr>
        <p:spPr>
          <a:xfrm>
            <a:off x="762000" y="2062162"/>
            <a:ext cx="53006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762000" y="2643187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Bridge an industrial power meter (Modbus RTU) to a cloud dashboard (MQTT).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54" name="Google Shape;55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71687"/>
            <a:ext cx="239077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0"/>
          <p:cNvSpPr txBox="1"/>
          <p:nvPr/>
        </p:nvSpPr>
        <p:spPr>
          <a:xfrm>
            <a:off x="1190625" y="3382267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Edge: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Raspberry Pi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0"/>
          <p:cNvSpPr txBox="1"/>
          <p:nvPr/>
        </p:nvSpPr>
        <p:spPr>
          <a:xfrm>
            <a:off x="1190625" y="3818483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Field: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RS-485 USB Adapter + Meter.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190625" y="4254698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Cloud: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HiveMQ Broker + Grafana.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58" name="Google Shape;55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013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375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737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5" name="Google Shape;56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63167"/>
            <a:ext cx="1066800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1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WORKING PRINCIPLE (CODE)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1"/>
          <p:cNvSpPr txBox="1"/>
          <p:nvPr/>
        </p:nvSpPr>
        <p:spPr>
          <a:xfrm>
            <a:off x="2143125" y="4725292"/>
            <a:ext cx="7905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Ensures deterministic sampling of field data pushed into an asynchronous cloud stream.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2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FUTURE: TSN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2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 txBox="1"/>
          <p:nvPr/>
        </p:nvSpPr>
        <p:spPr>
          <a:xfrm>
            <a:off x="762000" y="2814637"/>
            <a:ext cx="53006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Time-Sensitive Networking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2"/>
          <p:cNvSpPr txBox="1"/>
          <p:nvPr/>
        </p:nvSpPr>
        <p:spPr>
          <a:xfrm>
            <a:off x="762000" y="3395662"/>
            <a:ext cx="504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Standard Ethernet with guaranteed latency. Merges IT and OT into one single wire.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77" name="Google Shape;5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200" y="31099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2"/>
          <p:cNvSpPr txBox="1"/>
          <p:nvPr/>
        </p:nvSpPr>
        <p:spPr>
          <a:xfrm>
            <a:off x="6677025" y="3262312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Enables real-time motion control over standard IT switches.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1190625" y="4134742"/>
            <a:ext cx="4619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Sync: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Nanosecond timing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2"/>
          <p:cNvSpPr txBox="1"/>
          <p:nvPr/>
        </p:nvSpPr>
        <p:spPr>
          <a:xfrm>
            <a:off x="1190625" y="4570958"/>
            <a:ext cx="46196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Redundant paths for zero-loss packet delivery.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81" name="Google Shape;5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537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9000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7" name="Google Shape;5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88902"/>
            <a:ext cx="3365450" cy="2346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888902"/>
            <a:ext cx="3365450" cy="2346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888902"/>
            <a:ext cx="3365450" cy="234687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3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FUTURE: 5G / 6G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92" name="Google Shape;59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8925" y="318417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3"/>
          <p:cNvSpPr txBox="1"/>
          <p:nvPr/>
        </p:nvSpPr>
        <p:spPr>
          <a:xfrm>
            <a:off x="1989593" y="3336577"/>
            <a:ext cx="9101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URLLC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 txBox="1"/>
          <p:nvPr/>
        </p:nvSpPr>
        <p:spPr>
          <a:xfrm>
            <a:off x="1057275" y="3917602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Ultra-Reliable Low-Latency Communication for robotics.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95" name="Google Shape;59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9651" y="318417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3"/>
          <p:cNvSpPr txBox="1"/>
          <p:nvPr/>
        </p:nvSpPr>
        <p:spPr>
          <a:xfrm>
            <a:off x="5600789" y="3336577"/>
            <a:ext cx="9901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mMTC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3"/>
          <p:cNvSpPr txBox="1"/>
          <p:nvPr/>
        </p:nvSpPr>
        <p:spPr>
          <a:xfrm>
            <a:off x="4708475" y="3917602"/>
            <a:ext cx="27749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Massive Machine-Type Communication (1M nodes / km²).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98" name="Google Shape;59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0851" y="318417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3"/>
          <p:cNvSpPr txBox="1"/>
          <p:nvPr/>
        </p:nvSpPr>
        <p:spPr>
          <a:xfrm>
            <a:off x="8566904" y="3336577"/>
            <a:ext cx="23602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Network Slicing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8359675" y="3917602"/>
            <a:ext cx="2774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Dedicated virtual pipes for critical industrial safety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"/>
          <p:cNvSpPr txBox="1"/>
          <p:nvPr/>
        </p:nvSpPr>
        <p:spPr>
          <a:xfrm>
            <a:off x="952500" y="952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TECHNICAL INTERVIEW PREP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762000" y="952500"/>
            <a:ext cx="114300" cy="60007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1190625" y="2971800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What are the differences between Modbus RTU and Modbus TCP?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1190625" y="3408015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Explain the Pub-Sub model of MQTT. Why is it better than HTTP for sensors?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1190625" y="3844230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What is the role of an OPC UA Server in a multi-vendor factory?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 txBox="1"/>
          <p:nvPr/>
        </p:nvSpPr>
        <p:spPr>
          <a:xfrm>
            <a:off x="1190625" y="4280445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Differentiate between Determinism and Latency in industrial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 txBox="1"/>
          <p:nvPr/>
        </p:nvSpPr>
        <p:spPr>
          <a:xfrm>
            <a:off x="1190625" y="4716660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What are the 3 QoS levels in MQTT?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12" name="Google Shape;6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90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3" name="Google Shape;6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2706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4" name="Google Shape;6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8632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2994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73571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5"/>
          <p:cNvSpPr txBox="1"/>
          <p:nvPr/>
        </p:nvSpPr>
        <p:spPr>
          <a:xfrm>
            <a:off x="1725453" y="1731764"/>
            <a:ext cx="874109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Summary &amp;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5"/>
          <p:cNvSpPr txBox="1"/>
          <p:nvPr/>
        </p:nvSpPr>
        <p:spPr>
          <a:xfrm>
            <a:off x="3690937" y="2867025"/>
            <a:ext cx="48101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The Future of Industry is Connected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5"/>
          <p:cNvSpPr txBox="1"/>
          <p:nvPr/>
        </p:nvSpPr>
        <p:spPr>
          <a:xfrm>
            <a:off x="3576637" y="3722340"/>
            <a:ext cx="50387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Architecture | Fieldbus | Messaging | Standards | Future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5"/>
          <p:cNvSpPr txBox="1"/>
          <p:nvPr/>
        </p:nvSpPr>
        <p:spPr>
          <a:xfrm>
            <a:off x="3771900" y="4634805"/>
            <a:ext cx="4648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Thank you for your attention!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5"/>
          <p:cNvSpPr txBox="1"/>
          <p:nvPr/>
        </p:nvSpPr>
        <p:spPr>
          <a:xfrm>
            <a:off x="3771900" y="5071020"/>
            <a:ext cx="4648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Questions? Reach out to your Training Coordinator.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