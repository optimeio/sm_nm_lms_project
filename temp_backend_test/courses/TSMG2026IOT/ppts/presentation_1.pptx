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858000" cy="9144000"/>
  <p:embeddedFontLst>
    <p:embeddedFont>
      <p:font typeface="Poppins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Century Gothic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hsKGUos/w7jw8fstKnM65Rai/7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D6AD68-F3C1-4968-BF96-4C86113A27AE}">
  <a:tblStyle styleId="{BBD6AD68-F3C1-4968-BF96-4C86113A27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44" Type="http://schemas.openxmlformats.org/officeDocument/2006/relationships/font" Target="fonts/Poppins-boldItalic.fntdata"/><Relationship Id="rId43" Type="http://schemas.openxmlformats.org/officeDocument/2006/relationships/font" Target="fonts/Poppins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CenturyGothic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enturyGothic-italic.fntdata"/><Relationship Id="rId50" Type="http://schemas.openxmlformats.org/officeDocument/2006/relationships/font" Target="fonts/CenturyGothic-bold.fntdata"/><Relationship Id="rId53" Type="http://customschemas.google.com/relationships/presentationmetadata" Target="metadata"/><Relationship Id="rId52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" name="Google Shape;4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5523" y="165100"/>
            <a:ext cx="1464664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9263" y="165100"/>
            <a:ext cx="2573338" cy="75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" name="Google Shape;68;p40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41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41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5523" y="165100"/>
            <a:ext cx="1464664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9263" y="165100"/>
            <a:ext cx="2573338" cy="75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4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9" name="Google Shape;99;p44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4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5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45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4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6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6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4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2" name="Google Shape;122;p47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4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7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7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47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8" name="Google Shape;128;p4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8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8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4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9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9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9" name="Google Shape;139;p49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0" name="Google Shape;140;p4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4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5" name="Google Shape;145;p4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0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0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50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0" name="Google Shape;150;p5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1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7" name="Google Shape;157;p5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2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2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4" name="Google Shape;164;p5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5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35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35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35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35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35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35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35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35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35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5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5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5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35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35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5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5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5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5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5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5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5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5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5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5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5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3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177730"/>
            <a:ext cx="11049000" cy="10819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"/>
          <p:cNvSpPr txBox="1"/>
          <p:nvPr/>
        </p:nvSpPr>
        <p:spPr>
          <a:xfrm>
            <a:off x="295275" y="1074390"/>
            <a:ext cx="116014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Introduction 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 IoT Architecture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 Embedded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571500" y="396999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Lato"/>
                <a:ea typeface="Lato"/>
                <a:cs typeface="Lato"/>
                <a:sym typeface="Lato"/>
              </a:rPr>
              <a:t>A Comprehensive Engineering Masterclass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571500" y="571113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6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746795"/>
            <a:ext cx="3492549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TRAINING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749897"/>
            <a:ext cx="29018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"/>
          <p:cNvSpPr txBox="1"/>
          <p:nvPr/>
        </p:nvSpPr>
        <p:spPr>
          <a:xfrm>
            <a:off x="794228" y="3416647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 txBox="1"/>
          <p:nvPr/>
        </p:nvSpPr>
        <p:spPr>
          <a:xfrm>
            <a:off x="866775" y="4094708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Master the 4-layer IoT stack, middleware functions, and data integration patterns.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8" name="Google Shape;1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925" y="2749897"/>
            <a:ext cx="29019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"/>
          <p:cNvSpPr txBox="1"/>
          <p:nvPr/>
        </p:nvSpPr>
        <p:spPr>
          <a:xfrm>
            <a:off x="4572375" y="3416647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"/>
          <p:cNvSpPr txBox="1"/>
          <p:nvPr/>
        </p:nvSpPr>
        <p:spPr>
          <a:xfrm>
            <a:off x="4644925" y="4094708"/>
            <a:ext cx="29019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Identify, configure, and interface sensors, actuators, and Raspberry Pi GPIOs.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1" name="Google Shape;19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225" y="2749897"/>
            <a:ext cx="29018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"/>
          <p:cNvSpPr txBox="1"/>
          <p:nvPr/>
        </p:nvSpPr>
        <p:spPr>
          <a:xfrm>
            <a:off x="8350679" y="3416647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8423225" y="4094708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Develop, troubleshoot, and deploy end-to-end industrial IoT system solutions.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842319"/>
            <a:ext cx="5238750" cy="234850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WHY THIS TECHNOLOGY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880419"/>
            <a:ext cx="5162550" cy="22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"/>
          <p:cNvSpPr txBox="1"/>
          <p:nvPr/>
        </p:nvSpPr>
        <p:spPr>
          <a:xfrm>
            <a:off x="952500" y="2842319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Industry 4.0: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Foundation of the fourth industrial revolution and digital twin technology.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952500" y="3625155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Market Growth: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$12.6 Trillion economic value projected by 2030 (McKinsey).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952500" y="4407991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Data Monetization: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Turning raw physical signals into actionable business intelligence.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5" name="Google Shape;20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804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32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4609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INDUSTRY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962452" y="2141711"/>
            <a:ext cx="485775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Smart Manufacturing: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Asset tracking and predictive maintenance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6762750" y="2194099"/>
            <a:ext cx="485775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Smart Cities: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Intelligent traffic control and energy grids.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1048745" y="4321374"/>
            <a:ext cx="485775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Agri-Tech: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Precision farming and soil health monitoring.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6857005" y="4197549"/>
            <a:ext cx="485775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Health-Tech: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Remote patient monitoring and smart surgery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8" name="Google Shape;2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770" y="22032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4112" y="221404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73" y="43937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412" y="426987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87997"/>
            <a:ext cx="5238750" cy="2457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87997"/>
            <a:ext cx="5238750" cy="24571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PROBLEM STATEMENT SOLVED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750570" y="3083272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The Legacy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866775" y="3761333"/>
            <a:ext cx="46482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Isolated machines, manual data logging, high reactive maintenance costs, and operational data silos.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6560820" y="3083272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8000"/>
                </a:solidFill>
                <a:latin typeface="Poppins"/>
                <a:ea typeface="Poppins"/>
                <a:cs typeface="Poppins"/>
                <a:sym typeface="Poppins"/>
              </a:rPr>
              <a:t>The IoT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6677025" y="3761333"/>
            <a:ext cx="46482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Unified digital visibility, real-time telemetry, automated control loops, and AI-driven predictive insights.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85876"/>
            <a:ext cx="5238750" cy="306154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SENSING 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571500" y="2485876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Sensors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571500" y="3049637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Devices that detect changes in environment and convert them into electrical signals.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571500" y="3918198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Types: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Analog (LDR, Thermistor) and Digital (DHT11, MPU6050).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4" name="Google Shape;2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523976"/>
            <a:ext cx="5162550" cy="2985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46139"/>
            <a:ext cx="5238750" cy="314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EXECUTING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484239"/>
            <a:ext cx="5162550" cy="306466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6381750" y="244613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Actuators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381750" y="3009900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"hands" of the system. Converts electrical energy into mechanical movement or thermal energy.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6762750" y="4198441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Relays: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High voltage switching.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762750" y="4661296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Servos: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Precise angular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6762750" y="5124152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Solenoids: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Linear motion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8" name="Google Shape;2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23654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6993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16225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EMBEDDED SYSTEM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571500" y="286613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What is an Embedded System?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571500" y="3376613"/>
            <a:ext cx="5238750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 combination of computer hardware and software designed for a specific dedicated function.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571500" y="5540400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Working: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Fetches instruction → Decodes → Executes in real-time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97290"/>
            <a:ext cx="4162567" cy="4162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MCU VS MPU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9"/>
          <p:cNvGraphicFramePr/>
          <p:nvPr/>
        </p:nvGraphicFramePr>
        <p:xfrm>
          <a:off x="571500" y="2568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{BBD6AD68-F3C1-4968-BF96-4C86113A27AE}</a:tableStyleId>
              </a:tblPr>
              <a:tblGrid>
                <a:gridCol w="2790075"/>
                <a:gridCol w="4190700"/>
                <a:gridCol w="4058700"/>
              </a:tblGrid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Microcontroller (MCU)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Microprocessor (MPU)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Architecture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CPU + RAM + ROM on single chip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Standalone CPU (External RAM)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Operating System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Bare-metal / RTOS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Linux / Android / Windows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 Consumption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Low (milliwatts)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(Watts)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ESP32, Arduino Uno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Raspberry Pi, Intel Core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REAL-TIME OPERATING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571500" y="2913757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RTOS: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 OS designed for real-time applications with deterministic response times.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025" y="2980432"/>
            <a:ext cx="4648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6677025" y="3875782"/>
            <a:ext cx="4648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Used in: Automotive ABS, Airbag control, Medical ventilators.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952500" y="3782317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Preemption: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Critical tasks can pause lower-priority 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952500" y="4565153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Determinism: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Guaranteed completion within time bounds.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204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032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66132"/>
            <a:ext cx="5238750" cy="2300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LAYERED IOT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99" y="1746913"/>
            <a:ext cx="5542697" cy="5390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 txBox="1"/>
          <p:nvPr/>
        </p:nvSpPr>
        <p:spPr>
          <a:xfrm>
            <a:off x="6381750" y="286613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The 4-Layer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6762750" y="3315592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Perception: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Physical interface.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6762750" y="3778448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Network: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Connectivity &amp; Gateway.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6762750" y="4241303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Middleware: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Data orchestration.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6762750" y="4704159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UX &amp; Analytics.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4" name="Google Shape;30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536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165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27940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74225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THE PERCEPTION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71500" y="3067942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Involves hardware for data acquisition. Sensors gather analog values, processed by ADC, and prepared for digital transmission.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571500" y="4256484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Functional Block: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Transducer → Signal Conditioning → ADC → Processor Interface.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6" name="Google Shape;3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025" y="3134617"/>
            <a:ext cx="4648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 txBox="1"/>
          <p:nvPr/>
        </p:nvSpPr>
        <p:spPr>
          <a:xfrm>
            <a:off x="6677025" y="4029967"/>
            <a:ext cx="4648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Edge nodes like sensors tags and RFID readers reside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90812"/>
            <a:ext cx="5238750" cy="1817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690812"/>
            <a:ext cx="5238750" cy="181719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THE NETWORK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571500" y="4793753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Gateway: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Bridges local protocols to the global IP-based Cloud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750570" y="2986087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Short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866775" y="3664148"/>
            <a:ext cx="4648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Wi-Fi, Zigbee, Bluetooth BLE, Thread.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6560820" y="2986087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Long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6677025" y="3664148"/>
            <a:ext cx="4648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LoRaWAN, Sigfox, NB-IoT, Cellular (5G/4G).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59359"/>
            <a:ext cx="5238750" cy="351442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4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THE MIDDLEWARE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571500" y="225935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Data Management 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571500" y="2823120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software bridge connecting devices to apps. Handles device management, message brokers, and security authentication.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571500" y="4011662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Stacks: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MQTT Brokers, Database storage (InfluxDB), and Logic engines (Node-RED).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1" name="Google Shape;3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297459"/>
            <a:ext cx="5162550" cy="3438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70410"/>
            <a:ext cx="5238750" cy="28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5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THE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9" name="Google Shape;3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608510"/>
            <a:ext cx="5162550" cy="28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 txBox="1"/>
          <p:nvPr/>
        </p:nvSpPr>
        <p:spPr>
          <a:xfrm>
            <a:off x="6381750" y="257041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User Interaction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6381750" y="3134171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Final interface for end-users. Dashboards, Mobile Apps, and AI-driven decision engines.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6381750" y="4002732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Deliverables: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Data visualization, real-time alerts, and remote command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706439"/>
            <a:ext cx="5238750" cy="262041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6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COMMUNICATION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0" name="Google Shape;3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744539"/>
            <a:ext cx="5162550" cy="25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6"/>
          <p:cNvSpPr txBox="1"/>
          <p:nvPr/>
        </p:nvSpPr>
        <p:spPr>
          <a:xfrm>
            <a:off x="952500" y="2706439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I2C: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Inter-Integrated Circuit. 2-wire serial.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952500" y="3169294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SPI: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Serial Peripheral Interface. 4-wire high-speed.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952500" y="3952130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UART: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Universal Asynchronous Receiver/Transmitter.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4" name="Google Shape;36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453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739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023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73722"/>
            <a:ext cx="5238750" cy="213717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7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MQTT DEEP DIVE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750570" y="3168997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Broker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866775" y="3847058"/>
            <a:ext cx="4648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Central hub routing messages between clients based on topics.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6381750" y="3102322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Message Queuing Telemetry Transport (MQTT):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 lightweight publish/subscribe protocol designed for low-bandwidth, high-latency environments.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6381750" y="4290863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Advantage: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Minimal packet overhead (2 bytes header).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PROTOCOL STACK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18"/>
          <p:cNvGraphicFramePr/>
          <p:nvPr/>
        </p:nvGraphicFramePr>
        <p:xfrm>
          <a:off x="571500" y="2568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{BBD6AD68-F3C1-4968-BF96-4C86113A27AE}</a:tableStyleId>
              </a:tblPr>
              <a:tblGrid>
                <a:gridCol w="2613725"/>
                <a:gridCol w="4350850"/>
                <a:gridCol w="4074925"/>
              </a:tblGrid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Layer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Web (HTTP)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IoT Solution (MQTT)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E5D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Request/Response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Publish/Subscribe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TCP (Heavyweight)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TCP (Lightweight)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Header Size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~800 bytes - 2KB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 bytes - 256MB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Overhead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800"/>
                        <a:buFont typeface="Lato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Extremely Low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746795"/>
            <a:ext cx="3492549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MEMORY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794228" y="3083272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Flash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866775" y="3761333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Non-volatile storage for firmware and code instructions.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4572375" y="3083272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SRAM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4644925" y="3761333"/>
            <a:ext cx="29019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Volatile memory used for variables, stack, and heap during runtime.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8350679" y="3083272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EEPROM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8423225" y="3761333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Byte-addressable storage for config data (Wi-Fi SSID/Pass).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PROCESSING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6308962" y="2481483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Instruction Fetch: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Load from program memory.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952500" y="2672953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Decode: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Translate opcode to control signals.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6462712" y="4582836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Execute: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ALU performs operation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1108312" y="4576115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Interrupt: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Immediate jump to ISR for external events.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0" name="Google Shape;4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466" y="48960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110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062" y="27452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0087" y="47722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523875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1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RASPBERRY 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1" name="Google Shape;4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784895"/>
            <a:ext cx="516255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1"/>
          <p:cNvSpPr txBox="1"/>
          <p:nvPr/>
        </p:nvSpPr>
        <p:spPr>
          <a:xfrm>
            <a:off x="6381750" y="1746795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RPi 4 Specifications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6381750" y="231055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ultimate IoT edge node. Capable of running full Linux stacks and acting as a local broker.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6381750" y="317911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GPIO: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40-pin header for direct physical interfacing.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9" name="Google Shape;4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873722"/>
            <a:ext cx="523875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2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IMPLEMENTATION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571500" y="310232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Config Steps: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676275" y="3648997"/>
            <a:ext cx="180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857250" y="365090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Flash RPi OS (64-bit) using RPi Imager.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676275" y="3968978"/>
            <a:ext cx="180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857250" y="397088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Enable SSH and VNC for remote access.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676275" y="4288958"/>
            <a:ext cx="180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857250" y="429086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Update repository and install Python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76275" y="4608939"/>
            <a:ext cx="180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>
            <a:off x="857250" y="4610844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Install MQTT libraries (Paho-MQTT).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11049000" cy="45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3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DEVELOPMENT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571500" y="2618333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Requirements Definition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Hardware Interfacing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Coding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Testing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Cloud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746795"/>
            <a:ext cx="3492549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4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TROUBLESHOOTING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794228" y="2923282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4"/>
          <p:cNvSpPr txBox="1"/>
          <p:nvPr/>
        </p:nvSpPr>
        <p:spPr>
          <a:xfrm>
            <a:off x="866775" y="3601342"/>
            <a:ext cx="29018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Check logic levels with multi-meter. Ensure common ground between RPi and modules.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4572375" y="3073747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4644925" y="3751808"/>
            <a:ext cx="2901999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 ping to check connectivity. Verify broker address and port (1883).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8350679" y="3073747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8423225" y="3751808"/>
            <a:ext cx="29018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Implement verbose logging. Use mosquitto_sub to verify published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/>
        </p:nvSpPr>
        <p:spPr>
          <a:xfrm>
            <a:off x="762000" y="1047750"/>
            <a:ext cx="5000625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SMART MANUFACTURING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571500" y="1047750"/>
            <a:ext cx="114300" cy="921841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0" name="Google Shape;4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1743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5"/>
          <p:cNvSpPr txBox="1"/>
          <p:nvPr/>
        </p:nvSpPr>
        <p:spPr>
          <a:xfrm>
            <a:off x="571500" y="2207716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Use Case 1: IIoT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571500" y="2885777"/>
            <a:ext cx="4953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Predictive maintenance of motors. Vibration sensors send telemetry to RPi gateway. Analytics detect failure patterns 72 hours early.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952500" y="4074318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Zero unplanned downtime.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952500" y="4537174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Optimized tool lifespan.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5" name="Google Shape;4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241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7527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6"/>
          <p:cNvSpPr txBox="1"/>
          <p:nvPr/>
        </p:nvSpPr>
        <p:spPr>
          <a:xfrm>
            <a:off x="762000" y="1047750"/>
            <a:ext cx="50006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SMART 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3" name="Google Shape;4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 txBox="1"/>
          <p:nvPr/>
        </p:nvSpPr>
        <p:spPr>
          <a:xfrm>
            <a:off x="571500" y="1746795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Use Case 2: 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571500" y="2424856"/>
            <a:ext cx="4953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Smart lighting systems that dim based on human presence. Energy consumption data aggregated in cloud for city planning.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952500" y="3613398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40% energy savings.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 txBox="1"/>
          <p:nvPr/>
        </p:nvSpPr>
        <p:spPr>
          <a:xfrm>
            <a:off x="952500" y="4076253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Enhanced public safety.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88" name="Google Shape;4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14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43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7"/>
          <p:cNvSpPr txBox="1"/>
          <p:nvPr/>
        </p:nvSpPr>
        <p:spPr>
          <a:xfrm>
            <a:off x="762000" y="1047750"/>
            <a:ext cx="50006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SMART AGRICULTURE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6" name="Google Shape;4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2466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7"/>
          <p:cNvSpPr txBox="1"/>
          <p:nvPr/>
        </p:nvSpPr>
        <p:spPr>
          <a:xfrm>
            <a:off x="571500" y="1746795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Use Case 3: Agri-Tech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571500" y="2424856"/>
            <a:ext cx="4953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Automated irrigation systems. Soil moisture sensors trigger pumps only when needed, minimizing water waste.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 txBox="1"/>
          <p:nvPr/>
        </p:nvSpPr>
        <p:spPr>
          <a:xfrm>
            <a:off x="952500" y="3613398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30% water conservation.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952500" y="4076253"/>
            <a:ext cx="4572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Maximum crop yield.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1" name="Google Shape;5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14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43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8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MINI PROJECT: GREENHOUSE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8125"/>
            <a:ext cx="1071562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9937" y="238125"/>
            <a:ext cx="78581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8"/>
          <p:cNvSpPr txBox="1"/>
          <p:nvPr/>
        </p:nvSpPr>
        <p:spPr>
          <a:xfrm>
            <a:off x="571500" y="283934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Project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12" name="Google Shape;51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134617"/>
            <a:ext cx="4648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8"/>
          <p:cNvSpPr txBox="1"/>
          <p:nvPr/>
        </p:nvSpPr>
        <p:spPr>
          <a:xfrm>
            <a:off x="6677025" y="4029967"/>
            <a:ext cx="4648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Objective: Automate climate control for precision indoor farming.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 txBox="1"/>
          <p:nvPr/>
        </p:nvSpPr>
        <p:spPr>
          <a:xfrm>
            <a:off x="952500" y="3288803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RPi 4: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Master Controller.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952500" y="3751659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DHT11: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Temp/Hum Sensor.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 txBox="1"/>
          <p:nvPr/>
        </p:nvSpPr>
        <p:spPr>
          <a:xfrm>
            <a:off x="952500" y="4214514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Relay Module: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For Fan/Lamp.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 txBox="1"/>
          <p:nvPr/>
        </p:nvSpPr>
        <p:spPr>
          <a:xfrm>
            <a:off x="952500" y="4677370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Cloud: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ThingsBoard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18" name="Google Shape;51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2690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897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26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54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PROJECT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8" name="Google Shape;5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8125"/>
            <a:ext cx="1071562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9937" y="238125"/>
            <a:ext cx="78581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9"/>
          <p:cNvSpPr txBox="1"/>
          <p:nvPr/>
        </p:nvSpPr>
        <p:spPr>
          <a:xfrm>
            <a:off x="1344589" y="2142231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DHT11 sends Digital values to RPi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1344589" y="3579613"/>
            <a:ext cx="4857750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Logic: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If Temp &gt; 30°C, Activate Relay.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9"/>
          <p:cNvSpPr txBox="1"/>
          <p:nvPr/>
        </p:nvSpPr>
        <p:spPr>
          <a:xfrm>
            <a:off x="6746828" y="2921803"/>
            <a:ext cx="4857750" cy="20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Connectivity:</a:t>
            </a:r>
            <a:r>
              <a:rPr b="0" i="0" lang="en-US" sz="3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Publish data to cloud dashboard via MQTT.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3" name="Google Shape;5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100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353" y="371534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2339" y="317886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0" name="Google Shape;5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681287"/>
            <a:ext cx="5238750" cy="2137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8409"/>
            <a:ext cx="52387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0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PROJECT WORKING PRINCIPLE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4" name="Google Shape;5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38125"/>
            <a:ext cx="1071562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29937" y="238125"/>
            <a:ext cx="78581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571500" y="2909887"/>
            <a:ext cx="52387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RPi polls sensor data every 10 seconds. Python logic evaluates threshold conditions. Actuators are switched via GPIO signals. Final status is synced to a mobile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6560820" y="2976562"/>
            <a:ext cx="488061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Expected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0"/>
          <p:cNvSpPr txBox="1"/>
          <p:nvPr/>
        </p:nvSpPr>
        <p:spPr>
          <a:xfrm>
            <a:off x="6677025" y="3654623"/>
            <a:ext cx="4648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Real-time graph of environment and automatic temperature stabilization.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3" name="Google Shape;5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746795"/>
            <a:ext cx="3492549" cy="4539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746795"/>
            <a:ext cx="3492400" cy="45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1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EMERGING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794228" y="3083272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Edge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866775" y="3761333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Neural networks running locally on MCUs to avoid cloud latency.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4572375" y="3083272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Digital Twins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 txBox="1"/>
          <p:nvPr/>
        </p:nvSpPr>
        <p:spPr>
          <a:xfrm>
            <a:off x="4644925" y="3761333"/>
            <a:ext cx="29019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Virtual replica of physical assets for stress-testing and simulation.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1"/>
          <p:cNvSpPr txBox="1"/>
          <p:nvPr/>
        </p:nvSpPr>
        <p:spPr>
          <a:xfrm>
            <a:off x="8350679" y="3083272"/>
            <a:ext cx="304694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6G &amp; Beyond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1"/>
          <p:cNvSpPr txBox="1"/>
          <p:nvPr/>
        </p:nvSpPr>
        <p:spPr>
          <a:xfrm>
            <a:off x="8423225" y="3761333"/>
            <a:ext cx="29018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Massive connectivity with sub-millisecond latency for tactile IoT.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8" name="Google Shape;5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46795"/>
            <a:ext cx="523875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2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2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571500" y="1975395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By 2030, IoT will evolve into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Autonomy-of-Things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 Embedded systems will shift towards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Zero-Power Architecture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using energy harvesting (Solar/RF).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72" name="Google Shape;5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78210"/>
            <a:ext cx="5162550" cy="5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3"/>
          <p:cNvSpPr txBox="1"/>
          <p:nvPr/>
        </p:nvSpPr>
        <p:spPr>
          <a:xfrm>
            <a:off x="762000" y="104775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2E5D"/>
                </a:solidFill>
                <a:latin typeface="Poppins"/>
                <a:ea typeface="Poppins"/>
                <a:cs typeface="Poppins"/>
                <a:sym typeface="Poppins"/>
              </a:rPr>
              <a:t>TECHNICAL INTERVIEW PREP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571500" y="1047750"/>
            <a:ext cx="114300" cy="460920"/>
          </a:xfrm>
          <a:prstGeom prst="rect">
            <a:avLst/>
          </a:prstGeom>
          <a:solidFill>
            <a:srgbClr val="B1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3"/>
          <p:cNvSpPr txBox="1"/>
          <p:nvPr/>
        </p:nvSpPr>
        <p:spPr>
          <a:xfrm>
            <a:off x="952500" y="2859434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What are the differences between MQTT and CoAP?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/>
          <p:nvPr/>
        </p:nvSpPr>
        <p:spPr>
          <a:xfrm>
            <a:off x="952500" y="3322290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Explain the role of a Bootloader in Embedded Systems.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952500" y="3785145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How does an I2C protocol address multiple slave devices?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3"/>
          <p:cNvSpPr txBox="1"/>
          <p:nvPr/>
        </p:nvSpPr>
        <p:spPr>
          <a:xfrm>
            <a:off x="952500" y="4248001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Compare Edge Computing and Cloud Computing for a Smart Factory.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 txBox="1"/>
          <p:nvPr/>
        </p:nvSpPr>
        <p:spPr>
          <a:xfrm>
            <a:off x="952500" y="4710856"/>
            <a:ext cx="10668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What is the significance of the 6LoWPAN layer in IoT?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84" name="Google Shape;5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975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5" name="Google Shape;5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603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6" name="Google Shape;5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82324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7" name="Google Shape;5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861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4895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4"/>
          <p:cNvSpPr txBox="1"/>
          <p:nvPr/>
        </p:nvSpPr>
        <p:spPr>
          <a:xfrm>
            <a:off x="295275" y="194592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B12B2B"/>
                </a:solidFill>
                <a:latin typeface="Poppins"/>
                <a:ea typeface="Poppins"/>
                <a:cs typeface="Poppins"/>
                <a:sym typeface="Poppins"/>
              </a:rPr>
              <a:t>Summary &amp;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571500" y="306987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Architecture | Hardware | Software | Future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 txBox="1"/>
          <p:nvPr/>
        </p:nvSpPr>
        <p:spPr>
          <a:xfrm>
            <a:off x="571500" y="427761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571500" y="5207198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 &amp; A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