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9144000"/>
  <p:embeddedFontLst>
    <p:embeddedFont>
      <p:font typeface="Wingdings 3" panose="05040102010807070707" pitchFamily="18" charset="2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entury Gothic" panose="020B0502020202020204" pitchFamily="34" charset="0"/>
      <p:regular r:id="rId29"/>
      <p:bold r:id="rId30"/>
      <p:italic r:id="rId31"/>
      <p:boldItalic r:id="rId32"/>
    </p:embeddedFont>
    <p:embeddedFont>
      <p:font typeface="Poppins" panose="020B0604020202020204" charset="0"/>
      <p:regular r:id="rId33"/>
      <p:bold r:id="rId34"/>
      <p:italic r:id="rId35"/>
      <p:boldItalic r:id="rId36"/>
    </p:embeddedFont>
    <p:embeddedFont>
      <p:font typeface="Lato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172286-BFBA-4516-A6EE-1D851ABDABBA}">
  <a:tblStyle styleId="{1E172286-BFBA-4516-A6EE-1D851ABDABB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87083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542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027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7418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4966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879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1422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0499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150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41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5490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836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6791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496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941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7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94427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0369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43092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7733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4558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087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4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6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8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7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3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4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2" y="0"/>
            <a:ext cx="1390715" cy="8079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371" y="-22699"/>
            <a:ext cx="2527981" cy="73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221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46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2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954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33303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633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48402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003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25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94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469845" y="1958733"/>
            <a:ext cx="11166817" cy="192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b="1" i="0" u="none" strike="noStrike" cap="none" dirty="0" smtClean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Power Management &amp;</a:t>
            </a:r>
            <a:r>
              <a:rPr lang="en-US" sz="1800" b="0" i="0" u="none" strike="noStrike" cap="none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 smtClean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 b="1" i="0" u="none" strike="noStrike" cap="none" dirty="0" smtClean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Energy-Efficient </a:t>
            </a:r>
            <a:r>
              <a:rPr lang="en-US" sz="5700" b="1" i="0" u="none" strike="noStrike" cap="none" dirty="0" err="1" smtClean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IoT</a:t>
            </a:r>
            <a:r>
              <a:rPr lang="en-US" sz="5700" b="1" i="0" u="none" strike="noStrike" cap="none" dirty="0" smtClean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Design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27187"/>
            <a:ext cx="3492400" cy="4062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027187"/>
            <a:ext cx="3492549" cy="4062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027187"/>
            <a:ext cx="3492400" cy="406271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COURSE MODULES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22425" y="2331987"/>
            <a:ext cx="5905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04229" y="3046362"/>
            <a:ext cx="3026940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Power Profiles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6300" y="3669208"/>
            <a:ext cx="288280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Analyzing static vs. dynamic power dissipation and tracking profile transients.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0588" y="2331987"/>
            <a:ext cx="3905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582377" y="3046362"/>
            <a:ext cx="3027097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Sleep Topologies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54450" y="3669208"/>
            <a:ext cx="2882949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Deep sleep, standby configurations, and ultra-low leakage state machine states.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550" y="2331987"/>
            <a:ext cx="4572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360680" y="3046362"/>
            <a:ext cx="302694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Energy Harvesting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32750" y="4025354"/>
            <a:ext cx="288280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Solar, thermal, piezomechanical transduction, and power management ICs.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THE POWER CRISIS IN IOT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097285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Deploying billions of remote sensory units makes routine battery replacement logistically impossible.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000125" y="3483768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The target: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Achieve 10+ years of operational runtime on a single CR2032 lithium coin cell.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4746426"/>
            <a:ext cx="4857750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The constraint: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Active wireless communication loops can draw up to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100 mA,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while baseline standby targets must stay under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1mu</a:t>
            </a:r>
            <a:endParaRPr dirty="0"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2186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8452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CMOS POWER DISSIPATION MECHANICS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Mathematical Modeling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Total power dissipation within an embedded complementary metal-oxide-semiconductor (CMOS) core is modeled as: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96062" y="3883596"/>
            <a:ext cx="485775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represents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dynamic charging and switching workload.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6680596" y="5017293"/>
            <a:ext cx="485775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sub-threshold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leakage currents present even at idle.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0871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533444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DYNAMIC VOLTAGE &amp; FREQUENCY SCALING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DVFS System Control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2453431"/>
            <a:ext cx="528637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Because dynamic energy demands scale quadratically with operating voltage, matching performance parameters to the instant workload saves significant capacity.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4118" y="172774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1000125" y="4213175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High-Throughput Task: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Scale clock rates up along with supply voltages to finish processing rapidly.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00125" y="5475833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Idle Monitoring: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Drop operational clock rates and supply currents to minimum stable bounds.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512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1393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5" y="1830585"/>
            <a:ext cx="5160168" cy="4765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ANATOMY OF AN IOT POWER PROFILE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Transient Current Tracking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IoT device's operation cycle is highly non-continuous. High-resolution current monitoring reveals clear phase steps: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62750" y="3839914"/>
            <a:ext cx="4857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Deep Sleep Base: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Sub-microamp constant line.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762750" y="4729311"/>
            <a:ext cx="485775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MCU Wakeup &amp; Boot: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5-15 mA for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few milliseconds.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6762750" y="5618708"/>
            <a:ext cx="485775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RF Ingestion &amp; </a:t>
            </a:r>
            <a:r>
              <a:rPr lang="en-US" sz="2100" b="1" i="0" u="none" strike="noStrike" cap="none" dirty="0" err="1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Tx</a:t>
            </a: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Severe current spikes up to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120  mA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during radio transmission.</a:t>
            </a:r>
            <a:endParaRPr dirty="0"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780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76741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65680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6" y="1868684"/>
            <a:ext cx="5314950" cy="4200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MICROCONTROLLER SLEEP MODES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19"/>
          <p:cNvGraphicFramePr/>
          <p:nvPr>
            <p:extLst>
              <p:ext uri="{D42A27DB-BD31-4B8C-83A1-F6EECF244321}">
                <p14:modId xmlns:p14="http://schemas.microsoft.com/office/powerpoint/2010/main" val="241960539"/>
              </p:ext>
            </p:extLst>
          </p:nvPr>
        </p:nvGraphicFramePr>
        <p:xfrm>
          <a:off x="571500" y="1925835"/>
          <a:ext cx="11039475" cy="4465000"/>
        </p:xfrm>
        <a:graphic>
          <a:graphicData uri="http://schemas.openxmlformats.org/drawingml/2006/table">
            <a:tbl>
              <a:tblPr firstRow="1" bandRow="1">
                <a:noFill/>
                <a:tableStyleId>{1E172286-BFBA-4516-A6EE-1D851ABDABBA}</a:tableStyleId>
              </a:tblPr>
              <a:tblGrid>
                <a:gridCol w="1968250"/>
                <a:gridCol w="5863225"/>
                <a:gridCol w="3208000"/>
              </a:tblGrid>
              <a:tr h="89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Operating State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Subsystems Kept 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Typical Current Draw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</a:tr>
              <a:tr h="89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 Mode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CPU core active, flash memory reading, all peripherals clocked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4-12mA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89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Sleep Mode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Peripherals and clocks active, CPU core clock gated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1-3 mA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89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Stop/Standby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Internal core powered down, SRAM contents retained, RTC 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2-15micro</a:t>
                      </a:r>
                      <a:r>
                        <a:rPr lang="en-US" sz="1650" b="0" i="0" u="none" strike="noStrike" cap="none" baseline="0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Amps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89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Deep Sleep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SRAM lost, internal regulators disabled, hardware wake pin 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-US" sz="1650" b="0" i="0" u="none" strike="noStrike" cap="none" baseline="0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65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</a:t>
                      </a:r>
                      <a:r>
                        <a:rPr lang="en-US" sz="1650" b="0" i="0" u="none" strike="noStrike" cap="none" baseline="0" dirty="0" smtClean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Amps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HARDWARE WAKEUP STRATEGIES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Deterministic Pin Alerts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2265015"/>
            <a:ext cx="528637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Polling internal state lines forces the processor to stay in high-power operational profiles. True energy-efficient setups run entirely on hardware events.</a:t>
            </a:r>
            <a:endParaRPr dirty="0"/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000125" y="4057054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gates the core clock completely, remaining in an ultra-low current draw state.</a:t>
            </a:r>
            <a:endParaRPr dirty="0"/>
          </a:p>
        </p:txBody>
      </p:sp>
      <p:sp>
        <p:nvSpPr>
          <p:cNvPr id="191" name="Google Shape;191;p20"/>
          <p:cNvSpPr txBox="1"/>
          <p:nvPr/>
        </p:nvSpPr>
        <p:spPr>
          <a:xfrm>
            <a:off x="1000125" y="5400898"/>
            <a:ext cx="5647418" cy="13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external edge event on a designated General-Purpose </a:t>
            </a:r>
            <a:r>
              <a:rPr lang="en-US" sz="21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Input/Output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(GPIO) pin instantly triggers the internal wakeup sequence.</a:t>
            </a:r>
            <a:endParaRPr dirty="0"/>
          </a:p>
        </p:txBody>
      </p:sp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512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1393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REAL-TIME CLOCK (RTC) CALENDARING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Periodic Sleep Gating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 telemetry applications that compile samples at regular intervals (e.g., once per hour), an auxiliary clock handles scheduling.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62750" y="3839914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configures an external ultra-low current RTC module with a target countdown period.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62750" y="5102572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main processor drops into deep sleep, drawing sub-microamp current. The RTC counts down and pulls the wake pin low at the target threshold.</a:t>
            </a:r>
            <a:endParaRPr/>
          </a:p>
        </p:txBody>
      </p:sp>
      <p:pic>
        <p:nvPicPr>
          <p:cNvPr id="207" name="Google Shape;20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780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14067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BROWNOUT RESET (BOR) PROTECTION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Preventing Memory Corruption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2453431"/>
            <a:ext cx="11025414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 battery cells exhaust their capacity, their output voltage can sag during high-current radio transmissions.</a:t>
            </a:r>
            <a:endParaRPr dirty="0"/>
          </a:p>
        </p:txBody>
      </p:sp>
      <p:sp>
        <p:nvSpPr>
          <p:cNvPr id="220" name="Google Shape;220;p22"/>
          <p:cNvSpPr txBox="1"/>
          <p:nvPr/>
        </p:nvSpPr>
        <p:spPr>
          <a:xfrm>
            <a:off x="1000125" y="3839914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The Danger: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supply lines drop beneath critical thresholds, the core processor can execute corrupted instructions, risking flash memory damage.</a:t>
            </a:r>
            <a:endParaRPr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6471272" y="3815966"/>
            <a:ext cx="4857750" cy="13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The Shield: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BOR circuits permanently track input voltage rails, forcing a clean hardware reset if parameters sag beneath unsafe bounds.</a:t>
            </a:r>
            <a:endParaRPr dirty="0"/>
          </a:p>
        </p:txBody>
      </p:sp>
      <p:pic>
        <p:nvPicPr>
          <p:cNvPr id="222" name="Google Shape;22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780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0275" y="3949004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POWER DOMAIN GATING ARCHITECTURE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41325" y="1844873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Eliminating Peripheral Leakage</a:t>
            </a:r>
            <a:endParaRPr dirty="0"/>
          </a:p>
        </p:txBody>
      </p:sp>
      <p:sp>
        <p:nvSpPr>
          <p:cNvPr id="234" name="Google Shape;234;p23"/>
          <p:cNvSpPr txBox="1"/>
          <p:nvPr/>
        </p:nvSpPr>
        <p:spPr>
          <a:xfrm>
            <a:off x="441325" y="2201018"/>
            <a:ext cx="10386332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Even when a sensor isn't actively compiling metrics, its internal input stages draw constant leakage current if left connected to active supply rails.</a:t>
            </a:r>
            <a:endParaRPr dirty="0"/>
          </a:p>
        </p:txBody>
      </p:sp>
      <p:sp>
        <p:nvSpPr>
          <p:cNvPr id="235" name="Google Shape;235;p23"/>
          <p:cNvSpPr txBox="1"/>
          <p:nvPr/>
        </p:nvSpPr>
        <p:spPr>
          <a:xfrm>
            <a:off x="1238250" y="3517186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Load Switching: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Designers place P-channel MOSFETs directly on auxiliary sensor power tracks.</a:t>
            </a:r>
            <a:endParaRPr dirty="0"/>
          </a:p>
        </p:txBody>
      </p:sp>
      <p:sp>
        <p:nvSpPr>
          <p:cNvPr id="236" name="Google Shape;236;p23"/>
          <p:cNvSpPr txBox="1"/>
          <p:nvPr/>
        </p:nvSpPr>
        <p:spPr>
          <a:xfrm>
            <a:off x="6600825" y="3529104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microcontroller turns off the gate pin when idle, physically disconnecting power rails to stop all peripheral leakage.</a:t>
            </a:r>
            <a:endParaRPr dirty="0"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950" y="352141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6012" y="357632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762000" y="1047750"/>
            <a:ext cx="11401425" cy="1089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LOW-DROPOUT REGULATORS VS. BUCK CONVERTERS</a:t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571500" y="1047750"/>
            <a:ext cx="114300" cy="1089421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2375296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DC-DC Converter Trade-offs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571500" y="2998142"/>
            <a:ext cx="11106603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Choosing the wrong power distribution topology can ruin an otherwise efficient low-power design layout.</a:t>
            </a:r>
            <a:endParaRPr dirty="0"/>
          </a:p>
        </p:txBody>
      </p:sp>
      <p:sp>
        <p:nvSpPr>
          <p:cNvPr id="250" name="Google Shape;250;p24"/>
          <p:cNvSpPr txBox="1"/>
          <p:nvPr/>
        </p:nvSpPr>
        <p:spPr>
          <a:xfrm>
            <a:off x="1000125" y="4384625"/>
            <a:ext cx="4857750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LDO Regulators: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Simple, exceptionally low quiescent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current but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efficiency drops significantly when stepping down high input-to-output voltage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differentials</a:t>
            </a:r>
            <a:endParaRPr dirty="0"/>
          </a:p>
        </p:txBody>
      </p:sp>
      <p:sp>
        <p:nvSpPr>
          <p:cNvPr id="251" name="Google Shape;251;p24"/>
          <p:cNvSpPr txBox="1"/>
          <p:nvPr/>
        </p:nvSpPr>
        <p:spPr>
          <a:xfrm>
            <a:off x="6820353" y="4384625"/>
            <a:ext cx="48577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Switching Buck Converters: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Highly efficient ($\eta \</a:t>
            </a:r>
            <a:r>
              <a:rPr lang="en-US" sz="21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approx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90\%+$) under heavy loads, but complex and can exhibit higher standby current losses.</a:t>
            </a:r>
            <a:endParaRPr dirty="0"/>
          </a:p>
        </p:txBody>
      </p:sp>
      <p:pic>
        <p:nvPicPr>
          <p:cNvPr id="252" name="Google Shape;25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27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9362" y="456083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ENERGY-EFFICIENT RADIO PROTOCOLS</a:t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25"/>
          <p:cNvGraphicFramePr/>
          <p:nvPr>
            <p:extLst>
              <p:ext uri="{D42A27DB-BD31-4B8C-83A1-F6EECF244321}">
                <p14:modId xmlns:p14="http://schemas.microsoft.com/office/powerpoint/2010/main" val="1256457801"/>
              </p:ext>
            </p:extLst>
          </p:nvPr>
        </p:nvGraphicFramePr>
        <p:xfrm>
          <a:off x="571500" y="2049809"/>
          <a:ext cx="11039475" cy="4112600"/>
        </p:xfrm>
        <a:graphic>
          <a:graphicData uri="http://schemas.openxmlformats.org/drawingml/2006/table">
            <a:tbl>
              <a:tblPr firstRow="1" bandRow="1">
                <a:noFill/>
                <a:tableStyleId>{1E172286-BFBA-4516-A6EE-1D851ABDABBA}</a:tableStyleId>
              </a:tblPr>
              <a:tblGrid>
                <a:gridCol w="2086275"/>
                <a:gridCol w="2107700"/>
                <a:gridCol w="2308925"/>
                <a:gridCol w="4536575"/>
              </a:tblGrid>
              <a:tr h="102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Wireless Protocol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Tx Current Peak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Maximum Range Space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Ideal Low-Power 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</a:tr>
              <a:tr h="102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BLE (Bluetooth Low Energy)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5</a:t>
                      </a:r>
                      <a:r>
                        <a:rPr lang="en-US" baseline="0" dirty="0" smtClean="0"/>
                        <a:t> – 15 mA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50</a:t>
                      </a:r>
                      <a:r>
                        <a:rPr lang="en-US" sz="1650" b="0" i="0" u="none" strike="noStrike" cap="none" baseline="0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 m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Short-range personal wearables and localized asset tracking beacons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02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LoRaWAN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30</a:t>
                      </a:r>
                      <a:r>
                        <a:rPr lang="en-US" baseline="0" dirty="0" smtClean="0"/>
                        <a:t> – 120 mA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2-15</a:t>
                      </a:r>
                      <a:r>
                        <a:rPr lang="en-US" baseline="0" dirty="0" smtClean="0"/>
                        <a:t> km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Long-range distributed agricultural arrays and infrastructure monitors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02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NB-IoT (Cellular)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120</a:t>
                      </a:r>
                      <a:r>
                        <a:rPr lang="en-US" sz="1650" b="0" i="0" u="none" strike="noStrike" cap="none" baseline="0" dirty="0" smtClean="0">
                          <a:solidFill>
                            <a:srgbClr val="334155"/>
                          </a:solidFill>
                          <a:latin typeface="Lato"/>
                          <a:sym typeface="Lato"/>
                        </a:rPr>
                        <a:t> – 250 mA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Global cellular networks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High-bandwidth smart city metering configurations requiring broad infrastructure links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1894765" y="894458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ENERGY HARVESTING FRAMEWORKS</a:t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1622377" y="898097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334125" y="1439168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Battery-Free Operations</a:t>
            </a:r>
            <a:endParaRPr dirty="0"/>
          </a:p>
        </p:txBody>
      </p:sp>
      <p:sp>
        <p:nvSpPr>
          <p:cNvPr id="272" name="Google Shape;272;p26"/>
          <p:cNvSpPr txBox="1"/>
          <p:nvPr/>
        </p:nvSpPr>
        <p:spPr>
          <a:xfrm>
            <a:off x="6334125" y="16978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Capturing ambient micro-energy assets removes dependency on traditional electrochemical batteries.</a:t>
            </a:r>
            <a:endParaRPr dirty="0"/>
          </a:p>
        </p:txBody>
      </p:sp>
      <p:sp>
        <p:nvSpPr>
          <p:cNvPr id="273" name="Google Shape;273;p26"/>
          <p:cNvSpPr txBox="1"/>
          <p:nvPr/>
        </p:nvSpPr>
        <p:spPr>
          <a:xfrm>
            <a:off x="6680596" y="2970367"/>
            <a:ext cx="485775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Photovoltaic cells: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Captures solar or ambient indoor lighting.</a:t>
            </a:r>
            <a:endParaRPr dirty="0"/>
          </a:p>
        </p:txBody>
      </p:sp>
      <p:sp>
        <p:nvSpPr>
          <p:cNvPr id="274" name="Google Shape;274;p26"/>
          <p:cNvSpPr txBox="1"/>
          <p:nvPr/>
        </p:nvSpPr>
        <p:spPr>
          <a:xfrm>
            <a:off x="6709455" y="3716888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Thermoelectric Generators (TEG):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Converts industrial machine thermal gradients into voltage potentials via the </a:t>
            </a:r>
            <a:r>
              <a:rPr lang="en-US" sz="21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Seebeck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effect.</a:t>
            </a:r>
            <a:endParaRPr dirty="0"/>
          </a:p>
        </p:txBody>
      </p:sp>
      <p:sp>
        <p:nvSpPr>
          <p:cNvPr id="275" name="Google Shape;275;p26"/>
          <p:cNvSpPr txBox="1"/>
          <p:nvPr/>
        </p:nvSpPr>
        <p:spPr>
          <a:xfrm>
            <a:off x="6709455" y="5435501"/>
            <a:ext cx="4857750" cy="49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Piezoelectric elements: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Harnesses structural vibrations and mechanics.</a:t>
            </a:r>
            <a:endParaRPr dirty="0"/>
          </a:p>
        </p:txBody>
      </p:sp>
      <p:pic>
        <p:nvPicPr>
          <p:cNvPr id="276" name="Google Shape;27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5037" y="30939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1066" y="383083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405661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2069627" y="647365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POWER MANAGEMENT ICS (PMICS)</a:t>
            </a:r>
            <a:endParaRPr dirty="0"/>
          </a:p>
        </p:txBody>
      </p:sp>
      <p:sp>
        <p:nvSpPr>
          <p:cNvPr id="286" name="Google Shape;286;p27"/>
          <p:cNvSpPr/>
          <p:nvPr/>
        </p:nvSpPr>
        <p:spPr>
          <a:xfrm>
            <a:off x="1840741" y="692274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571500" y="1236984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Managing Tiny Energy Inputs</a:t>
            </a:r>
            <a:endParaRPr dirty="0"/>
          </a:p>
        </p:txBody>
      </p:sp>
      <p:sp>
        <p:nvSpPr>
          <p:cNvPr id="288" name="Google Shape;288;p27"/>
          <p:cNvSpPr txBox="1"/>
          <p:nvPr/>
        </p:nvSpPr>
        <p:spPr>
          <a:xfrm>
            <a:off x="571500" y="1682948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Environmental harvesting sources produce erratic, micro-level voltage inputs that cannot directly power an active processor core.</a:t>
            </a:r>
            <a:endParaRPr dirty="0"/>
          </a:p>
        </p:txBody>
      </p:sp>
      <p:pic>
        <p:nvPicPr>
          <p:cNvPr id="289" name="Google Shape;28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955901" y="3034457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Ultra-Low Voltage Bootstrapping: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Specialized PMICs can cold-start on input voltage steps as low as $100\text{ mV}$.</a:t>
            </a:r>
            <a:endParaRPr dirty="0"/>
          </a:p>
        </p:txBody>
      </p:sp>
      <p:sp>
        <p:nvSpPr>
          <p:cNvPr id="291" name="Google Shape;291;p27"/>
          <p:cNvSpPr txBox="1"/>
          <p:nvPr/>
        </p:nvSpPr>
        <p:spPr>
          <a:xfrm>
            <a:off x="1000125" y="4403095"/>
            <a:ext cx="4857750" cy="175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Dynamic Maximum Power Point Tracking (MPPT):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Dynamically matches internal impedance profiles to pull maximum efficiency from solar arrays or transducers.</a:t>
            </a:r>
            <a:endParaRPr dirty="0"/>
          </a:p>
        </p:txBody>
      </p:sp>
      <p:pic>
        <p:nvPicPr>
          <p:cNvPr id="292" name="Google Shape;29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5300" y="317840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450" y="451131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/>
          <p:nvPr/>
        </p:nvSpPr>
        <p:spPr>
          <a:xfrm>
            <a:off x="1949355" y="99461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SUPERCAPACITOR ENERGY STORAGE</a:t>
            </a:r>
            <a:endParaRPr dirty="0"/>
          </a:p>
        </p:txBody>
      </p:sp>
      <p:sp>
        <p:nvSpPr>
          <p:cNvPr id="301" name="Google Shape;301;p28"/>
          <p:cNvSpPr/>
          <p:nvPr/>
        </p:nvSpPr>
        <p:spPr>
          <a:xfrm>
            <a:off x="1731560" y="992933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 txBox="1"/>
          <p:nvPr/>
        </p:nvSpPr>
        <p:spPr>
          <a:xfrm>
            <a:off x="571500" y="1856272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Endless Cycling Lifespans</a:t>
            </a:r>
            <a:endParaRPr dirty="0"/>
          </a:p>
        </p:txBody>
      </p:sp>
      <p:sp>
        <p:nvSpPr>
          <p:cNvPr id="304" name="Google Shape;304;p28"/>
          <p:cNvSpPr txBox="1"/>
          <p:nvPr/>
        </p:nvSpPr>
        <p:spPr>
          <a:xfrm>
            <a:off x="685800" y="2476229"/>
            <a:ext cx="10098314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rechargeable batteries degrade significantly after 500 to 2,000 deep cycle transactions.</a:t>
            </a:r>
            <a:endParaRPr dirty="0"/>
          </a:p>
        </p:txBody>
      </p:sp>
      <p:sp>
        <p:nvSpPr>
          <p:cNvPr id="305" name="Google Shape;305;p28"/>
          <p:cNvSpPr txBox="1"/>
          <p:nvPr/>
        </p:nvSpPr>
        <p:spPr>
          <a:xfrm>
            <a:off x="628650" y="4014996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Supercapacitors: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Deliver up to 1,000,000 stable charge/discharge transitions without structural degradation.</a:t>
            </a:r>
            <a:endParaRPr dirty="0"/>
          </a:p>
        </p:txBody>
      </p:sp>
      <p:sp>
        <p:nvSpPr>
          <p:cNvPr id="306" name="Google Shape;306;p28"/>
          <p:cNvSpPr txBox="1"/>
          <p:nvPr/>
        </p:nvSpPr>
        <p:spPr>
          <a:xfrm>
            <a:off x="6122193" y="4014996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They tolerate massive instantaneous discharge currents, providing the power needed for energy-intensive radio transmissions.</a:t>
            </a:r>
            <a:endParaRPr dirty="0"/>
          </a:p>
        </p:txBody>
      </p:sp>
      <p:pic>
        <p:nvPicPr>
          <p:cNvPr id="307" name="Google Shape;30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000" y="413565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957" y="410418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48855"/>
            <a:ext cx="1104900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9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FIRMWARE IMPLEMENTATION PATTERN</a:t>
            </a:r>
            <a:endParaRPr/>
          </a:p>
        </p:txBody>
      </p:sp>
      <p:sp>
        <p:nvSpPr>
          <p:cNvPr id="316" name="Google Shape;316;p29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BATTERY SELF-DISCHARGE REALITIES</a:t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0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The Hidden Capacity Loss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6334125" y="2175863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Batteries lose stored charge over time even when completely disconnected from an electrical load.</a:t>
            </a:r>
            <a:endParaRPr dirty="0"/>
          </a:p>
        </p:txBody>
      </p:sp>
      <p:sp>
        <p:nvSpPr>
          <p:cNvPr id="328" name="Google Shape;328;p30"/>
          <p:cNvSpPr txBox="1"/>
          <p:nvPr/>
        </p:nvSpPr>
        <p:spPr>
          <a:xfrm>
            <a:off x="6680596" y="3560160"/>
            <a:ext cx="4857750" cy="13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Alkaline/NiMH Cells: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internal loss profiles, discarding up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10 of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their capacity each year.</a:t>
            </a:r>
            <a:endParaRPr dirty="0"/>
          </a:p>
        </p:txBody>
      </p:sp>
      <p:sp>
        <p:nvSpPr>
          <p:cNvPr id="329" name="Google Shape;329;p30"/>
          <p:cNvSpPr txBox="1"/>
          <p:nvPr/>
        </p:nvSpPr>
        <p:spPr>
          <a:xfrm>
            <a:off x="6765130" y="4897415"/>
            <a:ext cx="4857750" cy="226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Lithium </a:t>
            </a:r>
            <a:r>
              <a:rPr lang="en-US" sz="2100" b="1" i="0" u="none" strike="noStrike" cap="none" dirty="0" err="1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Thionyl</a:t>
            </a: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 Chloride </a:t>
            </a:r>
            <a:r>
              <a:rPr lang="en-US" sz="2100" b="1" i="0" u="none" strike="noStrike" cap="none" dirty="0" smtClean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Exceptional long-term shelf performance, retaining capacity with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annual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loss. This makes them ideal for decade-long remote deployments.</a:t>
            </a:r>
            <a:endParaRPr dirty="0"/>
          </a:p>
        </p:txBody>
      </p:sp>
      <p:pic>
        <p:nvPicPr>
          <p:cNvPr id="330" name="Google Shape;33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780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1406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94" y="1830585"/>
            <a:ext cx="5698449" cy="38780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1"/>
          <p:cNvSpPr txBox="1"/>
          <p:nvPr/>
        </p:nvSpPr>
        <p:spPr>
          <a:xfrm>
            <a:off x="704850" y="76496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ENERGY-AWARE EDGE FIRMWARE</a:t>
            </a:r>
            <a:endParaRPr dirty="0"/>
          </a:p>
        </p:txBody>
      </p:sp>
      <p:sp>
        <p:nvSpPr>
          <p:cNvPr id="339" name="Google Shape;339;p31"/>
          <p:cNvSpPr/>
          <p:nvPr/>
        </p:nvSpPr>
        <p:spPr>
          <a:xfrm>
            <a:off x="478632" y="125534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592932" y="783258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Algorithmic Data Compression</a:t>
            </a:r>
            <a:endParaRPr dirty="0"/>
          </a:p>
        </p:txBody>
      </p:sp>
      <p:sp>
        <p:nvSpPr>
          <p:cNvPr id="341" name="Google Shape;341;p31"/>
          <p:cNvSpPr txBox="1"/>
          <p:nvPr/>
        </p:nvSpPr>
        <p:spPr>
          <a:xfrm>
            <a:off x="571500" y="1176053"/>
            <a:ext cx="528637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Because RF transmission consumes orders of magnitude more energy than local data processing, reducing transmission frequency extends battery life.</a:t>
            </a:r>
            <a:endParaRPr dirty="0"/>
          </a:p>
        </p:txBody>
      </p:sp>
      <p:pic>
        <p:nvPicPr>
          <p:cNvPr id="342" name="Google Shape;34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/>
        </p:nvSpPr>
        <p:spPr>
          <a:xfrm>
            <a:off x="876300" y="3047448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Deadband</a:t>
            </a: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 Filtering: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Only transmit a sensor update if the reading deviates from the last reported value by more than a set threshold.</a:t>
            </a:r>
            <a:endParaRPr dirty="0"/>
          </a:p>
        </p:txBody>
      </p:sp>
      <p:sp>
        <p:nvSpPr>
          <p:cNvPr id="344" name="Google Shape;344;p31"/>
          <p:cNvSpPr txBox="1"/>
          <p:nvPr/>
        </p:nvSpPr>
        <p:spPr>
          <a:xfrm>
            <a:off x="838200" y="4900977"/>
            <a:ext cx="4857750" cy="1008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Local Aggregation: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Compress hours of raw sensor data into simple minimum, maximum, and average summaries locally before transmitting.</a:t>
            </a:r>
            <a:endParaRPr dirty="0"/>
          </a:p>
        </p:txBody>
      </p:sp>
      <p:pic>
        <p:nvPicPr>
          <p:cNvPr id="345" name="Google Shape;34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6225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5782" y="50414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25" y="1843236"/>
            <a:ext cx="5800725" cy="3987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2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FIELD DIAGNOSTIC PROFILE SETUP</a:t>
            </a:r>
            <a:endParaRPr/>
          </a:p>
        </p:txBody>
      </p:sp>
      <p:sp>
        <p:nvSpPr>
          <p:cNvPr id="354" name="Google Shape;354;p32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 txBox="1"/>
          <p:nvPr/>
        </p:nvSpPr>
        <p:spPr>
          <a:xfrm>
            <a:off x="6334125" y="1830585"/>
            <a:ext cx="5550693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Vibration Monitoring Case Study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6334125" y="2209801"/>
            <a:ext cx="528637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battery-free industrial tracking node deployment:</a:t>
            </a:r>
            <a:endParaRPr dirty="0"/>
          </a:p>
        </p:txBody>
      </p:sp>
      <p:sp>
        <p:nvSpPr>
          <p:cNvPr id="358" name="Google Shape;358;p32"/>
          <p:cNvSpPr txBox="1"/>
          <p:nvPr/>
        </p:nvSpPr>
        <p:spPr>
          <a:xfrm>
            <a:off x="6762750" y="3043430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piezoelectric transducer converts structural machine vibration into electrical energy.</a:t>
            </a:r>
            <a:endParaRPr dirty="0"/>
          </a:p>
        </p:txBody>
      </p:sp>
      <p:sp>
        <p:nvSpPr>
          <p:cNvPr id="359" name="Google Shape;359;p32"/>
          <p:cNvSpPr txBox="1"/>
          <p:nvPr/>
        </p:nvSpPr>
        <p:spPr>
          <a:xfrm>
            <a:off x="6762750" y="4280000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low-power PMIC regulates this harvested energy to charge an on-board supercapacitor bank.</a:t>
            </a:r>
            <a:endParaRPr dirty="0"/>
          </a:p>
        </p:txBody>
      </p:sp>
      <p:sp>
        <p:nvSpPr>
          <p:cNvPr id="360" name="Google Shape;360;p32"/>
          <p:cNvSpPr txBox="1"/>
          <p:nvPr/>
        </p:nvSpPr>
        <p:spPr>
          <a:xfrm>
            <a:off x="6697662" y="5486796"/>
            <a:ext cx="4857750" cy="13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runs an optimized local analytics routine and sends a compressed </a:t>
            </a:r>
            <a:r>
              <a:rPr lang="en-US" sz="21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LoRaWAN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status update every 4 hours, </a:t>
            </a:r>
            <a:endParaRPr dirty="0"/>
          </a:p>
        </p:txBody>
      </p:sp>
      <p:pic>
        <p:nvPicPr>
          <p:cNvPr id="361" name="Google Shape;36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1934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36204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2862" y="551676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4"/>
          <p:cNvSpPr txBox="1"/>
          <p:nvPr/>
        </p:nvSpPr>
        <p:spPr>
          <a:xfrm>
            <a:off x="495300" y="1374576"/>
            <a:ext cx="11201400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Designing Sustainable IoT Systems</a:t>
            </a:r>
            <a:endParaRPr/>
          </a:p>
        </p:txBody>
      </p:sp>
      <p:sp>
        <p:nvSpPr>
          <p:cNvPr id="387" name="Google Shape;387;p34"/>
          <p:cNvSpPr txBox="1"/>
          <p:nvPr/>
        </p:nvSpPr>
        <p:spPr>
          <a:xfrm>
            <a:off x="762000" y="3136701"/>
            <a:ext cx="10668000" cy="90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Balancing hardware gating, sleep scheduling, and energy harvesting creates reliable, decade-long edge tracking nodes.</a:t>
            </a:r>
            <a:endParaRPr/>
          </a:p>
        </p:txBody>
      </p:sp>
      <p:sp>
        <p:nvSpPr>
          <p:cNvPr id="388" name="Google Shape;388;p34"/>
          <p:cNvSpPr txBox="1"/>
          <p:nvPr/>
        </p:nvSpPr>
        <p:spPr>
          <a:xfrm>
            <a:off x="2890837" y="4843462"/>
            <a:ext cx="64103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QUESTIONS &amp; TRAINING WRAP-UP | END OF SERIES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43</TotalTime>
  <Words>1151</Words>
  <Application>Microsoft Office PowerPoint</Application>
  <PresentationFormat>Widescreen</PresentationFormat>
  <Paragraphs>122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Wingdings 3</vt:lpstr>
      <vt:lpstr>Calibri</vt:lpstr>
      <vt:lpstr>Century Gothic</vt:lpstr>
      <vt:lpstr>Poppins</vt:lpstr>
      <vt:lpstr>Lato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5</cp:revision>
  <dcterms:modified xsi:type="dcterms:W3CDTF">2026-06-11T05:49:48Z</dcterms:modified>
</cp:coreProperties>
</file>