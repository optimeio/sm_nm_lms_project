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Poppins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  <p:embeddedFont>
      <p:font typeface="Century Gothic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j3RLSHU0vrYA7Pq0fYw1Ynwrb4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6E2B74-D333-4C41-9304-3EA5EB810E37}">
  <a:tblStyle styleId="{066E2B74-D333-4C41-9304-3EA5EB810E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slide" Target="slides/slide14.xml"/><Relationship Id="rId42" Type="http://schemas.openxmlformats.org/officeDocument/2006/relationships/font" Target="fonts/CenturyGothic-regular.fntdata"/><Relationship Id="rId41" Type="http://schemas.openxmlformats.org/officeDocument/2006/relationships/font" Target="fonts/PoppinsSemiBold-boldItalic.fntdata"/><Relationship Id="rId22" Type="http://schemas.openxmlformats.org/officeDocument/2006/relationships/slide" Target="slides/slide16.xml"/><Relationship Id="rId44" Type="http://schemas.openxmlformats.org/officeDocument/2006/relationships/font" Target="fonts/CenturyGothic-italic.fntdata"/><Relationship Id="rId21" Type="http://schemas.openxmlformats.org/officeDocument/2006/relationships/slide" Target="slides/slide15.xml"/><Relationship Id="rId43" Type="http://schemas.openxmlformats.org/officeDocument/2006/relationships/font" Target="fonts/CenturyGothic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-italic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bold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73624" y="44450"/>
            <a:ext cx="2918376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17689" cy="9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00" scaled="0"/>
        </a:gra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algn="tl" flip="none" tx="-44450" sx="85000" ty="38100" sy="85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6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6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6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" name="Google Shape;23;p26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24" name="Google Shape;24;p26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26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26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7" name="Google Shape;27;p26"/>
          <p:cNvSpPr txBox="1"/>
          <p:nvPr>
            <p:ph type="ctrTitle"/>
          </p:nvPr>
        </p:nvSpPr>
        <p:spPr>
          <a:xfrm>
            <a:off x="1561708" y="2091263"/>
            <a:ext cx="9068586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  <a:defRPr b="0" sz="7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subTitle"/>
          </p:nvPr>
        </p:nvSpPr>
        <p:spPr>
          <a:xfrm>
            <a:off x="1562100" y="4682062"/>
            <a:ext cx="9070848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5318760" y="1341255"/>
            <a:ext cx="1554480" cy="527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8606919" y="5212080"/>
            <a:ext cx="21118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00" scaled="0"/>
        </a:gra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algn="tl" flip="none" tx="-44450" sx="85000" ty="38100" sy="85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8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8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8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28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44" name="Google Shape;44;p28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28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28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47" name="Google Shape;47;p28"/>
          <p:cNvSpPr txBox="1"/>
          <p:nvPr>
            <p:ph type="title"/>
          </p:nvPr>
        </p:nvSpPr>
        <p:spPr>
          <a:xfrm>
            <a:off x="1563623" y="2094309"/>
            <a:ext cx="9070848" cy="2587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  <a:defRPr sz="7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1563624" y="4682062"/>
            <a:ext cx="9070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28"/>
          <p:cNvSpPr txBox="1"/>
          <p:nvPr>
            <p:ph idx="10" type="dt"/>
          </p:nvPr>
        </p:nvSpPr>
        <p:spPr>
          <a:xfrm>
            <a:off x="5321808" y="1344502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1" type="ftr"/>
          </p:nvPr>
        </p:nvSpPr>
        <p:spPr>
          <a:xfrm>
            <a:off x="1453553" y="5211060"/>
            <a:ext cx="5907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604504" y="5211060"/>
            <a:ext cx="2112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" type="body"/>
          </p:nvPr>
        </p:nvSpPr>
        <p:spPr>
          <a:xfrm>
            <a:off x="1066800" y="2103120"/>
            <a:ext cx="47548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5" name="Google Shape;55;p29"/>
          <p:cNvSpPr txBox="1"/>
          <p:nvPr>
            <p:ph idx="2" type="body"/>
          </p:nvPr>
        </p:nvSpPr>
        <p:spPr>
          <a:xfrm>
            <a:off x="6370320" y="2103120"/>
            <a:ext cx="47548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6" name="Google Shape;56;p29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" type="body"/>
          </p:nvPr>
        </p:nvSpPr>
        <p:spPr>
          <a:xfrm>
            <a:off x="1069848" y="207433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sz="19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30"/>
          <p:cNvSpPr txBox="1"/>
          <p:nvPr>
            <p:ph idx="2" type="body"/>
          </p:nvPr>
        </p:nvSpPr>
        <p:spPr>
          <a:xfrm>
            <a:off x="1069848" y="2755898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3" name="Google Shape;63;p30"/>
          <p:cNvSpPr txBox="1"/>
          <p:nvPr>
            <p:ph idx="3" type="body"/>
          </p:nvPr>
        </p:nvSpPr>
        <p:spPr>
          <a:xfrm>
            <a:off x="6373368" y="207433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sz="1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30"/>
          <p:cNvSpPr txBox="1"/>
          <p:nvPr>
            <p:ph idx="4" type="body"/>
          </p:nvPr>
        </p:nvSpPr>
        <p:spPr>
          <a:xfrm>
            <a:off x="6373368" y="2756581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2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2"/>
          <p:cNvSpPr txBox="1"/>
          <p:nvPr>
            <p:ph type="title"/>
          </p:nvPr>
        </p:nvSpPr>
        <p:spPr>
          <a:xfrm>
            <a:off x="9296400" y="607392"/>
            <a:ext cx="24307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sz="2800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" type="body"/>
          </p:nvPr>
        </p:nvSpPr>
        <p:spPr>
          <a:xfrm>
            <a:off x="685800" y="609600"/>
            <a:ext cx="7772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8" name="Google Shape;78;p32"/>
          <p:cNvSpPr txBox="1"/>
          <p:nvPr>
            <p:ph idx="2" type="body"/>
          </p:nvPr>
        </p:nvSpPr>
        <p:spPr>
          <a:xfrm>
            <a:off x="9296400" y="2286000"/>
            <a:ext cx="243078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32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10393677" y="622300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32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3"/>
          <p:cNvSpPr txBox="1"/>
          <p:nvPr>
            <p:ph type="title"/>
          </p:nvPr>
        </p:nvSpPr>
        <p:spPr>
          <a:xfrm>
            <a:off x="9296400" y="603504"/>
            <a:ext cx="24323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/>
          <p:nvPr>
            <p:ph idx="2" type="pic"/>
          </p:nvPr>
        </p:nvSpPr>
        <p:spPr>
          <a:xfrm>
            <a:off x="228599" y="237744"/>
            <a:ext cx="8531352" cy="6382512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87" name="Google Shape;87;p33"/>
          <p:cNvSpPr txBox="1"/>
          <p:nvPr>
            <p:ph idx="1" type="body"/>
          </p:nvPr>
        </p:nvSpPr>
        <p:spPr>
          <a:xfrm>
            <a:off x="9296400" y="2286000"/>
            <a:ext cx="2432304" cy="35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8" name="Google Shape;88;p33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2" type="sldNum"/>
          </p:nvPr>
        </p:nvSpPr>
        <p:spPr>
          <a:xfrm>
            <a:off x="10396728" y="62270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33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" type="body"/>
          </p:nvPr>
        </p:nvSpPr>
        <p:spPr>
          <a:xfrm rot="5400000">
            <a:off x="4130040" y="-960120"/>
            <a:ext cx="393192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5" name="Google Shape;95;p34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4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/>
          <p:nvPr>
            <p:ph type="title"/>
          </p:nvPr>
        </p:nvSpPr>
        <p:spPr>
          <a:xfrm rot="5400000">
            <a:off x="7543800" y="2209800"/>
            <a:ext cx="5257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" type="body"/>
          </p:nvPr>
        </p:nvSpPr>
        <p:spPr>
          <a:xfrm rot="5400000">
            <a:off x="2247900" y="-647700"/>
            <a:ext cx="5257800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4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/>
          <p:nvPr/>
        </p:nvSpPr>
        <p:spPr>
          <a:xfrm>
            <a:off x="5281684" y="1078173"/>
            <a:ext cx="6578220" cy="509061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5433119"/>
            <a:ext cx="102870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1684" y="873457"/>
            <a:ext cx="6910316" cy="6161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" y="1259428"/>
            <a:ext cx="5459103" cy="307074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 txBox="1"/>
          <p:nvPr/>
        </p:nvSpPr>
        <p:spPr>
          <a:xfrm>
            <a:off x="5020671" y="1543050"/>
            <a:ext cx="7171329" cy="4316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5"/>
              <a:buFont typeface="Arial"/>
              <a:buNone/>
            </a:pPr>
            <a:r>
              <a:rPr b="1" i="0" lang="en-US" sz="637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Embedded Programming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7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&amp; GPIO Control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7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62137"/>
            <a:ext cx="3365450" cy="516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1862137"/>
            <a:ext cx="3365450" cy="516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862137"/>
            <a:ext cx="3365599" cy="516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TRAINING OUTCOMES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425" y="2214562"/>
            <a:ext cx="26606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1047909" y="2976562"/>
            <a:ext cx="279363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Low-Level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114425" y="4233862"/>
            <a:ext cx="2660600" cy="2133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Understand physical register mapping and bit manipulation protocols.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5" name="Google Shape;12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5625" y="2427833"/>
            <a:ext cx="26606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4699110" y="3189833"/>
            <a:ext cx="279363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Electrical Safety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4765625" y="4447133"/>
            <a:ext cx="266060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Design reliable interfaces handling current constraints and isolation.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8" name="Google Shape;12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6825" y="2424112"/>
            <a:ext cx="26607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 txBox="1"/>
          <p:nvPr/>
        </p:nvSpPr>
        <p:spPr>
          <a:xfrm>
            <a:off x="8350307" y="3186112"/>
            <a:ext cx="279378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Concurrency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8416825" y="4024312"/>
            <a:ext cx="2660749" cy="2133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Master interrupt-driven architectures and real-time operations.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EMBEDDED VS. STANDARD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3"/>
          <p:cNvGraphicFramePr/>
          <p:nvPr/>
        </p:nvGraphicFramePr>
        <p:xfrm>
          <a:off x="762000" y="2005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{066E2B74-D333-4C41-9304-3EA5EB810E37}</a:tableStyleId>
              </a:tblPr>
              <a:tblGrid>
                <a:gridCol w="1762125"/>
                <a:gridCol w="3863875"/>
                <a:gridCol w="5032475"/>
              </a:tblGrid>
              <a:tr h="99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Lato"/>
                        <a:buNone/>
                      </a:pPr>
                      <a:r>
                        <a:rPr b="1" i="0" lang="en-US" sz="2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Lato"/>
                        <a:buNone/>
                      </a:pPr>
                      <a:r>
                        <a:rPr b="1" i="0" lang="en-US" sz="2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PC Application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Lato"/>
                        <a:buNone/>
                      </a:pPr>
                      <a:r>
                        <a:rPr b="1" i="0" lang="en-US" sz="2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Embedded Control System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99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Execution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Managed by heavy OS abstraction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 hardware bare-metal/RTOS execution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9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Resources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Gigabytes of RAM / Scalable storage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Highly constrained RAM (Kilobytes/Megabytes)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9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 Bounds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 timing (UI responsiveness)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Hard real-time bounds (Microsecond limits)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9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Peripherals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Indirect access via complex drivers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950"/>
                        <a:buFont typeface="Lato"/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 register control of physical hardware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ANATOMY OF A GPIO PIN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381750" y="2166937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General Purpose Input/Output pin isn't just a wire; it is a highly multiplexed logic block: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6858000" y="3751808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Input Buffer: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Reads voltage states high/low.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858000" y="4694783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Output Driver: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Push-pull or Open-drain MOSFET pairs.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858000" y="5637758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Pull Up/Down: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Internal resistors ensuring steady default logic states.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78990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73288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567585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432" y="2428828"/>
            <a:ext cx="5704764" cy="3208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ELECTRICAL CONSTRAINTS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762000" y="1862137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Silicon Speed Limit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62000" y="2267992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Exceeding current specs permanently destroys the silicon substrate within the microprocessor.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1238250" y="3777613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Source Limits: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Max current a pin can supply (~16-20mA).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1238250" y="4834888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Sink Limits: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Max current a pin can safely ground.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238250" y="5772135"/>
            <a:ext cx="6063302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Total Rail Limits: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Aggregate chip limits (typically ~100-150mA).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3" name="Google Shape;1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385381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495298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43" y="5890232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2662" y="2168968"/>
            <a:ext cx="5919746" cy="3107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OUTPUT: PUSH-PULL CONFIGURATION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6381750" y="1976883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Active Drive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6381750" y="2700783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standard choice for digital outputs like driving LEDs or communicating over SPI lines.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6858000" y="4285654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Logic 1: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Upper P-MOS turns ON, sourcing voltage to the pin.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6858000" y="5228629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Logic 0: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Lower N-MOS turns ON, sinking current to ground.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32375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5266729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" y="2073992"/>
            <a:ext cx="5122050" cy="4354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OUTPUT: OPEN-DRAIN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762000" y="1862137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 Dominance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762000" y="2586037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 open-drain mode, the top P-MOS is omitted completely. The pin can only pull low actively.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1238250" y="4170908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Logic 0: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Pulls line actively to GND.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1238250" y="4713833"/>
            <a:ext cx="4572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Logic 1: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Pin floats high-impedance (Hi-Z); requires an external pull-up resistor.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1238250" y="6056858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Shared wired-AND logic.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20900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75193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09495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3164" y="2586037"/>
            <a:ext cx="4541648" cy="383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MEMORY-MAPPED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762000" y="1895474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Registers as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819150" y="2586036"/>
            <a:ext cx="10822390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Hardware state manipulation happens by executing standard pointers directly on fixed peripheral register addresses.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952500" y="3828127"/>
            <a:ext cx="3286054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MODER: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Configures input/output mode.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4400550" y="3837613"/>
            <a:ext cx="2457450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ODR: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Output Data Register.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8304663" y="3752915"/>
            <a:ext cx="2927445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IDR: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Input Data Register.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891627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3754" y="391381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1117" y="3828127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ALTERNATIVE PIN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762000" y="1862137"/>
            <a:ext cx="53006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Maximizing Package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761999" y="3005137"/>
            <a:ext cx="11191875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Modern MCUs are small. Pins must alter personalities dynamically through internal register multiplexers.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6644255" y="4260677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UART: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Pin switches to communication TX/RX.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1238250" y="4270807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ADC: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analog channel path bypasses logic.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2261832" y="5551520"/>
            <a:ext cx="4572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TIM: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Attaches internal timer for capture/compare.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641" y="4347007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4498802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62137"/>
            <a:ext cx="5048250" cy="18477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BITWISE OPERATIONS: MASKING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762000" y="1862137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Precise Manipulation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762000" y="2586037"/>
            <a:ext cx="504825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Never rewrite an entire register block blindly; use bitwise operators to shift specific target pins while preserving neighbors.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1238250" y="4597598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Bitwise OR (|):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Sets target bits to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1238250" y="5140523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Bitwise AND (&amp;):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Clears target bits to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1238250" y="6083498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Bitwise XOR (^):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Toggles bit states.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4" name="Google Shape;23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3569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17862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121598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1146412" y="1733266"/>
            <a:ext cx="10115233" cy="328911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2" name="Google Shape;2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466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 txBox="1"/>
          <p:nvPr/>
        </p:nvSpPr>
        <p:spPr>
          <a:xfrm>
            <a:off x="930354" y="1999357"/>
            <a:ext cx="10331291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b="1" i="0" lang="en-US" sz="67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Interfacing &amp; Isolation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2795587" y="3132832"/>
            <a:ext cx="660082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Protecting Weak Silicon from Harsh Loads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143500" y="4382392"/>
            <a:ext cx="1905000" cy="9525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DRIVING TRANSISTORS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761999" y="1725659"/>
            <a:ext cx="11191875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Amplifying Current Capacity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761998" y="2335137"/>
            <a:ext cx="11430001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When driving loads that demand more than 20mA (relays, motors), a transistor must be integrated as a low-side driver switch.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1439839" y="4264419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GPIO supplies 1-2mA to the base gate.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6898943" y="4502544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Transistor handles hundreds of milliamps on the collector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6" name="Google Shape;2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4340619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3801" y="4340619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GALVANIC ISOLATION: OPTOCOUPLERS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762000" y="1895474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Zero Electrical 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876300" y="2435911"/>
            <a:ext cx="1055370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Optocouplers turn electrical inputs into light pulses internally, completely breaking physical wire paths between subsystems.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1490662" y="4759523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Protects the core MCU from high-voltage main shorts.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6721523" y="4731581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Eliminates massive industrial ground loops entirely.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794" y="483813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1330" y="4838135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SWITCH CONTACT BOUNCE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762000" y="212749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Mechanical Chaos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762000" y="2851398"/>
            <a:ext cx="10988722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When closing a switch, metal leaves slam and rebound repeatedly for 5-10 milliseconds before resting</a:t>
            </a: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761999" y="4436268"/>
            <a:ext cx="10524699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The Bug:</a:t>
            </a: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One physical button press register looks like 20 distinct fast pulses to a fast CPU</a:t>
            </a: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83593"/>
            <a:ext cx="5048250" cy="3981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3593"/>
            <a:ext cx="5048250" cy="355461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DEBOUNCING SOLUTIONS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1005840" y="2436018"/>
            <a:ext cx="456057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RC Filters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1114425" y="3274218"/>
            <a:ext cx="434340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analog low-pass filter smooths out fast voltage spikes into a continuous ramp waveform.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6625590" y="2436018"/>
            <a:ext cx="456057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Software Debounce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6734175" y="3274218"/>
            <a:ext cx="434340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timer polling delays or state tracking checks to wait until contact noise signals completely settle.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REAL-TIME CONCURRENCY: INTERRUPTS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876300" y="1743297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Asynchronous Priority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819150" y="2333848"/>
            <a:ext cx="10958868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Interrupts stop main loop thread routines instantly to execute urgent, high-priority peripheral requests.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1439839" y="3877788"/>
            <a:ext cx="4572000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ISR:</a:t>
            </a: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Interrupt Service Routine.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6912590" y="3772015"/>
            <a:ext cx="4572000" cy="2757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Must be lightning fast; never execute delay commands inside an ISR block.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1" name="Google Shape;3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6412" y="411591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741" y="3996607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013323"/>
            <a:ext cx="10668000" cy="212199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7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INTERRUPT CONFIGURATION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PULSE WIDTH MODULATION: PWM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819150" y="1814512"/>
            <a:ext cx="53006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Faking Analog with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761999" y="2328933"/>
            <a:ext cx="11191875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Varying the ratio of ON-to-OFF time creates an adjustable average voltage equivalent.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1183481" y="3634664"/>
            <a:ext cx="4572000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Duty Cycle: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Ratio of ON time to sum of  OFF and ON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7048500" y="3580409"/>
            <a:ext cx="4572000" cy="524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Used for dimming LEDs and controlling motor speeds.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0" name="Google Shape;3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371555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3187" y="3634664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HARDWARE TIMERS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762000" y="1862137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Precision Timekeepers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762000" y="2347778"/>
            <a:ext cx="11430000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Never implement timing with software delay counters (`delay_ms()`), which paralyze processing workflows completely.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 txBox="1"/>
          <p:nvPr/>
        </p:nvSpPr>
        <p:spPr>
          <a:xfrm>
            <a:off x="1240454" y="3620808"/>
            <a:ext cx="4572000" cy="2757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Prescalers:</a:t>
            </a: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Divide hardware master clocks down to manageable tick frequencies.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9"/>
          <p:cNvSpPr txBox="1"/>
          <p:nvPr/>
        </p:nvSpPr>
        <p:spPr>
          <a:xfrm>
            <a:off x="6619875" y="3650225"/>
            <a:ext cx="457200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Auto-reload mechanisms trigger consistent intervals natively</a:t>
            </a: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32" name="Google Shape;3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087" y="3959972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6108" y="4105673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SYSTEM SAFETY: WATCHDOG TIMERS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762000" y="1814512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Ultimate Fault Guard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819150" y="2324100"/>
            <a:ext cx="10931572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hardware down-counter that resets the entire system if software freezes due to a bug or EMI lockup.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1490662" y="3877045"/>
            <a:ext cx="457200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Kicking the Dog:</a:t>
            </a: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Code must regularly clear the timer before it hits zero.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7048500" y="3877045"/>
            <a:ext cx="4572000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it reaches zero, a full hardware reset executes.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4" name="Google Shape;3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400898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3950306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38400"/>
            <a:ext cx="5048250" cy="462141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1"/>
          <p:cNvSpPr txBox="1"/>
          <p:nvPr/>
        </p:nvSpPr>
        <p:spPr>
          <a:xfrm>
            <a:off x="952500" y="1047750"/>
            <a:ext cx="1100137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DEBUGGING HARDWARE: LOGIC ANALYZERS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762000" y="1047750"/>
            <a:ext cx="114300" cy="1152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2476500"/>
            <a:ext cx="4972050" cy="454521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1"/>
          <p:cNvSpPr txBox="1"/>
          <p:nvPr/>
        </p:nvSpPr>
        <p:spPr>
          <a:xfrm>
            <a:off x="6381750" y="2438400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Visualizing Invisible Pins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6381750" y="3162300"/>
            <a:ext cx="504825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Print debugging commands are slow and alter timing profiles destructively. Use real-time logic analyzers to inspect lines.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858000" y="5173860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Captures exact signal states at megahertz rates.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858000" y="6116835"/>
            <a:ext cx="4572000" cy="741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Decodes protocols ($I^2C$, SPI, UART) live.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8" name="Google Shape;35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521196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6154935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INDUSTRIAL INTEGRATION CHECKLIST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1238250" y="2788443"/>
            <a:ext cx="1019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Are all capacitive switch bouncing lines cleaned up via RC filters or logic delays?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1238250" y="3331368"/>
            <a:ext cx="1019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 inductive power lines have clamping flyback protection diodes connected?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1238250" y="3874293"/>
            <a:ext cx="10191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 current drawn from any microcontroller output pin safely restricted below 15mA?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1238250" y="4817268"/>
            <a:ext cx="1019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Are high-voltage main fields completely isolated using optical gates?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70" name="Google Shape;3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82654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6946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91239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855368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"/>
          <p:cNvSpPr/>
          <p:nvPr/>
        </p:nvSpPr>
        <p:spPr>
          <a:xfrm>
            <a:off x="682388" y="1160060"/>
            <a:ext cx="10557112" cy="511791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79" name="Google Shape;3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3"/>
          <p:cNvSpPr txBox="1"/>
          <p:nvPr/>
        </p:nvSpPr>
        <p:spPr>
          <a:xfrm>
            <a:off x="1415414" y="1407021"/>
            <a:ext cx="936117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Masterclass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3"/>
          <p:cNvSpPr txBox="1"/>
          <p:nvPr/>
        </p:nvSpPr>
        <p:spPr>
          <a:xfrm>
            <a:off x="952500" y="2626221"/>
            <a:ext cx="10287000" cy="151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Bridging the gap between software instructions and physical control lines requires a rigorous grasp of register masking, electrical isolation, and interrupt determinism.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3"/>
          <p:cNvSpPr txBox="1"/>
          <p:nvPr/>
        </p:nvSpPr>
        <p:spPr>
          <a:xfrm>
            <a:off x="3509962" y="5079503"/>
            <a:ext cx="51720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Q&amp;A SESSION | SYSTEMS MASTERED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