
<file path=[Content_Types].xml><?xml version="1.0" encoding="utf-8"?>
<Types xmlns="http://schemas.openxmlformats.org/package/2006/content-types">
  <Default Extension="png" ContentType="image/png"/>
  <Default Extension="webp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903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0" r:id="rId25"/>
    <p:sldId id="282" r:id="rId26"/>
    <p:sldId id="283" r:id="rId27"/>
    <p:sldId id="285" r:id="rId28"/>
  </p:sldIdLst>
  <p:sldSz cx="12192000" cy="6858000"/>
  <p:notesSz cx="6858000" cy="9144000"/>
  <p:embeddedFontLst>
    <p:embeddedFont>
      <p:font typeface="Poppins SemiBold" panose="020B0604020202020204" charset="0"/>
      <p:regular r:id="rId30"/>
      <p:bold r:id="rId31"/>
      <p:italic r:id="rId32"/>
      <p:boldItalic r:id="rId33"/>
    </p:embeddedFont>
    <p:embeddedFont>
      <p:font typeface="Calibri" panose="020F0502020204030204" pitchFamily="34" charset="0"/>
      <p:regular r:id="rId34"/>
      <p:bold r:id="rId35"/>
      <p:italic r:id="rId36"/>
      <p:boldItalic r:id="rId37"/>
    </p:embeddedFont>
    <p:embeddedFont>
      <p:font typeface="Poppins" panose="020B0604020202020204" charset="0"/>
      <p:regular r:id="rId38"/>
      <p:bold r:id="rId39"/>
      <p:italic r:id="rId40"/>
      <p:boldItalic r:id="rId41"/>
    </p:embeddedFont>
    <p:embeddedFont>
      <p:font typeface="Lato" panose="020B0604020202020204" charset="0"/>
      <p:regular r:id="rId42"/>
      <p:bold r:id="rId43"/>
      <p:italic r:id="rId44"/>
      <p:boldItalic r:id="rId45"/>
    </p:embeddedFont>
    <p:embeddedFont>
      <p:font typeface="Trebuchet MS" panose="020B0603020202020204" pitchFamily="34" charset="0"/>
      <p:regular r:id="rId46"/>
      <p:bold r:id="rId47"/>
      <p:italic r:id="rId48"/>
      <p:boldItalic r:id="rId4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5BA4BBB-9BED-4413-8C7A-B8617D441B14}">
  <a:tblStyle styleId="{45BA4BBB-9BED-4413-8C7A-B8617D441B1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516" y="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0.fntdata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schemas.openxmlformats.org/officeDocument/2006/relationships/font" Target="fonts/font13.fntdata"/><Relationship Id="rId47" Type="http://schemas.openxmlformats.org/officeDocument/2006/relationships/font" Target="fonts/font18.fntdata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notesMaster" Target="notesMasters/notesMaster1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45" Type="http://schemas.openxmlformats.org/officeDocument/2006/relationships/font" Target="fonts/font16.fntdata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4" Type="http://schemas.openxmlformats.org/officeDocument/2006/relationships/font" Target="fonts/font15.fntdata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font" Target="fonts/font14.fntdata"/><Relationship Id="rId48" Type="http://schemas.openxmlformats.org/officeDocument/2006/relationships/font" Target="fonts/font19.fntdata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46" Type="http://schemas.openxmlformats.org/officeDocument/2006/relationships/font" Target="fonts/font17.fntdata"/><Relationship Id="rId20" Type="http://schemas.openxmlformats.org/officeDocument/2006/relationships/slide" Target="slides/slide19.xml"/><Relationship Id="rId41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49" Type="http://schemas.openxmlformats.org/officeDocument/2006/relationships/font" Target="fonts/font2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3201265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237328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834971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871396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354450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019037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321305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965588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356745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220190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577679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634118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917176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493022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544243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684745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217218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054968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477231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53673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049983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23170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4428103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2331439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0937042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7307509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3509699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563876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129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381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512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070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980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635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676" y="0"/>
            <a:ext cx="1229662" cy="7143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9593" y="0"/>
            <a:ext cx="2804038" cy="817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417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495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04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54049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06944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9325081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6365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45507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81871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5649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731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4701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04" r:id="rId1"/>
    <p:sldLayoutId id="2147483905" r:id="rId2"/>
    <p:sldLayoutId id="2147483906" r:id="rId3"/>
    <p:sldLayoutId id="2147483907" r:id="rId4"/>
    <p:sldLayoutId id="2147483908" r:id="rId5"/>
    <p:sldLayoutId id="2147483909" r:id="rId6"/>
    <p:sldLayoutId id="2147483910" r:id="rId7"/>
    <p:sldLayoutId id="2147483911" r:id="rId8"/>
    <p:sldLayoutId id="2147483912" r:id="rId9"/>
    <p:sldLayoutId id="2147483913" r:id="rId10"/>
    <p:sldLayoutId id="2147483914" r:id="rId11"/>
    <p:sldLayoutId id="2147483915" r:id="rId12"/>
    <p:sldLayoutId id="2147483916" r:id="rId13"/>
    <p:sldLayoutId id="2147483917" r:id="rId14"/>
    <p:sldLayoutId id="2147483918" r:id="rId15"/>
    <p:sldLayoutId id="2147483919" r:id="rId16"/>
    <p:sldLayoutId id="2147483920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webp"/><Relationship Id="rId5" Type="http://schemas.openxmlformats.org/officeDocument/2006/relationships/image" Target="../media/image13.png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4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4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jpg"/><Relationship Id="rId5" Type="http://schemas.openxmlformats.org/officeDocument/2006/relationships/image" Target="../media/image13.png"/><Relationship Id="rId4" Type="http://schemas.openxmlformats.org/officeDocument/2006/relationships/image" Target="../media/image4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gif"/><Relationship Id="rId5" Type="http://schemas.openxmlformats.org/officeDocument/2006/relationships/image" Target="../media/image13.png"/><Relationship Id="rId4" Type="http://schemas.openxmlformats.org/officeDocument/2006/relationships/image" Target="../media/image4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5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5445918"/>
            <a:ext cx="11049000" cy="130671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1047750"/>
            <a:ext cx="11601450" cy="2577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50" b="1" i="0" u="none" strike="noStrike" cap="none" dirty="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Integrated </a:t>
            </a:r>
            <a:r>
              <a:rPr lang="en-US" sz="6150" b="1" i="0" u="none" strike="noStrike" cap="none" dirty="0" err="1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IoT</a:t>
            </a:r>
            <a:r>
              <a:rPr lang="en-US" sz="6150" b="1" i="0" u="none" strike="noStrike" cap="none" dirty="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 System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150" b="1" i="0" u="none" strike="noStrike" cap="none" dirty="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 Architecture &amp; Product Development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4005857"/>
            <a:ext cx="11049000" cy="506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AE2D2C"/>
                </a:solidFill>
                <a:latin typeface="Lato"/>
                <a:ea typeface="Lato"/>
                <a:cs typeface="Lato"/>
                <a:sym typeface="Lato"/>
              </a:rPr>
              <a:t>From Conceptual Architecture to Mass Manufacturing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943844"/>
            <a:ext cx="3492400" cy="4260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650" y="1943844"/>
            <a:ext cx="3492549" cy="4260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950" y="1943844"/>
            <a:ext cx="3492400" cy="4260949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762000" y="1047750"/>
            <a:ext cx="11401425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LEARNING OUTCOMES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571500" y="1047750"/>
            <a:ext cx="114300" cy="576262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" name="Google Shape;97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76300" y="2248644"/>
            <a:ext cx="2882800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804229" y="2963019"/>
            <a:ext cx="3026940" cy="796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AE2D2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Architectural Vision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876300" y="4140249"/>
            <a:ext cx="2882800" cy="1493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Master the 4-layer and 7-layer integrated models for enterprise-grade IoT.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4582377" y="2701081"/>
            <a:ext cx="3027097" cy="796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AE2D2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Development Lifecycle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4654450" y="3878312"/>
            <a:ext cx="2882949" cy="1493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Navigate the V-Model from requirements engineering to validation.</a:t>
            </a:r>
            <a:endParaRPr/>
          </a:p>
        </p:txBody>
      </p:sp>
      <p:pic>
        <p:nvPicPr>
          <p:cNvPr id="102" name="Google Shape;102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432750" y="2248644"/>
            <a:ext cx="2882800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8360680" y="2963019"/>
            <a:ext cx="3026940" cy="796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AE2D2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Industrial Readiness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8432750" y="4140249"/>
            <a:ext cx="2882800" cy="1493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Learn hardware selection, DFM, and regulatory compliance for global markets.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2171700"/>
            <a:ext cx="5238750" cy="3805237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762000" y="1047750"/>
            <a:ext cx="11401425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THE IOT PRODUCT LANDSCAPE</a:t>
            </a:r>
            <a:endParaRPr/>
          </a:p>
        </p:txBody>
      </p:sp>
      <p:sp>
        <p:nvSpPr>
          <p:cNvPr id="111" name="Google Shape;111;p15"/>
          <p:cNvSpPr/>
          <p:nvPr/>
        </p:nvSpPr>
        <p:spPr>
          <a:xfrm>
            <a:off x="571500" y="1047750"/>
            <a:ext cx="114300" cy="576262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571500" y="2438400"/>
            <a:ext cx="5238750" cy="111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Developing an IoT product is not just about a board and an app; it's an integrated system of systems.</a:t>
            </a:r>
            <a:endParaRPr/>
          </a:p>
        </p:txBody>
      </p:sp>
      <p:pic>
        <p:nvPicPr>
          <p:cNvPr id="113" name="Google Shape;11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19850" y="2209800"/>
            <a:ext cx="5162550" cy="3729037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1000125" y="3824882"/>
            <a:ext cx="4810125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Market Shift: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Moving from isolated gadgets to connected ecosystem assets.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1000125" y="4714279"/>
            <a:ext cx="4810125" cy="111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Industrial Focus: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High reliability, 10+ year lifecycles, and harsh environment operation.</a:t>
            </a:r>
            <a:endParaRPr/>
          </a:p>
        </p:txBody>
      </p:sp>
      <p:pic>
        <p:nvPicPr>
          <p:cNvPr id="116" name="Google Shape;11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86298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752379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6"/>
          <p:cNvSpPr txBox="1"/>
          <p:nvPr/>
        </p:nvSpPr>
        <p:spPr>
          <a:xfrm>
            <a:off x="762000" y="1047750"/>
            <a:ext cx="11401425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INTEGRATED ARCHITECTURE OVERVIEW</a:t>
            </a:r>
            <a:endParaRPr/>
          </a:p>
        </p:txBody>
      </p:sp>
      <p:sp>
        <p:nvSpPr>
          <p:cNvPr id="124" name="Google Shape;124;p16"/>
          <p:cNvSpPr/>
          <p:nvPr/>
        </p:nvSpPr>
        <p:spPr>
          <a:xfrm>
            <a:off x="571500" y="1047750"/>
            <a:ext cx="114300" cy="576262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 txBox="1"/>
          <p:nvPr/>
        </p:nvSpPr>
        <p:spPr>
          <a:xfrm>
            <a:off x="6381750" y="2842914"/>
            <a:ext cx="5500687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AE2D2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4-Layer Model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6553200" y="3527732"/>
            <a:ext cx="20955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1.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6762750" y="3526780"/>
            <a:ext cx="485775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955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Perception: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Physical interface.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6553200" y="3900993"/>
            <a:ext cx="20955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2.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6762750" y="3900041"/>
            <a:ext cx="4857750" cy="452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955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dirty="0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r>
              <a:rPr lang="en-US" sz="2100" b="1" i="0" u="none" strike="noStrike" cap="none" dirty="0" smtClean="0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ransport:</a:t>
            </a:r>
            <a:r>
              <a:rPr lang="en-US" sz="2100" b="0" i="0" u="none" strike="noStrike" cap="none" dirty="0" smtClean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1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Data transport protocols.</a:t>
            </a:r>
            <a:endParaRPr dirty="0"/>
          </a:p>
        </p:txBody>
      </p:sp>
      <p:sp>
        <p:nvSpPr>
          <p:cNvPr id="131" name="Google Shape;131;p16"/>
          <p:cNvSpPr txBox="1"/>
          <p:nvPr/>
        </p:nvSpPr>
        <p:spPr>
          <a:xfrm>
            <a:off x="6553200" y="4274254"/>
            <a:ext cx="20955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3.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6762750" y="4273301"/>
            <a:ext cx="485775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955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Processing: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Edge and Cloud analytics.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6553200" y="4647515"/>
            <a:ext cx="20955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4.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6762750" y="4646562"/>
            <a:ext cx="485775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955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Application: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Business logic and UX.</a:t>
            </a:r>
            <a:endParaRPr/>
          </a:p>
        </p:txBody>
      </p:sp>
      <p:pic>
        <p:nvPicPr>
          <p:cNvPr id="1030" name="Picture 6" descr="The 4-layer IoT architecture consists of the perception layer,... |  Download Scientific Diagra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467937"/>
            <a:ext cx="4599296" cy="3237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7"/>
          <p:cNvSpPr txBox="1"/>
          <p:nvPr/>
        </p:nvSpPr>
        <p:spPr>
          <a:xfrm>
            <a:off x="762000" y="1047750"/>
            <a:ext cx="11401425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 dirty="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LAYER 1: PERCEPTION &amp; ACTUATION</a:t>
            </a:r>
            <a:endParaRPr dirty="0"/>
          </a:p>
        </p:txBody>
      </p:sp>
      <p:sp>
        <p:nvSpPr>
          <p:cNvPr id="141" name="Google Shape;141;p17"/>
          <p:cNvSpPr/>
          <p:nvPr/>
        </p:nvSpPr>
        <p:spPr>
          <a:xfrm>
            <a:off x="571500" y="1047750"/>
            <a:ext cx="114300" cy="576262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 txBox="1"/>
          <p:nvPr/>
        </p:nvSpPr>
        <p:spPr>
          <a:xfrm>
            <a:off x="571500" y="2625030"/>
            <a:ext cx="5238750" cy="111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interface where physics meets silicon. Sensors convert phenomena to electrical signals.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1000125" y="4011513"/>
            <a:ext cx="4810125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Analog/Digital:</a:t>
            </a:r>
            <a:r>
              <a:rPr lang="en-US" sz="21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From 4-20mA loops to I2C/SPI digital buses.</a:t>
            </a:r>
            <a:endParaRPr dirty="0"/>
          </a:p>
        </p:txBody>
      </p:sp>
      <p:sp>
        <p:nvSpPr>
          <p:cNvPr id="145" name="Google Shape;145;p17"/>
          <p:cNvSpPr txBox="1"/>
          <p:nvPr/>
        </p:nvSpPr>
        <p:spPr>
          <a:xfrm>
            <a:off x="1000125" y="4900910"/>
            <a:ext cx="4810125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Smart Sensors: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Integrated MCUs for local calibration and noise reduction.</a:t>
            </a:r>
            <a:endParaRPr/>
          </a:p>
        </p:txBody>
      </p:sp>
      <p:pic>
        <p:nvPicPr>
          <p:cNvPr id="146" name="Google Shape;14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4049613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4939010"/>
            <a:ext cx="2667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AutoShape 2" descr="What Is Telemetry? Everything You Need to Know - WestAi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What Is Telemetry? Everything You Need to Know - WestAir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AutoShape 6" descr="What Is Telemetry? Everything You Need to Know - WestAir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2175" y="2077194"/>
            <a:ext cx="5389864" cy="38686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274391"/>
            <a:ext cx="5238750" cy="359970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8"/>
          <p:cNvSpPr txBox="1"/>
          <p:nvPr/>
        </p:nvSpPr>
        <p:spPr>
          <a:xfrm>
            <a:off x="762000" y="1047750"/>
            <a:ext cx="11401425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LAYER 2: CONNECTIVITY &amp; NETWORKS</a:t>
            </a:r>
            <a:endParaRPr/>
          </a:p>
        </p:txBody>
      </p:sp>
      <p:sp>
        <p:nvSpPr>
          <p:cNvPr id="154" name="Google Shape;154;p18"/>
          <p:cNvSpPr/>
          <p:nvPr/>
        </p:nvSpPr>
        <p:spPr>
          <a:xfrm>
            <a:off x="571500" y="1047750"/>
            <a:ext cx="114300" cy="576262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5" name="Google Shape;155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" y="2312491"/>
            <a:ext cx="5162550" cy="352350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 txBox="1"/>
          <p:nvPr/>
        </p:nvSpPr>
        <p:spPr>
          <a:xfrm>
            <a:off x="6381750" y="2274391"/>
            <a:ext cx="5500687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AE2D2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Bridging the Gap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6381750" y="2939206"/>
            <a:ext cx="5238750" cy="111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Gateways translate localized fieldbus protocols (Modbus, CAN) into cloud-compatible telemetry (MQTT, CoAP).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6810375" y="4325689"/>
            <a:ext cx="4810125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LPWAN: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LoRaWAN for 15km range.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6810375" y="4841825"/>
            <a:ext cx="4810125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PAN: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Bluetooth/Zigbee for local mesh.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6810375" y="5357961"/>
            <a:ext cx="4810125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WWAN: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5G/LTE for high throughput.</a:t>
            </a:r>
            <a:endParaRPr/>
          </a:p>
        </p:txBody>
      </p:sp>
      <p:pic>
        <p:nvPicPr>
          <p:cNvPr id="161" name="Google Shape;161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4363789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4879925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5396061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2100262"/>
            <a:ext cx="5238750" cy="3948112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9"/>
          <p:cNvSpPr txBox="1"/>
          <p:nvPr/>
        </p:nvSpPr>
        <p:spPr>
          <a:xfrm>
            <a:off x="762000" y="1047750"/>
            <a:ext cx="11401425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LAYER 3: EDGE COMPUTING</a:t>
            </a:r>
            <a:endParaRPr/>
          </a:p>
        </p:txBody>
      </p:sp>
      <p:sp>
        <p:nvSpPr>
          <p:cNvPr id="170" name="Google Shape;170;p19"/>
          <p:cNvSpPr/>
          <p:nvPr/>
        </p:nvSpPr>
        <p:spPr>
          <a:xfrm>
            <a:off x="571500" y="1047750"/>
            <a:ext cx="114300" cy="576262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9"/>
          <p:cNvSpPr txBox="1"/>
          <p:nvPr/>
        </p:nvSpPr>
        <p:spPr>
          <a:xfrm>
            <a:off x="571500" y="2366962"/>
            <a:ext cx="5238750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Decentralized intelligence reduces latency and cloud bandwidth costs.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1000125" y="3380184"/>
            <a:ext cx="4810125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Local Inference: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Running AI models for defect detection.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1000125" y="4269581"/>
            <a:ext cx="4810125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Data Filtering: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Discarding redundant noise locally.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1000125" y="5158978"/>
            <a:ext cx="4810125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Critical Control: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Executing safety loops independently of cloud uptime.</a:t>
            </a:r>
            <a:endParaRPr/>
          </a:p>
        </p:txBody>
      </p:sp>
      <p:pic>
        <p:nvPicPr>
          <p:cNvPr id="176" name="Google Shape;176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418284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307681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197078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6084" y="2044996"/>
            <a:ext cx="5622877" cy="44764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862137"/>
            <a:ext cx="5238750" cy="5018782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762000" y="1047750"/>
            <a:ext cx="11401425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LAYER 4: CLOUD &amp; ENTERPRISE</a:t>
            </a:r>
            <a:endParaRPr/>
          </a:p>
        </p:txBody>
      </p:sp>
      <p:sp>
        <p:nvSpPr>
          <p:cNvPr id="185" name="Google Shape;185;p20"/>
          <p:cNvSpPr/>
          <p:nvPr/>
        </p:nvSpPr>
        <p:spPr>
          <a:xfrm>
            <a:off x="571500" y="1047750"/>
            <a:ext cx="114300" cy="576262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6" name="Google Shape;18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" y="1900237"/>
            <a:ext cx="5162550" cy="4942582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0"/>
          <p:cNvSpPr txBox="1"/>
          <p:nvPr/>
        </p:nvSpPr>
        <p:spPr>
          <a:xfrm>
            <a:off x="6381750" y="1862137"/>
            <a:ext cx="5500687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AE2D2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Massive Ingestion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6381750" y="2526952"/>
            <a:ext cx="5238750" cy="111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cloud handles billions of events, providing long-term storage and horizontal compute scaling.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6810375" y="3913435"/>
            <a:ext cx="4810125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Device Twins: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Virtual JSON states of physical assets.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6810375" y="4802832"/>
            <a:ext cx="4810125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Big Data: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Historical trend analysis over years.</a:t>
            </a:r>
            <a:endParaRPr/>
          </a:p>
        </p:txBody>
      </p:sp>
      <p:pic>
        <p:nvPicPr>
          <p:cNvPr id="191" name="Google Shape;191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3951535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4840932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2544960"/>
            <a:ext cx="5238750" cy="305871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1"/>
          <p:cNvSpPr txBox="1"/>
          <p:nvPr/>
        </p:nvSpPr>
        <p:spPr>
          <a:xfrm>
            <a:off x="762000" y="1047750"/>
            <a:ext cx="11401425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LAYER 5: APPLICATION &amp; UX</a:t>
            </a:r>
            <a:endParaRPr/>
          </a:p>
        </p:txBody>
      </p:sp>
      <p:sp>
        <p:nvSpPr>
          <p:cNvPr id="199" name="Google Shape;199;p21"/>
          <p:cNvSpPr/>
          <p:nvPr/>
        </p:nvSpPr>
        <p:spPr>
          <a:xfrm>
            <a:off x="571500" y="1047750"/>
            <a:ext cx="114300" cy="576262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571500" y="2811660"/>
            <a:ext cx="5238750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Transforming raw field bits into actionable human insights.</a:t>
            </a:r>
            <a:endParaRPr/>
          </a:p>
        </p:txBody>
      </p:sp>
      <p:pic>
        <p:nvPicPr>
          <p:cNvPr id="201" name="Google Shape;201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19850" y="2583060"/>
            <a:ext cx="5162550" cy="298251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 txBox="1"/>
          <p:nvPr/>
        </p:nvSpPr>
        <p:spPr>
          <a:xfrm>
            <a:off x="1000125" y="3824882"/>
            <a:ext cx="4810125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HMI Dashboards: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High-contrast views for factory floor operators.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1000125" y="4714279"/>
            <a:ext cx="4810125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Mobile Alerts: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Push notifications for critical threshold breaches.</a:t>
            </a:r>
            <a:endParaRPr/>
          </a:p>
        </p:txBody>
      </p:sp>
      <p:pic>
        <p:nvPicPr>
          <p:cNvPr id="204" name="Google Shape;204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86298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752379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2"/>
          <p:cNvSpPr/>
          <p:nvPr/>
        </p:nvSpPr>
        <p:spPr>
          <a:xfrm>
            <a:off x="5238750" y="1428750"/>
            <a:ext cx="1714500" cy="95250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2"/>
          <p:cNvSpPr txBox="1"/>
          <p:nvPr/>
        </p:nvSpPr>
        <p:spPr>
          <a:xfrm>
            <a:off x="295275" y="1905000"/>
            <a:ext cx="1160145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Product Development</a:t>
            </a:r>
            <a:endParaRPr/>
          </a:p>
        </p:txBody>
      </p:sp>
      <p:sp>
        <p:nvSpPr>
          <p:cNvPr id="212" name="Google Shape;212;p22"/>
          <p:cNvSpPr txBox="1"/>
          <p:nvPr/>
        </p:nvSpPr>
        <p:spPr>
          <a:xfrm>
            <a:off x="571500" y="3009900"/>
            <a:ext cx="1104900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Engineering the Lifecycle of a Connected Asset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159198"/>
            <a:ext cx="5238750" cy="3830091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3"/>
          <p:cNvSpPr txBox="1"/>
          <p:nvPr/>
        </p:nvSpPr>
        <p:spPr>
          <a:xfrm>
            <a:off x="762000" y="1047750"/>
            <a:ext cx="11401425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THE V-MODEL LIFECYCLE</a:t>
            </a:r>
            <a:endParaRPr/>
          </a:p>
        </p:txBody>
      </p:sp>
      <p:sp>
        <p:nvSpPr>
          <p:cNvPr id="219" name="Google Shape;219;p23"/>
          <p:cNvSpPr/>
          <p:nvPr/>
        </p:nvSpPr>
        <p:spPr>
          <a:xfrm>
            <a:off x="571500" y="1047750"/>
            <a:ext cx="114300" cy="576262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0" name="Google Shape;220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" y="2197298"/>
            <a:ext cx="5162550" cy="3753891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3"/>
          <p:cNvSpPr txBox="1"/>
          <p:nvPr/>
        </p:nvSpPr>
        <p:spPr>
          <a:xfrm>
            <a:off x="6381750" y="2159198"/>
            <a:ext cx="5500687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AE2D2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Verification &amp; Validation</a:t>
            </a:r>
            <a:endParaRPr/>
          </a:p>
        </p:txBody>
      </p:sp>
      <p:sp>
        <p:nvSpPr>
          <p:cNvPr id="222" name="Google Shape;222;p23"/>
          <p:cNvSpPr txBox="1"/>
          <p:nvPr/>
        </p:nvSpPr>
        <p:spPr>
          <a:xfrm>
            <a:off x="6381750" y="2824013"/>
            <a:ext cx="5238750" cy="111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Ensures that every requirement defined on the left side is rigorously tested on the right side.</a:t>
            </a:r>
            <a:endParaRPr/>
          </a:p>
        </p:txBody>
      </p:sp>
      <p:sp>
        <p:nvSpPr>
          <p:cNvPr id="223" name="Google Shape;223;p23"/>
          <p:cNvSpPr txBox="1"/>
          <p:nvPr/>
        </p:nvSpPr>
        <p:spPr>
          <a:xfrm>
            <a:off x="6810375" y="4210496"/>
            <a:ext cx="4810125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Unit → Integration → System → Acceptance.</a:t>
            </a:r>
            <a:endParaRPr/>
          </a:p>
        </p:txBody>
      </p:sp>
      <p:sp>
        <p:nvSpPr>
          <p:cNvPr id="224" name="Google Shape;224;p23"/>
          <p:cNvSpPr txBox="1"/>
          <p:nvPr/>
        </p:nvSpPr>
        <p:spPr>
          <a:xfrm>
            <a:off x="6810375" y="5099893"/>
            <a:ext cx="4810125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Early detection of defects saves 10x in rework costs.</a:t>
            </a:r>
            <a:endParaRPr/>
          </a:p>
        </p:txBody>
      </p:sp>
      <p:pic>
        <p:nvPicPr>
          <p:cNvPr id="225" name="Google Shape;225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4248596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5137993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2740223"/>
            <a:ext cx="5238750" cy="266819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4"/>
          <p:cNvSpPr txBox="1"/>
          <p:nvPr/>
        </p:nvSpPr>
        <p:spPr>
          <a:xfrm>
            <a:off x="762000" y="1047750"/>
            <a:ext cx="11401425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REQUIREMENT ENGINEERING</a:t>
            </a:r>
            <a:endParaRPr/>
          </a:p>
        </p:txBody>
      </p:sp>
      <p:sp>
        <p:nvSpPr>
          <p:cNvPr id="233" name="Google Shape;233;p24"/>
          <p:cNvSpPr/>
          <p:nvPr/>
        </p:nvSpPr>
        <p:spPr>
          <a:xfrm>
            <a:off x="571500" y="1047750"/>
            <a:ext cx="114300" cy="576262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4" name="Google Shape;234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19850" y="2778323"/>
            <a:ext cx="5162550" cy="259199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4"/>
          <p:cNvSpPr txBox="1"/>
          <p:nvPr/>
        </p:nvSpPr>
        <p:spPr>
          <a:xfrm>
            <a:off x="1000125" y="2740223"/>
            <a:ext cx="4810125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Functional: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What the device DOES (e.g., sense temp every 10s).</a:t>
            </a:r>
            <a:endParaRPr/>
          </a:p>
        </p:txBody>
      </p:sp>
      <p:sp>
        <p:nvSpPr>
          <p:cNvPr id="236" name="Google Shape;236;p24"/>
          <p:cNvSpPr txBox="1"/>
          <p:nvPr/>
        </p:nvSpPr>
        <p:spPr>
          <a:xfrm>
            <a:off x="1000125" y="3629620"/>
            <a:ext cx="4810125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Non-Functional: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Latency, Battery Life, Security.</a:t>
            </a:r>
            <a:endParaRPr/>
          </a:p>
        </p:txBody>
      </p:sp>
      <p:sp>
        <p:nvSpPr>
          <p:cNvPr id="237" name="Google Shape;237;p24"/>
          <p:cNvSpPr txBox="1"/>
          <p:nvPr/>
        </p:nvSpPr>
        <p:spPr>
          <a:xfrm>
            <a:off x="1000125" y="4519017"/>
            <a:ext cx="4810125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Constraints: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Operating temperature (-40 to 85C), Form factor.</a:t>
            </a:r>
            <a:endParaRPr/>
          </a:p>
        </p:txBody>
      </p:sp>
      <p:pic>
        <p:nvPicPr>
          <p:cNvPr id="238" name="Google Shape;238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778323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667720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557117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274391"/>
            <a:ext cx="5238750" cy="3599705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5"/>
          <p:cNvSpPr txBox="1"/>
          <p:nvPr/>
        </p:nvSpPr>
        <p:spPr>
          <a:xfrm>
            <a:off x="762000" y="1047750"/>
            <a:ext cx="11401425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HARDWARE SELECTION (SOC)</a:t>
            </a:r>
            <a:endParaRPr/>
          </a:p>
        </p:txBody>
      </p:sp>
      <p:sp>
        <p:nvSpPr>
          <p:cNvPr id="247" name="Google Shape;247;p25"/>
          <p:cNvSpPr/>
          <p:nvPr/>
        </p:nvSpPr>
        <p:spPr>
          <a:xfrm>
            <a:off x="571500" y="1047750"/>
            <a:ext cx="114300" cy="576262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8" name="Google Shape;248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" y="2312491"/>
            <a:ext cx="5162550" cy="3523505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 txBox="1"/>
          <p:nvPr/>
        </p:nvSpPr>
        <p:spPr>
          <a:xfrm>
            <a:off x="6381750" y="2274391"/>
            <a:ext cx="5500687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AE2D2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Silicon Heart</a:t>
            </a:r>
            <a:endParaRPr/>
          </a:p>
        </p:txBody>
      </p:sp>
      <p:sp>
        <p:nvSpPr>
          <p:cNvPr id="250" name="Google Shape;250;p25"/>
          <p:cNvSpPr txBox="1"/>
          <p:nvPr/>
        </p:nvSpPr>
        <p:spPr>
          <a:xfrm>
            <a:off x="6381750" y="2939206"/>
            <a:ext cx="5238750" cy="111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Choosing the SoC defines the compute boundary. The </a:t>
            </a:r>
            <a:r>
              <a:rPr lang="en-US" sz="21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Broadcom BCM2712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(RPi 5) offers:</a:t>
            </a:r>
            <a:endParaRPr/>
          </a:p>
        </p:txBody>
      </p:sp>
      <p:sp>
        <p:nvSpPr>
          <p:cNvPr id="251" name="Google Shape;251;p25"/>
          <p:cNvSpPr txBox="1"/>
          <p:nvPr/>
        </p:nvSpPr>
        <p:spPr>
          <a:xfrm>
            <a:off x="6810375" y="4325689"/>
            <a:ext cx="4810125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Quad-core ARM A76 performance.</a:t>
            </a:r>
            <a:endParaRPr/>
          </a:p>
        </p:txBody>
      </p:sp>
      <p:sp>
        <p:nvSpPr>
          <p:cNvPr id="252" name="Google Shape;252;p25"/>
          <p:cNvSpPr txBox="1"/>
          <p:nvPr/>
        </p:nvSpPr>
        <p:spPr>
          <a:xfrm>
            <a:off x="6810375" y="4841825"/>
            <a:ext cx="4810125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Integrated I/O via RP1 controller.</a:t>
            </a:r>
            <a:endParaRPr/>
          </a:p>
        </p:txBody>
      </p:sp>
      <p:sp>
        <p:nvSpPr>
          <p:cNvPr id="253" name="Google Shape;253;p25"/>
          <p:cNvSpPr txBox="1"/>
          <p:nvPr/>
        </p:nvSpPr>
        <p:spPr>
          <a:xfrm>
            <a:off x="6810375" y="5357961"/>
            <a:ext cx="4810125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Hardware crypto acceleration.</a:t>
            </a:r>
            <a:endParaRPr/>
          </a:p>
        </p:txBody>
      </p:sp>
      <p:pic>
        <p:nvPicPr>
          <p:cNvPr id="254" name="Google Shape;254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4363789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4879925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5396061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6"/>
          <p:cNvSpPr txBox="1"/>
          <p:nvPr/>
        </p:nvSpPr>
        <p:spPr>
          <a:xfrm>
            <a:off x="762000" y="1047750"/>
            <a:ext cx="11401425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FIRMWARE &amp; SOFTWARE STACK</a:t>
            </a:r>
            <a:endParaRPr/>
          </a:p>
        </p:txBody>
      </p:sp>
      <p:sp>
        <p:nvSpPr>
          <p:cNvPr id="263" name="Google Shape;263;p26"/>
          <p:cNvSpPr/>
          <p:nvPr/>
        </p:nvSpPr>
        <p:spPr>
          <a:xfrm>
            <a:off x="571500" y="1047750"/>
            <a:ext cx="114300" cy="576262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6"/>
          <p:cNvSpPr txBox="1"/>
          <p:nvPr/>
        </p:nvSpPr>
        <p:spPr>
          <a:xfrm>
            <a:off x="1000125" y="2740223"/>
            <a:ext cx="4810125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Bare Metal: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Zero overhead for simple tasks.</a:t>
            </a:r>
            <a:endParaRPr/>
          </a:p>
        </p:txBody>
      </p:sp>
      <p:sp>
        <p:nvSpPr>
          <p:cNvPr id="266" name="Google Shape;266;p26"/>
          <p:cNvSpPr txBox="1"/>
          <p:nvPr/>
        </p:nvSpPr>
        <p:spPr>
          <a:xfrm>
            <a:off x="1000125" y="3629620"/>
            <a:ext cx="4810125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RTOS: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Deterministic multitasking (FreeRTOS).</a:t>
            </a:r>
            <a:endParaRPr/>
          </a:p>
        </p:txBody>
      </p:sp>
      <p:sp>
        <p:nvSpPr>
          <p:cNvPr id="267" name="Google Shape;267;p26"/>
          <p:cNvSpPr txBox="1"/>
          <p:nvPr/>
        </p:nvSpPr>
        <p:spPr>
          <a:xfrm>
            <a:off x="1000125" y="4519017"/>
            <a:ext cx="4810125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Embedded Linux: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Full stack for complex gateways.</a:t>
            </a:r>
            <a:endParaRPr/>
          </a:p>
        </p:txBody>
      </p:sp>
      <p:pic>
        <p:nvPicPr>
          <p:cNvPr id="268" name="Google Shape;268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778323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3667720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455711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4359" y="2337817"/>
            <a:ext cx="5501644" cy="33301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3113484"/>
            <a:ext cx="5238750" cy="1921668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7"/>
          <p:cNvSpPr txBox="1"/>
          <p:nvPr/>
        </p:nvSpPr>
        <p:spPr>
          <a:xfrm>
            <a:off x="762000" y="1047750"/>
            <a:ext cx="11401425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PROTOTYPING STAGES</a:t>
            </a:r>
            <a:endParaRPr/>
          </a:p>
        </p:txBody>
      </p:sp>
      <p:sp>
        <p:nvSpPr>
          <p:cNvPr id="277" name="Google Shape;277;p27"/>
          <p:cNvSpPr/>
          <p:nvPr/>
        </p:nvSpPr>
        <p:spPr>
          <a:xfrm>
            <a:off x="571500" y="1047750"/>
            <a:ext cx="114300" cy="576262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8" name="Google Shape;278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" y="3151584"/>
            <a:ext cx="5162550" cy="1845468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7"/>
          <p:cNvSpPr txBox="1"/>
          <p:nvPr/>
        </p:nvSpPr>
        <p:spPr>
          <a:xfrm>
            <a:off x="6810375" y="3113484"/>
            <a:ext cx="4810125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PoC: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Prove it works (Breadboard/Dev Kits).</a:t>
            </a:r>
            <a:endParaRPr/>
          </a:p>
        </p:txBody>
      </p:sp>
      <p:sp>
        <p:nvSpPr>
          <p:cNvPr id="280" name="Google Shape;280;p27"/>
          <p:cNvSpPr txBox="1"/>
          <p:nvPr/>
        </p:nvSpPr>
        <p:spPr>
          <a:xfrm>
            <a:off x="6810375" y="4002881"/>
            <a:ext cx="4810125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MVP: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Core features on custom PCB.</a:t>
            </a:r>
            <a:endParaRPr/>
          </a:p>
        </p:txBody>
      </p:sp>
      <p:sp>
        <p:nvSpPr>
          <p:cNvPr id="281" name="Google Shape;281;p27"/>
          <p:cNvSpPr txBox="1"/>
          <p:nvPr/>
        </p:nvSpPr>
        <p:spPr>
          <a:xfrm>
            <a:off x="6810375" y="4519017"/>
            <a:ext cx="4810125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DVT: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Design Validation Test units.</a:t>
            </a:r>
            <a:endParaRPr/>
          </a:p>
        </p:txBody>
      </p:sp>
      <p:pic>
        <p:nvPicPr>
          <p:cNvPr id="282" name="Google Shape;282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3151584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4040981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455711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59" y="2001440"/>
            <a:ext cx="6597691" cy="400288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1862137"/>
            <a:ext cx="5238750" cy="5145285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8"/>
          <p:cNvSpPr txBox="1"/>
          <p:nvPr/>
        </p:nvSpPr>
        <p:spPr>
          <a:xfrm>
            <a:off x="762000" y="1047750"/>
            <a:ext cx="11401425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MECHANICAL &amp; ENCLOSURE DESIGN</a:t>
            </a:r>
            <a:endParaRPr/>
          </a:p>
        </p:txBody>
      </p:sp>
      <p:sp>
        <p:nvSpPr>
          <p:cNvPr id="291" name="Google Shape;291;p28"/>
          <p:cNvSpPr/>
          <p:nvPr/>
        </p:nvSpPr>
        <p:spPr>
          <a:xfrm>
            <a:off x="571500" y="1047750"/>
            <a:ext cx="114300" cy="576262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8"/>
          <p:cNvSpPr txBox="1"/>
          <p:nvPr/>
        </p:nvSpPr>
        <p:spPr>
          <a:xfrm>
            <a:off x="571500" y="2128837"/>
            <a:ext cx="5238750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Industrial electronics must survive physical stress.</a:t>
            </a:r>
            <a:endParaRPr/>
          </a:p>
        </p:txBody>
      </p:sp>
      <p:pic>
        <p:nvPicPr>
          <p:cNvPr id="293" name="Google Shape;293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19850" y="1900237"/>
            <a:ext cx="5162550" cy="5069085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8"/>
          <p:cNvSpPr txBox="1"/>
          <p:nvPr/>
        </p:nvSpPr>
        <p:spPr>
          <a:xfrm>
            <a:off x="1000125" y="3142059"/>
            <a:ext cx="4810125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IP67: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Protection against dust and water immersion.</a:t>
            </a:r>
            <a:endParaRPr/>
          </a:p>
        </p:txBody>
      </p:sp>
      <p:sp>
        <p:nvSpPr>
          <p:cNvPr id="295" name="Google Shape;295;p28"/>
          <p:cNvSpPr txBox="1"/>
          <p:nvPr/>
        </p:nvSpPr>
        <p:spPr>
          <a:xfrm>
            <a:off x="1000125" y="4031456"/>
            <a:ext cx="4810125" cy="111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Thermal Management: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Heat sinks and active cooling for high-performance SoCs.</a:t>
            </a:r>
            <a:endParaRPr/>
          </a:p>
        </p:txBody>
      </p:sp>
      <p:pic>
        <p:nvPicPr>
          <p:cNvPr id="296" name="Google Shape;296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180159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069556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Google Shape;302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544960"/>
            <a:ext cx="5238750" cy="3058715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9"/>
          <p:cNvSpPr txBox="1"/>
          <p:nvPr/>
        </p:nvSpPr>
        <p:spPr>
          <a:xfrm>
            <a:off x="762000" y="1047750"/>
            <a:ext cx="11401425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PCB DESIGN &amp; SIGNAL INTEGRITY</a:t>
            </a:r>
            <a:endParaRPr/>
          </a:p>
        </p:txBody>
      </p:sp>
      <p:sp>
        <p:nvSpPr>
          <p:cNvPr id="304" name="Google Shape;304;p29"/>
          <p:cNvSpPr/>
          <p:nvPr/>
        </p:nvSpPr>
        <p:spPr>
          <a:xfrm>
            <a:off x="571500" y="1047750"/>
            <a:ext cx="114300" cy="576262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5" name="Google Shape;305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" y="2583060"/>
            <a:ext cx="5162550" cy="2982515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9"/>
          <p:cNvSpPr txBox="1"/>
          <p:nvPr/>
        </p:nvSpPr>
        <p:spPr>
          <a:xfrm>
            <a:off x="6381750" y="2811660"/>
            <a:ext cx="5238750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Designing for multi-GHz clocks requires careful layout.</a:t>
            </a:r>
            <a:endParaRPr/>
          </a:p>
        </p:txBody>
      </p:sp>
      <p:sp>
        <p:nvSpPr>
          <p:cNvPr id="307" name="Google Shape;307;p29"/>
          <p:cNvSpPr txBox="1"/>
          <p:nvPr/>
        </p:nvSpPr>
        <p:spPr>
          <a:xfrm>
            <a:off x="6810375" y="3824882"/>
            <a:ext cx="4810125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Differential Pairs: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For USB/Ethernet noise rejection.</a:t>
            </a:r>
            <a:endParaRPr/>
          </a:p>
        </p:txBody>
      </p:sp>
      <p:sp>
        <p:nvSpPr>
          <p:cNvPr id="308" name="Google Shape;308;p29"/>
          <p:cNvSpPr txBox="1"/>
          <p:nvPr/>
        </p:nvSpPr>
        <p:spPr>
          <a:xfrm>
            <a:off x="6810375" y="4714279"/>
            <a:ext cx="4810125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Ground Planes: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Isolating digital and analog noise.</a:t>
            </a:r>
            <a:endParaRPr/>
          </a:p>
        </p:txBody>
      </p:sp>
      <p:pic>
        <p:nvPicPr>
          <p:cNvPr id="309" name="Google Shape;309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386298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4752379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Google Shape;315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2544960"/>
            <a:ext cx="5238750" cy="3058715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30"/>
          <p:cNvSpPr txBox="1"/>
          <p:nvPr/>
        </p:nvSpPr>
        <p:spPr>
          <a:xfrm>
            <a:off x="762000" y="1047750"/>
            <a:ext cx="11401425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DESIGN FOR MANUFACTURING (DFM)</a:t>
            </a:r>
            <a:endParaRPr/>
          </a:p>
        </p:txBody>
      </p:sp>
      <p:sp>
        <p:nvSpPr>
          <p:cNvPr id="317" name="Google Shape;317;p30"/>
          <p:cNvSpPr/>
          <p:nvPr/>
        </p:nvSpPr>
        <p:spPr>
          <a:xfrm>
            <a:off x="571500" y="1047750"/>
            <a:ext cx="114300" cy="576262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30"/>
          <p:cNvSpPr txBox="1"/>
          <p:nvPr/>
        </p:nvSpPr>
        <p:spPr>
          <a:xfrm>
            <a:off x="571500" y="2811660"/>
            <a:ext cx="5238750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Optimizing for high-yield assembly from day one.</a:t>
            </a:r>
            <a:endParaRPr/>
          </a:p>
        </p:txBody>
      </p:sp>
      <p:pic>
        <p:nvPicPr>
          <p:cNvPr id="319" name="Google Shape;319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19850" y="2583060"/>
            <a:ext cx="5162550" cy="2982515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0"/>
          <p:cNvSpPr txBox="1"/>
          <p:nvPr/>
        </p:nvSpPr>
        <p:spPr>
          <a:xfrm>
            <a:off x="1000125" y="3824882"/>
            <a:ext cx="4810125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Component Selection: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Avoiding single-sourced or obsolete parts.</a:t>
            </a:r>
            <a:endParaRPr/>
          </a:p>
        </p:txBody>
      </p:sp>
      <p:sp>
        <p:nvSpPr>
          <p:cNvPr id="321" name="Google Shape;321;p30"/>
          <p:cNvSpPr txBox="1"/>
          <p:nvPr/>
        </p:nvSpPr>
        <p:spPr>
          <a:xfrm>
            <a:off x="1000125" y="4714279"/>
            <a:ext cx="4810125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Test Points: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Mandatory for Automated Test Equipment (ATE).</a:t>
            </a:r>
            <a:endParaRPr/>
          </a:p>
        </p:txBody>
      </p:sp>
      <p:pic>
        <p:nvPicPr>
          <p:cNvPr id="322" name="Google Shape;322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86298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752379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Google Shape;328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543175"/>
            <a:ext cx="5238750" cy="3062287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31"/>
          <p:cNvSpPr txBox="1"/>
          <p:nvPr/>
        </p:nvSpPr>
        <p:spPr>
          <a:xfrm>
            <a:off x="762000" y="1047750"/>
            <a:ext cx="11401425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CONNECTIVITY SELECTION MATRIX</a:t>
            </a:r>
            <a:endParaRPr/>
          </a:p>
        </p:txBody>
      </p:sp>
      <p:sp>
        <p:nvSpPr>
          <p:cNvPr id="330" name="Google Shape;330;p31"/>
          <p:cNvSpPr/>
          <p:nvPr/>
        </p:nvSpPr>
        <p:spPr>
          <a:xfrm>
            <a:off x="571500" y="1047750"/>
            <a:ext cx="114300" cy="576262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1" name="Google Shape;331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" y="2581275"/>
            <a:ext cx="5162550" cy="298608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2" name="Google Shape;332;p31"/>
          <p:cNvGraphicFramePr/>
          <p:nvPr/>
        </p:nvGraphicFramePr>
        <p:xfrm>
          <a:off x="6381750" y="263842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{45BA4BBB-9BED-4413-8C7A-B8617D441B14}</a:tableStyleId>
              </a:tblPr>
              <a:tblGrid>
                <a:gridCol w="1866450"/>
                <a:gridCol w="1496025"/>
                <a:gridCol w="1866750"/>
              </a:tblGrid>
              <a:tr h="654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Protocol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Range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Power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366"/>
                    </a:solidFill>
                  </a:tcPr>
                </a:tc>
              </a:tr>
              <a:tr h="654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Ultra Low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654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WiFi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50m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High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654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LoRa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15km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Low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2473523"/>
            <a:ext cx="5238750" cy="320159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32"/>
          <p:cNvSpPr txBox="1"/>
          <p:nvPr/>
        </p:nvSpPr>
        <p:spPr>
          <a:xfrm>
            <a:off x="762000" y="1047750"/>
            <a:ext cx="11401425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SECURITY BY DESIGN</a:t>
            </a:r>
            <a:endParaRPr/>
          </a:p>
        </p:txBody>
      </p:sp>
      <p:sp>
        <p:nvSpPr>
          <p:cNvPr id="339" name="Google Shape;339;p32"/>
          <p:cNvSpPr/>
          <p:nvPr/>
        </p:nvSpPr>
        <p:spPr>
          <a:xfrm>
            <a:off x="571500" y="1047750"/>
            <a:ext cx="114300" cy="576262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32"/>
          <p:cNvSpPr txBox="1"/>
          <p:nvPr/>
        </p:nvSpPr>
        <p:spPr>
          <a:xfrm>
            <a:off x="571500" y="2740223"/>
            <a:ext cx="523875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IoT nodes are high-risk physical targets.</a:t>
            </a:r>
            <a:endParaRPr/>
          </a:p>
        </p:txBody>
      </p:sp>
      <p:pic>
        <p:nvPicPr>
          <p:cNvPr id="341" name="Google Shape;341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19850" y="2511623"/>
            <a:ext cx="5162550" cy="312539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32"/>
          <p:cNvSpPr txBox="1"/>
          <p:nvPr/>
        </p:nvSpPr>
        <p:spPr>
          <a:xfrm>
            <a:off x="1000125" y="3380184"/>
            <a:ext cx="4810125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RoT: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Hardware Root of Trust for key storage.</a:t>
            </a:r>
            <a:endParaRPr/>
          </a:p>
        </p:txBody>
      </p:sp>
      <p:sp>
        <p:nvSpPr>
          <p:cNvPr id="343" name="Google Shape;343;p32"/>
          <p:cNvSpPr txBox="1"/>
          <p:nvPr/>
        </p:nvSpPr>
        <p:spPr>
          <a:xfrm>
            <a:off x="1000125" y="4269581"/>
            <a:ext cx="4810125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Secure Boot: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Authenticating code before execution.</a:t>
            </a:r>
            <a:endParaRPr/>
          </a:p>
        </p:txBody>
      </p:sp>
      <p:sp>
        <p:nvSpPr>
          <p:cNvPr id="344" name="Google Shape;344;p32"/>
          <p:cNvSpPr txBox="1"/>
          <p:nvPr/>
        </p:nvSpPr>
        <p:spPr>
          <a:xfrm>
            <a:off x="1000125" y="5158978"/>
            <a:ext cx="4810125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mTLS: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Dual-sided certificate validation.</a:t>
            </a:r>
            <a:endParaRPr/>
          </a:p>
        </p:txBody>
      </p:sp>
      <p:pic>
        <p:nvPicPr>
          <p:cNvPr id="345" name="Google Shape;345;p3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418284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3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307681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3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5197078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2" name="Google Shape;352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861964"/>
            <a:ext cx="5238750" cy="2424558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33"/>
          <p:cNvSpPr txBox="1"/>
          <p:nvPr/>
        </p:nvSpPr>
        <p:spPr>
          <a:xfrm>
            <a:off x="762000" y="1047750"/>
            <a:ext cx="11401425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DATABASE DESIGN (TSDB)</a:t>
            </a:r>
            <a:endParaRPr/>
          </a:p>
        </p:txBody>
      </p:sp>
      <p:sp>
        <p:nvSpPr>
          <p:cNvPr id="354" name="Google Shape;354;p33"/>
          <p:cNvSpPr/>
          <p:nvPr/>
        </p:nvSpPr>
        <p:spPr>
          <a:xfrm>
            <a:off x="571500" y="1047750"/>
            <a:ext cx="114300" cy="576262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5" name="Google Shape;355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" y="2900064"/>
            <a:ext cx="5162550" cy="2348358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3"/>
          <p:cNvSpPr txBox="1"/>
          <p:nvPr/>
        </p:nvSpPr>
        <p:spPr>
          <a:xfrm>
            <a:off x="6381750" y="2861964"/>
            <a:ext cx="5500687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AE2D2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Optimized for Time</a:t>
            </a:r>
            <a:endParaRPr/>
          </a:p>
        </p:txBody>
      </p:sp>
      <p:sp>
        <p:nvSpPr>
          <p:cNvPr id="357" name="Google Shape;357;p33"/>
          <p:cNvSpPr txBox="1"/>
          <p:nvPr/>
        </p:nvSpPr>
        <p:spPr>
          <a:xfrm>
            <a:off x="6381750" y="3526780"/>
            <a:ext cx="5238750" cy="1493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Telemetric data is best stored in </a:t>
            </a:r>
            <a:r>
              <a:rPr lang="en-US" sz="21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Time-Series Databases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(InfluxDB, TimescaleDB) to allow massive write ingestion and rapid trend queries.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2" name="Google Shape;362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2544960"/>
            <a:ext cx="5238750" cy="3058715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4"/>
          <p:cNvSpPr txBox="1"/>
          <p:nvPr/>
        </p:nvSpPr>
        <p:spPr>
          <a:xfrm>
            <a:off x="762000" y="1047750"/>
            <a:ext cx="11401425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QUALITY ASSURANCE &amp; HIL</a:t>
            </a:r>
            <a:endParaRPr/>
          </a:p>
        </p:txBody>
      </p:sp>
      <p:sp>
        <p:nvSpPr>
          <p:cNvPr id="364" name="Google Shape;364;p34"/>
          <p:cNvSpPr/>
          <p:nvPr/>
        </p:nvSpPr>
        <p:spPr>
          <a:xfrm>
            <a:off x="571500" y="1047750"/>
            <a:ext cx="114300" cy="576262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34"/>
          <p:cNvSpPr txBox="1"/>
          <p:nvPr/>
        </p:nvSpPr>
        <p:spPr>
          <a:xfrm>
            <a:off x="571500" y="2811660"/>
            <a:ext cx="5238750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Testing the real hardware against a virtualized environment.</a:t>
            </a:r>
            <a:endParaRPr/>
          </a:p>
        </p:txBody>
      </p:sp>
      <p:pic>
        <p:nvPicPr>
          <p:cNvPr id="366" name="Google Shape;366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19850" y="2583060"/>
            <a:ext cx="5162550" cy="2982515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34"/>
          <p:cNvSpPr txBox="1"/>
          <p:nvPr/>
        </p:nvSpPr>
        <p:spPr>
          <a:xfrm>
            <a:off x="1000125" y="3824882"/>
            <a:ext cx="4810125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HIL: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Hardware-in-the-Loop simulation for safety critical logic.</a:t>
            </a:r>
            <a:endParaRPr/>
          </a:p>
        </p:txBody>
      </p:sp>
      <p:sp>
        <p:nvSpPr>
          <p:cNvPr id="368" name="Google Shape;368;p34"/>
          <p:cNvSpPr txBox="1"/>
          <p:nvPr/>
        </p:nvSpPr>
        <p:spPr>
          <a:xfrm>
            <a:off x="1000125" y="4714279"/>
            <a:ext cx="4810125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Regression: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Automated tests for every code commit.</a:t>
            </a:r>
            <a:endParaRPr/>
          </a:p>
        </p:txBody>
      </p:sp>
      <p:pic>
        <p:nvPicPr>
          <p:cNvPr id="369" name="Google Shape;369;p3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86298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3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752379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5" name="Google Shape;375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934467"/>
            <a:ext cx="5238750" cy="4279701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35"/>
          <p:cNvSpPr txBox="1"/>
          <p:nvPr/>
        </p:nvSpPr>
        <p:spPr>
          <a:xfrm>
            <a:off x="762000" y="1047750"/>
            <a:ext cx="11401425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COMPLIANCE &amp; CERTIFICATION</a:t>
            </a:r>
            <a:endParaRPr/>
          </a:p>
        </p:txBody>
      </p:sp>
      <p:sp>
        <p:nvSpPr>
          <p:cNvPr id="377" name="Google Shape;377;p35"/>
          <p:cNvSpPr/>
          <p:nvPr/>
        </p:nvSpPr>
        <p:spPr>
          <a:xfrm>
            <a:off x="571500" y="1047750"/>
            <a:ext cx="114300" cy="576262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8" name="Google Shape;378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" y="1972567"/>
            <a:ext cx="5162550" cy="420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5"/>
          <p:cNvSpPr txBox="1"/>
          <p:nvPr/>
        </p:nvSpPr>
        <p:spPr>
          <a:xfrm>
            <a:off x="6381750" y="2201167"/>
            <a:ext cx="5238750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No product hits the market without a passport.</a:t>
            </a:r>
            <a:endParaRPr/>
          </a:p>
        </p:txBody>
      </p:sp>
      <p:sp>
        <p:nvSpPr>
          <p:cNvPr id="380" name="Google Shape;380;p35"/>
          <p:cNvSpPr txBox="1"/>
          <p:nvPr/>
        </p:nvSpPr>
        <p:spPr>
          <a:xfrm>
            <a:off x="6810375" y="3214389"/>
            <a:ext cx="4810125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CE: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Europe requirements.</a:t>
            </a:r>
            <a:endParaRPr/>
          </a:p>
        </p:txBody>
      </p:sp>
      <p:sp>
        <p:nvSpPr>
          <p:cNvPr id="381" name="Google Shape;381;p35"/>
          <p:cNvSpPr txBox="1"/>
          <p:nvPr/>
        </p:nvSpPr>
        <p:spPr>
          <a:xfrm>
            <a:off x="6810375" y="3730525"/>
            <a:ext cx="4810125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FCC: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US radio frequency emissions.</a:t>
            </a:r>
            <a:endParaRPr/>
          </a:p>
        </p:txBody>
      </p:sp>
      <p:sp>
        <p:nvSpPr>
          <p:cNvPr id="382" name="Google Shape;382;p35"/>
          <p:cNvSpPr txBox="1"/>
          <p:nvPr/>
        </p:nvSpPr>
        <p:spPr>
          <a:xfrm>
            <a:off x="6810375" y="4246661"/>
            <a:ext cx="4810125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RoHS: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Lead-free environmental safety.</a:t>
            </a:r>
            <a:endParaRPr/>
          </a:p>
        </p:txBody>
      </p:sp>
      <p:pic>
        <p:nvPicPr>
          <p:cNvPr id="383" name="Google Shape;383;p3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3252489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3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3768625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3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4284761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3" name="Google Shape;403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544960"/>
            <a:ext cx="5238750" cy="3058715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7"/>
          <p:cNvSpPr txBox="1"/>
          <p:nvPr/>
        </p:nvSpPr>
        <p:spPr>
          <a:xfrm>
            <a:off x="762000" y="1047750"/>
            <a:ext cx="11401425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DEVOPS &amp; MAINTENANCE (OTA)</a:t>
            </a:r>
            <a:endParaRPr/>
          </a:p>
        </p:txBody>
      </p:sp>
      <p:sp>
        <p:nvSpPr>
          <p:cNvPr id="405" name="Google Shape;405;p37"/>
          <p:cNvSpPr/>
          <p:nvPr/>
        </p:nvSpPr>
        <p:spPr>
          <a:xfrm>
            <a:off x="571500" y="1047750"/>
            <a:ext cx="114300" cy="576262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6" name="Google Shape;406;p3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" y="2583060"/>
            <a:ext cx="5162550" cy="2982515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37"/>
          <p:cNvSpPr txBox="1"/>
          <p:nvPr/>
        </p:nvSpPr>
        <p:spPr>
          <a:xfrm>
            <a:off x="6381750" y="2811660"/>
            <a:ext cx="5238750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Deploying updates to millions of remote nodes.</a:t>
            </a:r>
            <a:endParaRPr/>
          </a:p>
        </p:txBody>
      </p:sp>
      <p:sp>
        <p:nvSpPr>
          <p:cNvPr id="408" name="Google Shape;408;p37"/>
          <p:cNvSpPr txBox="1"/>
          <p:nvPr/>
        </p:nvSpPr>
        <p:spPr>
          <a:xfrm>
            <a:off x="6810375" y="3824882"/>
            <a:ext cx="4810125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A/B Partition: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Preventing "bricking" via dual-boot fallback.</a:t>
            </a:r>
            <a:endParaRPr/>
          </a:p>
        </p:txBody>
      </p:sp>
      <p:sp>
        <p:nvSpPr>
          <p:cNvPr id="409" name="Google Shape;409;p37"/>
          <p:cNvSpPr txBox="1"/>
          <p:nvPr/>
        </p:nvSpPr>
        <p:spPr>
          <a:xfrm>
            <a:off x="6810375" y="4714279"/>
            <a:ext cx="4810125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Delta Updates: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Only sending changed binary blocks to save data.</a:t>
            </a:r>
            <a:endParaRPr/>
          </a:p>
        </p:txBody>
      </p:sp>
      <p:pic>
        <p:nvPicPr>
          <p:cNvPr id="410" name="Google Shape;410;p3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386298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3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4752379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996" y="1930977"/>
            <a:ext cx="5607724" cy="396485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29;p3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928639"/>
            <a:ext cx="5238750" cy="2291208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39"/>
          <p:cNvSpPr txBox="1"/>
          <p:nvPr/>
        </p:nvSpPr>
        <p:spPr>
          <a:xfrm>
            <a:off x="762000" y="1047750"/>
            <a:ext cx="11401425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COST ANALYSIS &amp; BOM</a:t>
            </a:r>
            <a:endParaRPr/>
          </a:p>
        </p:txBody>
      </p:sp>
      <p:sp>
        <p:nvSpPr>
          <p:cNvPr id="431" name="Google Shape;431;p39"/>
          <p:cNvSpPr/>
          <p:nvPr/>
        </p:nvSpPr>
        <p:spPr>
          <a:xfrm>
            <a:off x="571500" y="1047750"/>
            <a:ext cx="114300" cy="576262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2" name="Google Shape;432;p3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9575" y="3127696"/>
            <a:ext cx="5162550" cy="2215008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39"/>
          <p:cNvSpPr txBox="1"/>
          <p:nvPr/>
        </p:nvSpPr>
        <p:spPr>
          <a:xfrm>
            <a:off x="6381750" y="2928639"/>
            <a:ext cx="5500687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AE2D2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Unit Economics</a:t>
            </a:r>
            <a:endParaRPr/>
          </a:p>
        </p:txBody>
      </p:sp>
      <p:sp>
        <p:nvSpPr>
          <p:cNvPr id="434" name="Google Shape;434;p39"/>
          <p:cNvSpPr txBox="1"/>
          <p:nvPr/>
        </p:nvSpPr>
        <p:spPr>
          <a:xfrm>
            <a:off x="6810375" y="3441055"/>
            <a:ext cx="4810125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BOM: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Bill of Materials - target reduction for scale.</a:t>
            </a:r>
            <a:endParaRPr/>
          </a:p>
        </p:txBody>
      </p:sp>
      <p:sp>
        <p:nvSpPr>
          <p:cNvPr id="435" name="Google Shape;435;p39"/>
          <p:cNvSpPr txBox="1"/>
          <p:nvPr/>
        </p:nvSpPr>
        <p:spPr>
          <a:xfrm>
            <a:off x="6810375" y="4330451"/>
            <a:ext cx="4810125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OpEx: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Cloud hosting and cellular data monthly costs.</a:t>
            </a:r>
            <a:endParaRPr/>
          </a:p>
        </p:txBody>
      </p:sp>
      <p:pic>
        <p:nvPicPr>
          <p:cNvPr id="436" name="Google Shape;436;p3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3479155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3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4368551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2" y="1801504"/>
            <a:ext cx="5938838" cy="475823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2" name="Google Shape;442;p4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2584251"/>
            <a:ext cx="5238750" cy="2980134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40"/>
          <p:cNvSpPr txBox="1"/>
          <p:nvPr/>
        </p:nvSpPr>
        <p:spPr>
          <a:xfrm>
            <a:off x="762000" y="1047750"/>
            <a:ext cx="11401425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MINI PROJECT: SMART MONITOR</a:t>
            </a:r>
            <a:endParaRPr/>
          </a:p>
        </p:txBody>
      </p:sp>
      <p:sp>
        <p:nvSpPr>
          <p:cNvPr id="444" name="Google Shape;444;p40"/>
          <p:cNvSpPr/>
          <p:nvPr/>
        </p:nvSpPr>
        <p:spPr>
          <a:xfrm>
            <a:off x="571500" y="1047750"/>
            <a:ext cx="114300" cy="576262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40"/>
          <p:cNvSpPr txBox="1"/>
          <p:nvPr/>
        </p:nvSpPr>
        <p:spPr>
          <a:xfrm>
            <a:off x="571500" y="2584251"/>
            <a:ext cx="5500687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AE2D2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Challenge</a:t>
            </a:r>
            <a:endParaRPr/>
          </a:p>
        </p:txBody>
      </p:sp>
      <p:sp>
        <p:nvSpPr>
          <p:cNvPr id="446" name="Google Shape;446;p40"/>
          <p:cNvSpPr txBox="1"/>
          <p:nvPr/>
        </p:nvSpPr>
        <p:spPr>
          <a:xfrm>
            <a:off x="571500" y="3249066"/>
            <a:ext cx="5238750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Build a predictive maintenance architecture for an industrial pump.</a:t>
            </a:r>
            <a:endParaRPr/>
          </a:p>
        </p:txBody>
      </p:sp>
      <p:pic>
        <p:nvPicPr>
          <p:cNvPr id="447" name="Google Shape;447;p4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19850" y="2622351"/>
            <a:ext cx="5162550" cy="2903934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40"/>
          <p:cNvSpPr txBox="1"/>
          <p:nvPr/>
        </p:nvSpPr>
        <p:spPr>
          <a:xfrm>
            <a:off x="1000125" y="4262288"/>
            <a:ext cx="4810125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Vibration Sensor → RPi Edge → MQTT → Cloud InfluxDB → Grafana.</a:t>
            </a:r>
            <a:endParaRPr/>
          </a:p>
        </p:txBody>
      </p:sp>
      <p:pic>
        <p:nvPicPr>
          <p:cNvPr id="449" name="Google Shape;449;p4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300388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42"/>
          <p:cNvSpPr txBox="1"/>
          <p:nvPr/>
        </p:nvSpPr>
        <p:spPr>
          <a:xfrm>
            <a:off x="295275" y="2123182"/>
            <a:ext cx="11601450" cy="859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5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Summary &amp; Questions</a:t>
            </a:r>
            <a:endParaRPr/>
          </a:p>
        </p:txBody>
      </p:sp>
      <p:sp>
        <p:nvSpPr>
          <p:cNvPr id="469" name="Google Shape;469;p42"/>
          <p:cNvSpPr txBox="1"/>
          <p:nvPr/>
        </p:nvSpPr>
        <p:spPr>
          <a:xfrm>
            <a:off x="571500" y="3363217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Architecture | Lifecycle | Reliability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16</TotalTime>
  <Words>874</Words>
  <Application>Microsoft Office PowerPoint</Application>
  <PresentationFormat>Widescreen</PresentationFormat>
  <Paragraphs>128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Poppins SemiBold</vt:lpstr>
      <vt:lpstr>Calibri</vt:lpstr>
      <vt:lpstr>Poppins</vt:lpstr>
      <vt:lpstr>Lato</vt:lpstr>
      <vt:lpstr>Arial</vt:lpstr>
      <vt:lpstr>Trebuchet MS</vt:lpstr>
      <vt:lpstr>Berlin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Microsoft account</cp:lastModifiedBy>
  <cp:revision>5</cp:revision>
  <dcterms:modified xsi:type="dcterms:W3CDTF">2026-06-10T11:42:21Z</dcterms:modified>
</cp:coreProperties>
</file>