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media/image31.jpg" ContentType="image/png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embeddedFontLst>
    <p:embeddedFont>
      <p:font typeface="Poppins SemiBold" panose="020B0604020202020204" charset="0"/>
      <p:regular r:id="rId29"/>
      <p:bold r:id="rId30"/>
      <p:italic r:id="rId31"/>
      <p:boldItalic r:id="rId32"/>
    </p:embeddedFont>
    <p:embeddedFont>
      <p:font typeface="Lato" panose="020B0604020202020204" charset="0"/>
      <p:regular r:id="rId33"/>
      <p:bold r:id="rId34"/>
      <p:italic r:id="rId35"/>
      <p:boldItalic r:id="rId36"/>
    </p:embeddedFont>
    <p:embeddedFont>
      <p:font typeface="Trebuchet MS" panose="020B0603020202020204" pitchFamily="34" charset="0"/>
      <p:regular r:id="rId37"/>
      <p:bold r:id="rId38"/>
      <p:italic r:id="rId39"/>
      <p:boldItalic r:id="rId40"/>
    </p:embeddedFont>
    <p:embeddedFont>
      <p:font typeface="Poppins" panose="020B0604020202020204" charset="0"/>
      <p:regular r:id="rId41"/>
      <p:bold r:id="rId42"/>
      <p:italic r:id="rId43"/>
      <p:boldItalic r:id="rId44"/>
    </p:embeddedFont>
    <p:embeddedFont>
      <p:font typeface="Tw Cen MT" panose="020B0602020104020603" pitchFamily="34" charset="0"/>
      <p:regular r:id="rId45"/>
      <p:bold r:id="rId46"/>
      <p:italic r:id="rId47"/>
      <p:boldItalic r:id="rId48"/>
    </p:embeddedFont>
    <p:embeddedFont>
      <p:font typeface="Calibri" panose="020F0502020204030204" pitchFamily="3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font" Target="fonts/font19.fntdata"/><Relationship Id="rId50" Type="http://schemas.openxmlformats.org/officeDocument/2006/relationships/font" Target="fonts/font22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52" Type="http://schemas.openxmlformats.org/officeDocument/2006/relationships/font" Target="fonts/font2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font" Target="fonts/font20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2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font" Target="fonts/font2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239878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0048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3764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9846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8305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1257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3028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7793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1087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61889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353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63252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18279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9370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28136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63336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64135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22901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4780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92071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00716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23847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8129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20585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55137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94486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1430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013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0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204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60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06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44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91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213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7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40867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054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602310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6628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19587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1119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5670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39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8" name="Picture 47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92076"/>
            <a:ext cx="1114477" cy="647458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4263" y="44451"/>
            <a:ext cx="2052638" cy="59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8625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g"/><Relationship Id="rId5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g"/><Relationship Id="rId5" Type="http://schemas.openxmlformats.org/officeDocument/2006/relationships/image" Target="../media/image14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4987825"/>
            <a:ext cx="102870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95325" y="498723"/>
            <a:ext cx="10801350" cy="323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Data Acquisition,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375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Processing &amp; Edge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375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Computing Systems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952500" y="5673625"/>
            <a:ext cx="10287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Systems Engineering Division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862137"/>
            <a:ext cx="3365450" cy="474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3200" y="1862137"/>
            <a:ext cx="3365450" cy="474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1862137"/>
            <a:ext cx="3365599" cy="47433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TRAINING OUTCOMES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14425" y="2214562"/>
            <a:ext cx="26606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047909" y="2976562"/>
            <a:ext cx="279363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Ingestion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14425" y="3814762"/>
            <a:ext cx="2660600" cy="2133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Master multi-channel signal capture and hardware synchronization.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5625" y="2427833"/>
            <a:ext cx="26606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4699110" y="3189833"/>
            <a:ext cx="279363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Edge Logic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765625" y="4028033"/>
            <a:ext cx="2660600" cy="170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Develop real-time processing and local state machine logic.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16825" y="2427833"/>
            <a:ext cx="2660749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8350307" y="3189833"/>
            <a:ext cx="2793786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Telemetry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416825" y="4028033"/>
            <a:ext cx="2660749" cy="170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Architect robust Edge-to-Cloud telemetry data pipelines.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114996"/>
            <a:ext cx="5048250" cy="391849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INDUSTRIAL CONTEXT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2419796"/>
            <a:ext cx="504825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 modern factories, Data Acquisition (DAQ) is the "Sensory Nervous System" of the enterprise.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2153096"/>
            <a:ext cx="4972050" cy="384229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238250" y="4004667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Safety:</a:t>
            </a: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Real-time fault detection.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238250" y="4547592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Yield:</a:t>
            </a: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Precision tuning of variables.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238250" y="5090517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Downtime:</a:t>
            </a: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Predictive analytics to avoid machine failure.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042767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585692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128617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4-LAYER STACK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761999" y="1729830"/>
            <a:ext cx="11191875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Modern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IoT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architecture logically separates data flow into manageable engineering silos:</a:t>
            </a:r>
            <a:endParaRPr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819150" y="2869777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Perception:</a:t>
            </a:r>
            <a:r>
              <a:rPr lang="en-US" sz="22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Physical sensor interaction.</a:t>
            </a:r>
            <a:endParaRPr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761999" y="4557409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Network:</a:t>
            </a:r>
            <a:r>
              <a:rPr lang="en-US" sz="22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Protocol translation &amp; transport.</a:t>
            </a:r>
            <a:endParaRPr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6453187" y="2860584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Processing:</a:t>
            </a:r>
            <a:r>
              <a:rPr lang="en-US" sz="22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Edge filtering &amp; Cloud DB.</a:t>
            </a:r>
            <a:endParaRPr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6789761" y="4482581"/>
            <a:ext cx="4572000" cy="277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Application:</a:t>
            </a:r>
            <a:r>
              <a:rPr lang="en-US" sz="22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Dashboards &amp; HMI logic.</a:t>
            </a:r>
            <a:endParaRPr dirty="0"/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0424" y="3098709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3936" y="3065674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024" y="4633609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3936" y="4557409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DIGITAL PIPELINE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762000" y="2264568"/>
            <a:ext cx="5300662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Sequential Transformation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90600" y="2942747"/>
            <a:ext cx="2476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 dirty="0"/>
          </a:p>
        </p:txBody>
      </p:sp>
      <p:sp>
        <p:nvSpPr>
          <p:cNvPr id="150" name="Google Shape;150;p17"/>
          <p:cNvSpPr txBox="1"/>
          <p:nvPr/>
        </p:nvSpPr>
        <p:spPr>
          <a:xfrm>
            <a:off x="1238250" y="2888456"/>
            <a:ext cx="4572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Transducer: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Physics to Electrical.</a:t>
            </a:r>
            <a:endParaRPr dirty="0"/>
          </a:p>
        </p:txBody>
      </p:sp>
      <p:sp>
        <p:nvSpPr>
          <p:cNvPr id="151" name="Google Shape;151;p17"/>
          <p:cNvSpPr txBox="1"/>
          <p:nvPr/>
        </p:nvSpPr>
        <p:spPr>
          <a:xfrm>
            <a:off x="1003395" y="4374071"/>
            <a:ext cx="2476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1140868" y="4279998"/>
            <a:ext cx="457200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Conditioner: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Filter &amp; Amplification.</a:t>
            </a:r>
            <a:endParaRPr dirty="0"/>
          </a:p>
        </p:txBody>
      </p:sp>
      <p:sp>
        <p:nvSpPr>
          <p:cNvPr id="153" name="Google Shape;153;p17"/>
          <p:cNvSpPr txBox="1"/>
          <p:nvPr/>
        </p:nvSpPr>
        <p:spPr>
          <a:xfrm>
            <a:off x="6329362" y="3100833"/>
            <a:ext cx="2476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 dirty="0"/>
          </a:p>
        </p:txBody>
      </p:sp>
      <p:sp>
        <p:nvSpPr>
          <p:cNvPr id="154" name="Google Shape;154;p17"/>
          <p:cNvSpPr txBox="1"/>
          <p:nvPr/>
        </p:nvSpPr>
        <p:spPr>
          <a:xfrm>
            <a:off x="6423084" y="2996531"/>
            <a:ext cx="4572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ADC: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Analog to Digital Bits.</a:t>
            </a:r>
            <a:endParaRPr dirty="0"/>
          </a:p>
        </p:txBody>
      </p:sp>
      <p:sp>
        <p:nvSpPr>
          <p:cNvPr id="155" name="Google Shape;155;p17"/>
          <p:cNvSpPr txBox="1"/>
          <p:nvPr/>
        </p:nvSpPr>
        <p:spPr>
          <a:xfrm>
            <a:off x="6299259" y="4172890"/>
            <a:ext cx="2476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 dirty="0"/>
          </a:p>
        </p:txBody>
      </p:sp>
      <p:sp>
        <p:nvSpPr>
          <p:cNvPr id="156" name="Google Shape;156;p17"/>
          <p:cNvSpPr txBox="1"/>
          <p:nvPr/>
        </p:nvSpPr>
        <p:spPr>
          <a:xfrm>
            <a:off x="6453187" y="4066653"/>
            <a:ext cx="4572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Driver: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Register to Memory Array.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862137"/>
            <a:ext cx="5048250" cy="473764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SIGNAL CONDITIONING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6381750" y="1862137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Cleaning the Edge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381750" y="2586037"/>
            <a:ext cx="504825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Raw signals are often weak (μV range) and noisy. Hardware pre-processing is mandatory.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858000" y="4170908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InAmp:</a:t>
            </a: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High CMRR to reject EMI.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858000" y="4713833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Filtering:</a:t>
            </a: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Eliminating high-freq jitter.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858000" y="5656808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Isolation:</a:t>
            </a: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Protecting the processor from kilovolt spikes.</a:t>
            </a:r>
            <a:endParaRPr/>
          </a:p>
        </p:txBody>
      </p:sp>
      <p:pic>
        <p:nvPicPr>
          <p:cNvPr id="170" name="Google Shape;17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209008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751933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5694908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74" y="1862137"/>
            <a:ext cx="4924425" cy="4497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340768"/>
            <a:ext cx="5048250" cy="346695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ANALOG NOISE MANAGEMENT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762000" y="2340768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Differential Advantage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762000" y="3064668"/>
            <a:ext cx="504825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By subtracting two inverse lines (A-B), industrial systems cancel noise that hits both wires simultaneously.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762000" y="4649539"/>
            <a:ext cx="50482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Crucial for:</a:t>
            </a: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Long cable runs (&gt;10m) across noisy motor control centers.</a:t>
            </a:r>
            <a:endParaRPr/>
          </a:p>
        </p:txBody>
      </p:sp>
      <p:pic>
        <p:nvPicPr>
          <p:cNvPr id="183" name="Google Shape;18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2378868"/>
            <a:ext cx="4972050" cy="339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976883"/>
            <a:ext cx="5048250" cy="419472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MULTICHANNEL INGESTION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2014983"/>
            <a:ext cx="4972050" cy="411852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6381750" y="1976883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Hardware Sharing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381750" y="2700783"/>
            <a:ext cx="504825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Multiplexing allows a single expensive high-resolution ADC to process dozens of sensors.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858000" y="4285654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Addressing:</a:t>
            </a: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Logic lines select the active sensor.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858000" y="5228629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Switching:</a:t>
            </a: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High-speed MOS switches ensure minimal crosstalk.</a:t>
            </a:r>
            <a:endParaRPr/>
          </a:p>
        </p:txBody>
      </p:sp>
      <p:pic>
        <p:nvPicPr>
          <p:cNvPr id="196" name="Google Shape;19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323754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5266729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127498"/>
            <a:ext cx="5048250" cy="389364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QUANTIZATION ENGINES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762000" y="2127498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SAR vs. Delta-Sigma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762000" y="2851398"/>
            <a:ext cx="504825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SAR:</a:t>
            </a: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Moderate speed, high efficiency. The workhorse of standard microcontrollers.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762000" y="4436268"/>
            <a:ext cx="504825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Delta-Sigma:</a:t>
            </a: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Slow but extreme resolution (24-bit). Ideal for scientific weighing and audio.</a:t>
            </a:r>
            <a:endParaRPr/>
          </a:p>
        </p:txBody>
      </p:sp>
      <p:pic>
        <p:nvPicPr>
          <p:cNvPr id="208" name="Google Shape;20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2165598"/>
            <a:ext cx="4972050" cy="3817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908" y="1892172"/>
            <a:ext cx="5297092" cy="47737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SYNCHRONOUS BUS: SPI</a:t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6381750" y="1862137"/>
            <a:ext cx="5300662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Gold Standard for DAQ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6294746" y="2378611"/>
            <a:ext cx="5048250" cy="170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Serial Peripheral Interface (SPI) provides the deterministic, high-speed link needed for raw sensor data.</a:t>
            </a:r>
            <a:endParaRPr dirty="0"/>
          </a:p>
        </p:txBody>
      </p:sp>
      <p:sp>
        <p:nvSpPr>
          <p:cNvPr id="219" name="Google Shape;219;p22"/>
          <p:cNvSpPr txBox="1"/>
          <p:nvPr/>
        </p:nvSpPr>
        <p:spPr>
          <a:xfrm>
            <a:off x="484496" y="4700818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Full-duplex (simultaneous Rx/</a:t>
            </a:r>
            <a:r>
              <a:rPr lang="en-US" sz="22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Tx</a:t>
            </a:r>
            <a:r>
              <a:rPr lang="en-US" sz="22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sp>
        <p:nvSpPr>
          <p:cNvPr id="220" name="Google Shape;220;p22"/>
          <p:cNvSpPr txBox="1"/>
          <p:nvPr/>
        </p:nvSpPr>
        <p:spPr>
          <a:xfrm>
            <a:off x="6686550" y="4768354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Speeds up to 100MHz+ possible.</a:t>
            </a:r>
            <a:endParaRPr dirty="0"/>
          </a:p>
        </p:txBody>
      </p:sp>
      <p:sp>
        <p:nvSpPr>
          <p:cNvPr id="221" name="Google Shape;221;p22"/>
          <p:cNvSpPr txBox="1"/>
          <p:nvPr/>
        </p:nvSpPr>
        <p:spPr>
          <a:xfrm>
            <a:off x="620973" y="5332973"/>
            <a:ext cx="4572000" cy="755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Hardware chip-select for zero address lag.</a:t>
            </a:r>
            <a:endParaRPr dirty="0"/>
          </a:p>
        </p:txBody>
      </p:sp>
      <p:pic>
        <p:nvPicPr>
          <p:cNvPr id="222" name="Google Shape;22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063" y="4738918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7027" y="4844554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17" y="5512851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496" y="1862137"/>
            <a:ext cx="3048000" cy="2228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176908"/>
            <a:ext cx="5048250" cy="379467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FIELDBUS: RS-485</a:t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762000" y="2176908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Industrial Reliability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762000" y="2900808"/>
            <a:ext cx="504825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 connectivity spanning up to 1.2km, RS-485 is the industry's resilient choice.</a:t>
            </a:r>
            <a:endParaRPr/>
          </a:p>
        </p:txBody>
      </p:sp>
      <p:pic>
        <p:nvPicPr>
          <p:cNvPr id="234" name="Google Shape;23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2215008"/>
            <a:ext cx="4972050" cy="371847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1238250" y="4485679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Differential pair:</a:t>
            </a: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Immune to EMI.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1238250" y="5028604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Multi-drop:</a:t>
            </a: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Connect up to 32 nodes on a simple twisted pair cable.</a:t>
            </a:r>
            <a:endParaRPr/>
          </a:p>
        </p:txBody>
      </p:sp>
      <p:pic>
        <p:nvPicPr>
          <p:cNvPr id="237" name="Google Shape;23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523779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066704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08" y="1624012"/>
            <a:ext cx="5138793" cy="46746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190179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093313"/>
            <a:ext cx="12192000" cy="4764687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/>
          <p:nvPr/>
        </p:nvSpPr>
        <p:spPr>
          <a:xfrm>
            <a:off x="2205514" y="0"/>
            <a:ext cx="7780972" cy="114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 dirty="0" smtClean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Edge </a:t>
            </a:r>
            <a:r>
              <a:rPr lang="en-US" sz="6750" b="1" i="0" u="none" strike="noStrike" cap="none" dirty="0" smtClean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Computing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2665862" y="950693"/>
            <a:ext cx="6096000" cy="506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Intelligence at the Hardware Boundary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862137"/>
            <a:ext cx="5048250" cy="473764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PLATFORM: RPI 5</a:t>
            </a:r>
            <a:endParaRPr/>
          </a:p>
        </p:txBody>
      </p:sp>
      <p:sp>
        <p:nvSpPr>
          <p:cNvPr id="254" name="Google Shape;254;p25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1900237"/>
            <a:ext cx="4972050" cy="466144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/>
          <p:nvPr/>
        </p:nvSpPr>
        <p:spPr>
          <a:xfrm>
            <a:off x="6381750" y="1862137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Production-Ready Edge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6381750" y="2586037"/>
            <a:ext cx="504825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Raspberry Pi 5 transitions from "maker gadget" to a high-performance Edge Node.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6858000" y="4170908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Cortex-A76:</a:t>
            </a: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Performance cores for AI.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6858000" y="5113883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RP1 Southbridge:</a:t>
            </a: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Deterministic GPIO control.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6858000" y="6056858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PCIe:</a:t>
            </a: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High-speed NVMe storage.</a:t>
            </a:r>
            <a:endParaRPr/>
          </a:p>
        </p:txBody>
      </p:sp>
      <p:pic>
        <p:nvPicPr>
          <p:cNvPr id="261" name="Google Shape;26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209008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5151983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6094958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70" y="1830610"/>
            <a:ext cx="5928530" cy="40577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393156"/>
            <a:ext cx="5048250" cy="33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6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SOFTWARE STACK</a:t>
            </a:r>
            <a:endParaRPr/>
          </a:p>
        </p:txBody>
      </p:sp>
      <p:sp>
        <p:nvSpPr>
          <p:cNvPr id="270" name="Google Shape;270;p26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 txBox="1"/>
          <p:nvPr/>
        </p:nvSpPr>
        <p:spPr>
          <a:xfrm>
            <a:off x="762000" y="2393156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Architecting for Stability</a:t>
            </a:r>
            <a:endParaRPr/>
          </a:p>
        </p:txBody>
      </p:sp>
      <p:pic>
        <p:nvPicPr>
          <p:cNvPr id="272" name="Google Shape;272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2431256"/>
            <a:ext cx="4972050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/>
          <p:cNvSpPr txBox="1"/>
          <p:nvPr/>
        </p:nvSpPr>
        <p:spPr>
          <a:xfrm>
            <a:off x="1238250" y="2926556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Kernel Space:</a:t>
            </a: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Low-level hardware drivers.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1238250" y="3869531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User Space:</a:t>
            </a: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Python/C++ Application logic.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1238250" y="4812506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Real-time patches:</a:t>
            </a: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(PREEMPT_RT) for sub-millisecond determinism.</a:t>
            </a:r>
            <a:endParaRPr/>
          </a:p>
        </p:txBody>
      </p:sp>
      <p:pic>
        <p:nvPicPr>
          <p:cNvPr id="276" name="Google Shape;276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964656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907631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850606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340768"/>
            <a:ext cx="5048250" cy="3466951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7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DETERMINISM ANALYSIS</a:t>
            </a:r>
            <a:endParaRPr/>
          </a:p>
        </p:txBody>
      </p:sp>
      <p:sp>
        <p:nvSpPr>
          <p:cNvPr id="285" name="Google Shape;285;p27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2378868"/>
            <a:ext cx="4972050" cy="3390751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 txBox="1"/>
          <p:nvPr/>
        </p:nvSpPr>
        <p:spPr>
          <a:xfrm>
            <a:off x="6381750" y="2340768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Jumping to Action</a:t>
            </a:r>
            <a:endParaRPr/>
          </a:p>
        </p:txBody>
      </p:sp>
      <p:sp>
        <p:nvSpPr>
          <p:cNvPr id="288" name="Google Shape;288;p27"/>
          <p:cNvSpPr txBox="1"/>
          <p:nvPr/>
        </p:nvSpPr>
        <p:spPr>
          <a:xfrm>
            <a:off x="6381750" y="3064668"/>
            <a:ext cx="50482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Polling:</a:t>
            </a: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CPU repeatedly checks a pin. High waste, high latency variation.</a:t>
            </a:r>
            <a:endParaRPr/>
          </a:p>
        </p:txBody>
      </p:sp>
      <p:sp>
        <p:nvSpPr>
          <p:cNvPr id="289" name="Google Shape;289;p27"/>
          <p:cNvSpPr txBox="1"/>
          <p:nvPr/>
        </p:nvSpPr>
        <p:spPr>
          <a:xfrm>
            <a:off x="6381750" y="4222849"/>
            <a:ext cx="504825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Interrupts:</a:t>
            </a: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Hardware triggers the CPU. Sub-microsecond response, perfect for high-speed alarms.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DIRECT MEMORY ACCESS</a:t>
            </a:r>
            <a:endParaRPr/>
          </a:p>
        </p:txBody>
      </p:sp>
      <p:sp>
        <p:nvSpPr>
          <p:cNvPr id="296" name="Google Shape;296;p28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762000" y="1963638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Bypassing the CPU</a:t>
            </a:r>
            <a:endParaRPr/>
          </a:p>
        </p:txBody>
      </p:sp>
      <p:sp>
        <p:nvSpPr>
          <p:cNvPr id="298" name="Google Shape;298;p28"/>
          <p:cNvSpPr txBox="1"/>
          <p:nvPr/>
        </p:nvSpPr>
        <p:spPr>
          <a:xfrm>
            <a:off x="762000" y="2687538"/>
            <a:ext cx="114300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DMA allows hardware to dump data straight to RAM without core processor intervention. Mandatory for high-speed logging.</a:t>
            </a:r>
            <a:endParaRPr dirty="0"/>
          </a:p>
        </p:txBody>
      </p:sp>
      <p:sp>
        <p:nvSpPr>
          <p:cNvPr id="300" name="Google Shape;300;p28"/>
          <p:cNvSpPr txBox="1"/>
          <p:nvPr/>
        </p:nvSpPr>
        <p:spPr>
          <a:xfrm>
            <a:off x="1238250" y="3937787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CPU Load:</a:t>
            </a:r>
            <a:r>
              <a:rPr lang="en-US" sz="22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0% for data movement.</a:t>
            </a:r>
            <a:endParaRPr dirty="0"/>
          </a:p>
        </p:txBody>
      </p:sp>
      <p:sp>
        <p:nvSpPr>
          <p:cNvPr id="301" name="Google Shape;301;p28"/>
          <p:cNvSpPr txBox="1"/>
          <p:nvPr/>
        </p:nvSpPr>
        <p:spPr>
          <a:xfrm>
            <a:off x="1238250" y="4704744"/>
            <a:ext cx="987102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Efficiency:</a:t>
            </a:r>
            <a:r>
              <a:rPr lang="en-US" sz="22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Direct peripheral-to-memory block transfers.</a:t>
            </a:r>
            <a:endParaRPr dirty="0"/>
          </a:p>
        </p:txBody>
      </p:sp>
      <p:pic>
        <p:nvPicPr>
          <p:cNvPr id="302" name="Google Shape;302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100" y="4026467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307" y="4785193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135981"/>
            <a:ext cx="5048250" cy="387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IN-MEMORY RING BUFFERS</a:t>
            </a:r>
            <a:endParaRPr/>
          </a:p>
        </p:txBody>
      </p:sp>
      <p:sp>
        <p:nvSpPr>
          <p:cNvPr id="310" name="Google Shape;310;p29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2174081"/>
            <a:ext cx="4972050" cy="38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9"/>
          <p:cNvSpPr txBox="1"/>
          <p:nvPr/>
        </p:nvSpPr>
        <p:spPr>
          <a:xfrm>
            <a:off x="6381750" y="2135981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Handling Data Spikes</a:t>
            </a:r>
            <a:endParaRPr/>
          </a:p>
        </p:txBody>
      </p:sp>
      <p:sp>
        <p:nvSpPr>
          <p:cNvPr id="313" name="Google Shape;313;p29"/>
          <p:cNvSpPr txBox="1"/>
          <p:nvPr/>
        </p:nvSpPr>
        <p:spPr>
          <a:xfrm>
            <a:off x="6381750" y="2859881"/>
            <a:ext cx="504825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Circular arrays decouple the high-priority </a:t>
            </a:r>
            <a:r>
              <a:rPr lang="en-US" sz="24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Producer</a:t>
            </a: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(ADC) from the slower </a:t>
            </a:r>
            <a:r>
              <a:rPr lang="en-US" sz="24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Consumer</a:t>
            </a: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(Cloud Upload).</a:t>
            </a:r>
            <a:endParaRPr/>
          </a:p>
        </p:txBody>
      </p:sp>
      <p:sp>
        <p:nvSpPr>
          <p:cNvPr id="314" name="Google Shape;314;p29"/>
          <p:cNvSpPr txBox="1"/>
          <p:nvPr/>
        </p:nvSpPr>
        <p:spPr>
          <a:xfrm>
            <a:off x="6858000" y="4444751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Constant memory footprint.</a:t>
            </a: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6858000" y="4987676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Zero dynamic allocation (no heap fragmentation).</a:t>
            </a:r>
            <a:endParaRPr/>
          </a:p>
        </p:txBody>
      </p:sp>
      <p:pic>
        <p:nvPicPr>
          <p:cNvPr id="316" name="Google Shape;316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482851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5025776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0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LOCAL AI INFERENCE</a:t>
            </a:r>
            <a:endParaRPr/>
          </a:p>
        </p:txBody>
      </p:sp>
      <p:sp>
        <p:nvSpPr>
          <p:cNvPr id="324" name="Google Shape;324;p30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0"/>
          <p:cNvSpPr txBox="1"/>
          <p:nvPr/>
        </p:nvSpPr>
        <p:spPr>
          <a:xfrm>
            <a:off x="762000" y="1976883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Intelligent Boundary</a:t>
            </a:r>
            <a:endParaRPr/>
          </a:p>
        </p:txBody>
      </p:sp>
      <p:sp>
        <p:nvSpPr>
          <p:cNvPr id="326" name="Google Shape;326;p30"/>
          <p:cNvSpPr txBox="1"/>
          <p:nvPr/>
        </p:nvSpPr>
        <p:spPr>
          <a:xfrm>
            <a:off x="762000" y="2700783"/>
            <a:ext cx="504825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Moving machine learning to the Edge reduces cloud bandwidth by 99% and latency to milliseconds.</a:t>
            </a:r>
            <a:endParaRPr/>
          </a:p>
        </p:txBody>
      </p:sp>
      <p:sp>
        <p:nvSpPr>
          <p:cNvPr id="328" name="Google Shape;328;p30"/>
          <p:cNvSpPr txBox="1"/>
          <p:nvPr/>
        </p:nvSpPr>
        <p:spPr>
          <a:xfrm>
            <a:off x="1238250" y="4285654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CNNs:</a:t>
            </a: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For real-time visual inspection.</a:t>
            </a: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1238250" y="5228629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FFT:</a:t>
            </a: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For frequency-domain anomaly detection.</a:t>
            </a:r>
            <a:endParaRPr/>
          </a:p>
        </p:txBody>
      </p:sp>
      <p:pic>
        <p:nvPicPr>
          <p:cNvPr id="330" name="Google Shape;330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4323754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5266729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439" y="2700783"/>
            <a:ext cx="5334000" cy="26574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862137"/>
            <a:ext cx="10668000" cy="4424362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1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MODEL QUANTIZATION</a:t>
            </a:r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1"/>
          <p:cNvSpPr txBox="1"/>
          <p:nvPr/>
        </p:nvSpPr>
        <p:spPr>
          <a:xfrm>
            <a:off x="762000" y="4304853"/>
            <a:ext cx="1066800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Converting 32-bit weights to 8-bit integers increases speed by 3x on Edge hardware with minimal accuracy loss.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100411"/>
            <a:ext cx="5048250" cy="394766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2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BACKBONE: MQTT</a:t>
            </a:r>
            <a:endParaRPr/>
          </a:p>
        </p:txBody>
      </p:sp>
      <p:sp>
        <p:nvSpPr>
          <p:cNvPr id="346" name="Google Shape;346;p32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2138511"/>
            <a:ext cx="4972050" cy="3871466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2"/>
          <p:cNvSpPr txBox="1"/>
          <p:nvPr/>
        </p:nvSpPr>
        <p:spPr>
          <a:xfrm>
            <a:off x="6381750" y="2100411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Pub-Sub Paradigm</a:t>
            </a:r>
            <a:endParaRPr/>
          </a:p>
        </p:txBody>
      </p:sp>
      <p:sp>
        <p:nvSpPr>
          <p:cNvPr id="349" name="Google Shape;349;p32"/>
          <p:cNvSpPr txBox="1"/>
          <p:nvPr/>
        </p:nvSpPr>
        <p:spPr>
          <a:xfrm>
            <a:off x="6381750" y="2824311"/>
            <a:ext cx="50482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standard "language" for Edge-to-Cloud connectivity.</a:t>
            </a:r>
            <a:endParaRPr/>
          </a:p>
        </p:txBody>
      </p:sp>
      <p:sp>
        <p:nvSpPr>
          <p:cNvPr id="350" name="Google Shape;350;p32"/>
          <p:cNvSpPr txBox="1"/>
          <p:nvPr/>
        </p:nvSpPr>
        <p:spPr>
          <a:xfrm>
            <a:off x="6858000" y="3982491"/>
            <a:ext cx="4572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Decoupled:</a:t>
            </a: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Sensors don't need to know where the cloud is.</a:t>
            </a:r>
            <a:endParaRPr/>
          </a:p>
        </p:txBody>
      </p:sp>
      <p:sp>
        <p:nvSpPr>
          <p:cNvPr id="351" name="Google Shape;351;p32"/>
          <p:cNvSpPr txBox="1"/>
          <p:nvPr/>
        </p:nvSpPr>
        <p:spPr>
          <a:xfrm>
            <a:off x="6858000" y="4925466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QoS:</a:t>
            </a: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Built-in delivery guarantees.</a:t>
            </a:r>
            <a:endParaRPr/>
          </a:p>
        </p:txBody>
      </p:sp>
      <p:sp>
        <p:nvSpPr>
          <p:cNvPr id="352" name="Google Shape;352;p32"/>
          <p:cNvSpPr txBox="1"/>
          <p:nvPr/>
        </p:nvSpPr>
        <p:spPr>
          <a:xfrm>
            <a:off x="6858000" y="5468391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Payload:</a:t>
            </a: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Supports Binary or JSON.</a:t>
            </a:r>
            <a:endParaRPr/>
          </a:p>
        </p:txBody>
      </p:sp>
      <p:pic>
        <p:nvPicPr>
          <p:cNvPr id="353" name="Google Shape;353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020591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963566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5506491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706588"/>
            <a:ext cx="5048250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3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PAYLOAD EFFICIENCY</a:t>
            </a:r>
            <a:endParaRPr/>
          </a:p>
        </p:txBody>
      </p:sp>
      <p:sp>
        <p:nvSpPr>
          <p:cNvPr id="362" name="Google Shape;362;p33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3"/>
          <p:cNvSpPr txBox="1"/>
          <p:nvPr/>
        </p:nvSpPr>
        <p:spPr>
          <a:xfrm>
            <a:off x="762000" y="2706588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JSON vs. Protobuf</a:t>
            </a:r>
            <a:endParaRPr/>
          </a:p>
        </p:txBody>
      </p:sp>
      <p:sp>
        <p:nvSpPr>
          <p:cNvPr id="364" name="Google Shape;364;p33"/>
          <p:cNvSpPr txBox="1"/>
          <p:nvPr/>
        </p:nvSpPr>
        <p:spPr>
          <a:xfrm>
            <a:off x="762000" y="3430488"/>
            <a:ext cx="5048250" cy="170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Industrial cellular links are expensive. </a:t>
            </a:r>
            <a:r>
              <a:rPr lang="en-US" sz="24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Protocol Buffers</a:t>
            </a: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reduce data usage by up to 10x compared to text-based JSON.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4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LAMBDA ARCHITECTURE</a:t>
            </a:r>
            <a:endParaRPr/>
          </a:p>
        </p:txBody>
      </p:sp>
      <p:sp>
        <p:nvSpPr>
          <p:cNvPr id="371" name="Google Shape;371;p34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4"/>
          <p:cNvSpPr txBox="1"/>
          <p:nvPr/>
        </p:nvSpPr>
        <p:spPr>
          <a:xfrm>
            <a:off x="6381750" y="2554188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Dual Path</a:t>
            </a:r>
            <a:endParaRPr/>
          </a:p>
        </p:txBody>
      </p:sp>
      <p:sp>
        <p:nvSpPr>
          <p:cNvPr id="374" name="Google Shape;374;p34"/>
          <p:cNvSpPr txBox="1"/>
          <p:nvPr/>
        </p:nvSpPr>
        <p:spPr>
          <a:xfrm>
            <a:off x="6381750" y="3278088"/>
            <a:ext cx="50482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Hot Path:</a:t>
            </a: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Live data bypassed directly to real-time dashboards (low latency).</a:t>
            </a:r>
            <a:endParaRPr/>
          </a:p>
        </p:txBody>
      </p:sp>
      <p:sp>
        <p:nvSpPr>
          <p:cNvPr id="375" name="Google Shape;375;p34"/>
          <p:cNvSpPr txBox="1"/>
          <p:nvPr/>
        </p:nvSpPr>
        <p:spPr>
          <a:xfrm>
            <a:off x="6381750" y="4436268"/>
            <a:ext cx="50482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Cold Path:</a:t>
            </a: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Raw logs archived for deep historical auditing and ML training.</a:t>
            </a: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83392"/>
            <a:ext cx="6381750" cy="464023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5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STORAGE: TSDB</a:t>
            </a:r>
            <a:endParaRPr/>
          </a:p>
        </p:txBody>
      </p:sp>
      <p:sp>
        <p:nvSpPr>
          <p:cNvPr id="382" name="Google Shape;382;p35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5"/>
          <p:cNvSpPr txBox="1"/>
          <p:nvPr/>
        </p:nvSpPr>
        <p:spPr>
          <a:xfrm>
            <a:off x="762000" y="2163663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Optimized for Chronology</a:t>
            </a:r>
            <a:endParaRPr/>
          </a:p>
        </p:txBody>
      </p:sp>
      <p:sp>
        <p:nvSpPr>
          <p:cNvPr id="384" name="Google Shape;384;p35"/>
          <p:cNvSpPr txBox="1"/>
          <p:nvPr/>
        </p:nvSpPr>
        <p:spPr>
          <a:xfrm>
            <a:off x="761999" y="2887563"/>
            <a:ext cx="11288973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Standard SQL fails under millions of concurrent sensor writes. TSDBs (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InfluxDB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 use </a:t>
            </a:r>
            <a:r>
              <a:rPr lang="en-US" sz="240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Columnar Compression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386" name="Google Shape;386;p35"/>
          <p:cNvSpPr txBox="1"/>
          <p:nvPr/>
        </p:nvSpPr>
        <p:spPr>
          <a:xfrm>
            <a:off x="1388376" y="4168093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Rapid time-range queries.</a:t>
            </a:r>
            <a:endParaRPr dirty="0"/>
          </a:p>
        </p:txBody>
      </p:sp>
      <p:sp>
        <p:nvSpPr>
          <p:cNvPr id="387" name="Google Shape;387;p35"/>
          <p:cNvSpPr txBox="1"/>
          <p:nvPr/>
        </p:nvSpPr>
        <p:spPr>
          <a:xfrm>
            <a:off x="1224602" y="5185243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Automated data aging rules.</a:t>
            </a:r>
            <a:endParaRPr dirty="0"/>
          </a:p>
        </p:txBody>
      </p:sp>
      <p:pic>
        <p:nvPicPr>
          <p:cNvPr id="388" name="Google Shape;388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4280123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999" y="5318224"/>
            <a:ext cx="304800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127498"/>
            <a:ext cx="5048250" cy="3893641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6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SECURING THE EDGE</a:t>
            </a:r>
            <a:endParaRPr/>
          </a:p>
        </p:txBody>
      </p:sp>
      <p:sp>
        <p:nvSpPr>
          <p:cNvPr id="396" name="Google Shape;396;p36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7" name="Google Shape;397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2165598"/>
            <a:ext cx="4972050" cy="3817441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6"/>
          <p:cNvSpPr txBox="1"/>
          <p:nvPr/>
        </p:nvSpPr>
        <p:spPr>
          <a:xfrm>
            <a:off x="6381750" y="2127498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Mutual Identity</a:t>
            </a:r>
            <a:endParaRPr/>
          </a:p>
        </p:txBody>
      </p:sp>
      <p:sp>
        <p:nvSpPr>
          <p:cNvPr id="399" name="Google Shape;399;p36"/>
          <p:cNvSpPr txBox="1"/>
          <p:nvPr/>
        </p:nvSpPr>
        <p:spPr>
          <a:xfrm>
            <a:off x="6381750" y="2851398"/>
            <a:ext cx="5048250" cy="170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IoT nodes are physical targets. Mutual TLS (mTLS) ensures that only verified nodes talk to the cloud, and vice-versa.</a:t>
            </a:r>
            <a:endParaRPr/>
          </a:p>
        </p:txBody>
      </p:sp>
      <p:sp>
        <p:nvSpPr>
          <p:cNvPr id="400" name="Google Shape;400;p36"/>
          <p:cNvSpPr txBox="1"/>
          <p:nvPr/>
        </p:nvSpPr>
        <p:spPr>
          <a:xfrm>
            <a:off x="6381750" y="4862958"/>
            <a:ext cx="50482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RoT:</a:t>
            </a: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Keys must be stored in hardware secure elements.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7"/>
          <p:cNvSpPr txBox="1"/>
          <p:nvPr/>
        </p:nvSpPr>
        <p:spPr>
          <a:xfrm>
            <a:off x="952500" y="1047750"/>
            <a:ext cx="110013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OPERATIONAL INSIGHTS</a:t>
            </a:r>
            <a:endParaRPr/>
          </a:p>
        </p:txBody>
      </p:sp>
      <p:sp>
        <p:nvSpPr>
          <p:cNvPr id="407" name="Google Shape;407;p37"/>
          <p:cNvSpPr/>
          <p:nvPr/>
        </p:nvSpPr>
        <p:spPr>
          <a:xfrm>
            <a:off x="762000" y="1047750"/>
            <a:ext cx="114300" cy="57626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7"/>
          <p:cNvSpPr txBox="1"/>
          <p:nvPr/>
        </p:nvSpPr>
        <p:spPr>
          <a:xfrm>
            <a:off x="762000" y="2105471"/>
            <a:ext cx="530066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Grafana HMI</a:t>
            </a:r>
            <a:endParaRPr/>
          </a:p>
        </p:txBody>
      </p:sp>
      <p:sp>
        <p:nvSpPr>
          <p:cNvPr id="409" name="Google Shape;409;p37"/>
          <p:cNvSpPr txBox="1"/>
          <p:nvPr/>
        </p:nvSpPr>
        <p:spPr>
          <a:xfrm>
            <a:off x="762000" y="2829371"/>
            <a:ext cx="504825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ultimate view of your Edge network. Combines real-time telemetry with threshold alerts.</a:t>
            </a:r>
            <a:endParaRPr/>
          </a:p>
        </p:txBody>
      </p:sp>
      <p:sp>
        <p:nvSpPr>
          <p:cNvPr id="411" name="Google Shape;411;p37"/>
          <p:cNvSpPr txBox="1"/>
          <p:nvPr/>
        </p:nvSpPr>
        <p:spPr>
          <a:xfrm>
            <a:off x="1238250" y="4414242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Rolling line charts.</a:t>
            </a:r>
            <a:endParaRPr/>
          </a:p>
        </p:txBody>
      </p:sp>
      <p:sp>
        <p:nvSpPr>
          <p:cNvPr id="412" name="Google Shape;412;p37"/>
          <p:cNvSpPr txBox="1"/>
          <p:nvPr/>
        </p:nvSpPr>
        <p:spPr>
          <a:xfrm>
            <a:off x="1238250" y="4957167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Color-coded health gauges.</a:t>
            </a:r>
            <a:endParaRPr/>
          </a:p>
        </p:txBody>
      </p:sp>
      <p:sp>
        <p:nvSpPr>
          <p:cNvPr id="413" name="Google Shape;413;p37"/>
          <p:cNvSpPr txBox="1"/>
          <p:nvPr/>
        </p:nvSpPr>
        <p:spPr>
          <a:xfrm>
            <a:off x="1238250" y="5500092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Global fleet map views.</a:t>
            </a:r>
            <a:endParaRPr/>
          </a:p>
        </p:txBody>
      </p:sp>
      <p:pic>
        <p:nvPicPr>
          <p:cNvPr id="414" name="Google Shape;414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4452342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4995267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5538192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866" y="2105471"/>
            <a:ext cx="571500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8"/>
          <p:cNvSpPr txBox="1"/>
          <p:nvPr/>
        </p:nvSpPr>
        <p:spPr>
          <a:xfrm>
            <a:off x="1722763" y="265321"/>
            <a:ext cx="84504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Masterclass Summary</a:t>
            </a:r>
            <a:endParaRPr/>
          </a:p>
        </p:txBody>
      </p:sp>
      <p:sp>
        <p:nvSpPr>
          <p:cNvPr id="423" name="Google Shape;423;p38"/>
          <p:cNvSpPr txBox="1"/>
          <p:nvPr/>
        </p:nvSpPr>
        <p:spPr>
          <a:xfrm>
            <a:off x="952500" y="2635746"/>
            <a:ext cx="10287000" cy="1519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Integrating robust physical ingestion with intelligent Edge processing and secure Cloud synergy creates the modern industrial edge.</a:t>
            </a:r>
            <a:endParaRPr/>
          </a:p>
        </p:txBody>
      </p:sp>
      <p:sp>
        <p:nvSpPr>
          <p:cNvPr id="424" name="Google Shape;424;p38"/>
          <p:cNvSpPr txBox="1"/>
          <p:nvPr/>
        </p:nvSpPr>
        <p:spPr>
          <a:xfrm>
            <a:off x="3290143" y="5089028"/>
            <a:ext cx="5611564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Q&amp;A SESSION | TRAINING COMPLETE</a:t>
            </a:r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22</TotalTime>
  <Words>878</Words>
  <Application>Microsoft Office PowerPoint</Application>
  <PresentationFormat>Widescreen</PresentationFormat>
  <Paragraphs>125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Poppins SemiBold</vt:lpstr>
      <vt:lpstr>Lato</vt:lpstr>
      <vt:lpstr>Trebuchet MS</vt:lpstr>
      <vt:lpstr>Poppins</vt:lpstr>
      <vt:lpstr>Tw Cen MT</vt:lpstr>
      <vt:lpstr>Calibri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account</cp:lastModifiedBy>
  <cp:revision>4</cp:revision>
  <dcterms:modified xsi:type="dcterms:W3CDTF">2026-06-11T06:23:30Z</dcterms:modified>
</cp:coreProperties>
</file>