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embeddedFontLst>
    <p:embeddedFont>
      <p:font typeface="Poppins" panose="020B0604020202020204" charset="0"/>
      <p:regular r:id="rId17"/>
      <p:bold r:id="rId18"/>
      <p:italic r:id="rId19"/>
      <p:boldItalic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ato" panose="020B0604020202020204" charset="0"/>
      <p:regular r:id="rId25"/>
      <p:bold r:id="rId26"/>
      <p:italic r:id="rId27"/>
      <p:boldItalic r:id="rId28"/>
    </p:embeddedFont>
    <p:embeddedFont>
      <p:font typeface="Trebuchet MS" panose="020B0603020202020204" pitchFamily="34" charset="0"/>
      <p:regular r:id="rId29"/>
      <p:bold r:id="rId30"/>
      <p:italic r:id="rId31"/>
      <p:boldItalic r:id="rId32"/>
    </p:embeddedFont>
    <p:embeddedFont>
      <p:font typeface="Wingdings 3" panose="05040102010807070707" pitchFamily="18" charset="2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B04E55E-0B4B-45F3-A5FA-874AED9F38A9}">
  <a:tblStyle styleId="{7B04E55E-0B4B-45F3-A5FA-874AED9F38A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074" autoAdjust="0"/>
    <p:restoredTop sz="94660"/>
  </p:normalViewPr>
  <p:slideViewPr>
    <p:cSldViewPr snapToGrid="0">
      <p:cViewPr>
        <p:scale>
          <a:sx n="66" d="100"/>
          <a:sy n="66" d="100"/>
        </p:scale>
        <p:origin x="4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541787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7797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071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5486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9946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683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9906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4636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617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007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3946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2773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5536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4395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28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57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5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6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7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05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3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548984" cy="8998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663" y="124052"/>
            <a:ext cx="3009381" cy="87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12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38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0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738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52804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3514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946068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106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72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75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4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495300" y="1291828"/>
            <a:ext cx="11201400" cy="15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Real-Time Monitoring, Data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Logging &amp; IoT Analytics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170039"/>
            <a:ext cx="10668000" cy="101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Time-Series Architecture, Processing Pipelines &amp; Insight Dashboards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40557"/>
            <a:ext cx="3492400" cy="4435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840557"/>
            <a:ext cx="3492549" cy="4435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1840557"/>
            <a:ext cx="3492400" cy="443597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COURSE MODULES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5762" y="214535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04229" y="2859732"/>
            <a:ext cx="302694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Streaming Pipelines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76300" y="3838723"/>
            <a:ext cx="288280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Ingesting concurrent high-throughput field telemetry using low-overhead messaging architectures.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7251" y="2145357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582377" y="2859732"/>
            <a:ext cx="3027097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Time-Series Storage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54450" y="3838723"/>
            <a:ext cx="2882949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Optimizing write compaction, retention rules, and indexing across columnar structures.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5538" y="2145357"/>
            <a:ext cx="6572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360680" y="2859732"/>
            <a:ext cx="302694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Edge &amp; Cloud Insights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32750" y="3838723"/>
            <a:ext cx="288280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Implementing windowed aggregations, anomaly patterns, and predictive asset intelligence.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TELEMETRY DATA CHARACTERISTICS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1770757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IoT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data streams present unique computational challenges compared to traditional relational database records.</a:t>
            </a:r>
            <a:endParaRPr dirty="0"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000125" y="3068836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Time-Stamping: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Every incoming datum is strictly tied to a chronological timeline asset.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91808" y="4290570"/>
            <a:ext cx="48577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Append-Only Influx: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Telemetry systems rarely modify historical records; 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953708" y="5048274"/>
            <a:ext cx="4650048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High Density: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Thousands of nodes generating sub-second metric intervals can easily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over 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</a:t>
            </a:r>
            <a:r>
              <a:rPr lang="en-US" sz="2100" b="0" i="0" u="none" strike="noStrike" cap="none" dirty="0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storage </a:t>
            </a:r>
            <a:r>
              <a:rPr lang="en-US" sz="2100" b="0" i="0" u="none" strike="noStrike" cap="none" dirty="0" err="1" smtClean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backends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" y="317880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283" y="444832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890" y="519790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043" y="1868684"/>
            <a:ext cx="6138440" cy="4545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REAL-TIME INGESTION BROKERS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334125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Decoupling Producers &amp; Consumers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34125" y="2809577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 database writes from millions of active field nodes create immediate connection locks and data loss.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62750" y="4196060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Message Queuing (Kafka/EMQX):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Act as elastic, high-throughput memory buffers that absorb rapid data spikes.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762750" y="5458717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They decouple high-speed edge ingestion from downstream data processing and storage engines.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23416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496817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LAMBDA ARCHITECTURE DATA PATHS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Parallel Pipeline Topologies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Enterprise analytics requires balancing immediate real-time insight with thorough, long-term historical analysis.</a:t>
            </a:r>
            <a:endParaRPr dirty="0"/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000125" y="3839914"/>
            <a:ext cx="4857750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Speed Layer (Hot Path):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Processes live, in-flight streams to power operational dashboards and trigger immediate anomaly alerts 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1000125" y="5849094"/>
            <a:ext cx="4857750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Batch Layer (Cold Path):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Routes raw telemetry into deep data lakes for model </a:t>
            </a:r>
            <a:endParaRPr dirty="0"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7801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887194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TIME-SERIES DATABASES (TSDB)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Optimized Columnar Engines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Traditional SQL databases index by primary keys, making them highly inefficient for mass queries filtered by time ranges.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762750" y="3839914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TSDBs (InfluxDB, TimescaleDB) arrange metrics inside localized memory structures indexed explicitly by timestamps.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62750" y="5475833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 Compaction: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Aggregates older milli-second data points into hourly summaries, saving valuable disk space.</a:t>
            </a:r>
            <a:endParaRPr/>
          </a:p>
        </p:txBody>
      </p:sp>
      <p:pic>
        <p:nvPicPr>
          <p:cNvPr id="168" name="Google Shape;16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87801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513933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STORAGE STRATEGY COMPARISON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19"/>
          <p:cNvGraphicFramePr/>
          <p:nvPr/>
        </p:nvGraphicFramePr>
        <p:xfrm>
          <a:off x="571500" y="2196554"/>
          <a:ext cx="11039475" cy="3819200"/>
        </p:xfrm>
        <a:graphic>
          <a:graphicData uri="http://schemas.openxmlformats.org/drawingml/2006/table">
            <a:tbl>
              <a:tblPr firstRow="1" bandRow="1">
                <a:noFill/>
                <a:tableStyleId>{7B04E55E-0B4B-45F3-A5FA-874AED9F38A9}</a:tableStyleId>
              </a:tblPr>
              <a:tblGrid>
                <a:gridCol w="2140300"/>
                <a:gridCol w="3965825"/>
                <a:gridCol w="2697350"/>
                <a:gridCol w="2236000"/>
              </a:tblGrid>
              <a:tr h="9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Database Archetype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Optimal Workload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Query Performance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Example Systems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</a:tr>
              <a:tr h="9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Relational (RDBMS)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Asset tracking, user access controls, billing structures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Complex relational tables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PostgreSQL, MySQL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9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Time-Series (TSDB)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High-frequency raw machine metric ingestion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 range group-by filters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InfluxDB, Prometheus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954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Object Storage / Lakes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Cold historical data retention and batch analytics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Mass asynchronous table scans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AWS S3, Apache Iceberg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STREAM PROCESSING WINDOWS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71500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Temporal Aggregation Concepts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1500" y="2163663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Running analytics on a never-ending data stream requires defining clear boundaries using time windows.</a:t>
            </a:r>
            <a:endParaRPr dirty="0"/>
          </a:p>
        </p:txBody>
      </p:sp>
      <p:pic>
        <p:nvPicPr>
          <p:cNvPr id="188" name="Google Shape;18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1000125" y="3487638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Tumbling Windows: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Fixed-size, contiguous, non-overlapping time blocks (e.g., computing averages every 5 minutes).</a:t>
            </a:r>
            <a:endParaRPr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1031082" y="5175588"/>
            <a:ext cx="4857750" cy="102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Sliding Windows: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Overlapping time spans that update continuously with each new data point (e.g., monitoring a 10-minute running variance).</a:t>
            </a:r>
            <a:endParaRPr/>
          </a:p>
        </p:txBody>
      </p:sp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3416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870078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986980"/>
            <a:ext cx="110490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CONTINUOUS TIME-SERIES QUERYING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INDUSTRIAL DASHBOARD DESIGN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Prioritizing Actionable Views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Industrial monitoring interfaces must prioritize clear, actionable information over complex, crowded aesthetics.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762750" y="3839914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High Contrast Indicators: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Use distinct green, amber, and red color states to immediately draw attention to critical events.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762750" y="5475833"/>
            <a:ext cx="4857750" cy="13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Consistent Layouts: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Keep real-time statuses and emergency controls in fixed locations to ensure quick response times for field operators.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87801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5513933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REAL-TIME WEB TOKEN STREAMING</a:t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Low-Latency WebSockets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571500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Traditional HTTP polling forces dashboards to repeatedly request data, causing unnecessary lag and high server overhead.</a:t>
            </a:r>
            <a:endParaRPr/>
          </a:p>
        </p:txBody>
      </p:sp>
      <p:pic>
        <p:nvPicPr>
          <p:cNvPr id="226" name="Google Shape;22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1000125" y="383991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WebSocket Advantage: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Opens a permanent, bi-directional communication channel between the client and server.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000125" y="5102572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allows the cloud back-end to push telemetry updates to dashboards instantly (&lt; 200ms latency), delivering a truly live experience.</a:t>
            </a:r>
            <a:endParaRPr/>
          </a:p>
        </p:txBody>
      </p:sp>
      <p:pic>
        <p:nvPicPr>
          <p:cNvPr id="229" name="Google Shape;22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7801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4067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040" y="1868685"/>
            <a:ext cx="5108544" cy="3839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PREDICTIVE MAINTENANCE FRAMEWORKS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6334125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Moving Beyond Reactive Maintenance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6334125" y="2809577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Using historical data to predict equipment failures before they cause costly, unplanned downtime.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6762750" y="4196060"/>
            <a:ext cx="485775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Anomaly Detection: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Machine learning models evaluate multiple data points simultaneously (e.g., matching temperature spikes with subtle vibration changes) to identify early signs of wear.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6762750" y="6205239"/>
            <a:ext cx="4857750" cy="65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enables teams to schedule maintenance proactively, extending the operational life of industrial assets.</a:t>
            </a:r>
            <a:endParaRPr/>
          </a:p>
        </p:txBody>
      </p:sp>
      <p:pic>
        <p:nvPicPr>
          <p:cNvPr id="244" name="Google Shape;24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23416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6243339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830585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CASE STUDY: ENERGY GRID MONITORING</a:t>
            </a:r>
            <a:endParaRPr dirty="0"/>
          </a:p>
        </p:txBody>
      </p:sp>
      <p:sp>
        <p:nvSpPr>
          <p:cNvPr id="253" name="Google Shape;253;p25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High-Frequency Grid Stabilization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571500" y="2809577"/>
            <a:ext cx="5286375" cy="746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Deploying wide-area monitoring systems to balance load across modern electrical grids:</a:t>
            </a:r>
            <a:endParaRPr/>
          </a:p>
        </p:txBody>
      </p:sp>
      <p:pic>
        <p:nvPicPr>
          <p:cNvPr id="256" name="Google Shape;25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868685"/>
            <a:ext cx="5210175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000125" y="3822799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Distributed sensor nodes continuously sample grid parameters and stream data to a centralized processing core.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000125" y="5085457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Advanced time-series tools track real-time phase imbalances and automatically route power to stabilize the grid, preventing widespread outages.</a:t>
            </a:r>
            <a:endParaRPr/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86089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12355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556" y="1748694"/>
            <a:ext cx="5861512" cy="42244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495300" y="1374576"/>
            <a:ext cx="1120140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Turning Data Into Actionable Insights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762000" y="3136701"/>
            <a:ext cx="10668000" cy="90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Building efficient ingestion streams, optimized time-series storage, and live dashboards creates a robust foundation for modern industrial intelligence.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2667000" y="4843462"/>
            <a:ext cx="6858000" cy="373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284C7"/>
                </a:solidFill>
                <a:latin typeface="Lato"/>
                <a:ea typeface="Lato"/>
                <a:cs typeface="Lato"/>
                <a:sym typeface="Lato"/>
              </a:rPr>
              <a:t>QUESTIONS &amp; TRAINING WRAP-UP | SERIES COMPLETE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708</Words>
  <Application>Microsoft Office PowerPoint</Application>
  <PresentationFormat>Widescreen</PresentationFormat>
  <Paragraphs>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Poppins</vt:lpstr>
      <vt:lpstr>Calibri</vt:lpstr>
      <vt:lpstr>Arial</vt:lpstr>
      <vt:lpstr>Lato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4</cp:revision>
  <dcterms:modified xsi:type="dcterms:W3CDTF">2026-06-10T12:07:43Z</dcterms:modified>
</cp:coreProperties>
</file>