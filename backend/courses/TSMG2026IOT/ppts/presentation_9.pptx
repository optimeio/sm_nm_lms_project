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fntdata" ContentType="application/x-fontdata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60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9144000"/>
  <p:embeddedFontLst>
    <p:embeddedFont>
      <p:font typeface="Poppins" panose="020B0604020202020204" charset="0"/>
      <p:regular r:id="rId21"/>
      <p:bold r:id="rId22"/>
      <p:italic r:id="rId23"/>
      <p:boldItalic r:id="rId24"/>
    </p:embeddedFont>
    <p:embeddedFont>
      <p:font typeface="Lato" panose="020B0604020202020204" charset="0"/>
      <p:regular r:id="rId25"/>
      <p:bold r:id="rId26"/>
      <p:italic r:id="rId27"/>
      <p:boldItalic r:id="rId28"/>
    </p:embeddedFont>
    <p:embeddedFont>
      <p:font typeface="Wingdings 3" panose="05040102010807070707" pitchFamily="18" charset="2"/>
      <p:regular r:id="rId29"/>
    </p:embeddedFont>
    <p:embeddedFont>
      <p:font typeface="Calibri" panose="020F0502020204030204" pitchFamily="34" charset="0"/>
      <p:regular r:id="rId30"/>
      <p:bold r:id="rId31"/>
      <p:italic r:id="rId32"/>
      <p:boldItalic r:id="rId33"/>
    </p:embeddedFont>
    <p:embeddedFont>
      <p:font typeface="Century Gothic" panose="020B0502020202020204" pitchFamily="34" charset="0"/>
      <p:regular r:id="rId34"/>
      <p:bold r:id="rId35"/>
      <p:italic r:id="rId36"/>
      <p:boldItalic r:id="rId37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7200522C-489B-488B-9DF3-FCDFFF292ED1}">
  <a:tblStyle styleId="{7200522C-489B-488B-9DF3-FCDFFF292ED1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0" d="100"/>
          <a:sy n="70" d="100"/>
        </p:scale>
        <p:origin x="714" y="5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6.fntdata"/><Relationship Id="rId39" Type="http://schemas.openxmlformats.org/officeDocument/2006/relationships/viewProps" Target="viewProps.xml"/><Relationship Id="rId21" Type="http://schemas.openxmlformats.org/officeDocument/2006/relationships/font" Target="fonts/font1.fntdata"/><Relationship Id="rId34" Type="http://schemas.openxmlformats.org/officeDocument/2006/relationships/font" Target="fonts/font14.fntdata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29" Type="http://schemas.openxmlformats.org/officeDocument/2006/relationships/font" Target="fonts/font9.fntdata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4.fntdata"/><Relationship Id="rId32" Type="http://schemas.openxmlformats.org/officeDocument/2006/relationships/font" Target="fonts/font12.fntdata"/><Relationship Id="rId37" Type="http://schemas.openxmlformats.org/officeDocument/2006/relationships/font" Target="fonts/font17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3.fntdata"/><Relationship Id="rId28" Type="http://schemas.openxmlformats.org/officeDocument/2006/relationships/font" Target="fonts/font8.fntdata"/><Relationship Id="rId36" Type="http://schemas.openxmlformats.org/officeDocument/2006/relationships/font" Target="fonts/font16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11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font" Target="fonts/font2.fntdata"/><Relationship Id="rId27" Type="http://schemas.openxmlformats.org/officeDocument/2006/relationships/font" Target="fonts/font7.fntdata"/><Relationship Id="rId30" Type="http://schemas.openxmlformats.org/officeDocument/2006/relationships/font" Target="fonts/font10.fntdata"/><Relationship Id="rId35" Type="http://schemas.openxmlformats.org/officeDocument/2006/relationships/font" Target="fonts/font15.fntdata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5.fntdata"/><Relationship Id="rId33" Type="http://schemas.openxmlformats.org/officeDocument/2006/relationships/font" Target="fonts/font13.fntdata"/><Relationship Id="rId38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1143225" y="685800"/>
            <a:ext cx="457222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12995473"/>
      </p:ext>
    </p:extLst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2" name="Google Shape;82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2104298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4" name="Google Shape;9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10446351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15" name="Google Shape;11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19592014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1" name="Google Shape;131;p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0744235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48" name="Google Shape;148;p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2803290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4" name="Google Shape;164;p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5" name="Google Shape;165;p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6669575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p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82" name="Google Shape;182;p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963379946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2" name="Google Shape;192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7331415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8" name="Google Shape;208;p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9" name="Google Shape;209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44647935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10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482916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2" name="Google Shape;242;p1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3" name="Google Shape;243;p11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48421072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9" name="Google Shape;259;p1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60" name="Google Shape;260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2030932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Google Shape;276;p13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77" name="Google Shape;277;p13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30810019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3" name="Google Shape;293;p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94" name="Google Shape;294;p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82480675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15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1" name="Google Shape;311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506234190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0" name="Google Shape;320;p1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21" name="Google Shape;321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0141442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" name="Google Shape;337;p17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38" name="Google Shape;338;p17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6419087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4" name="Google Shape;354;p18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55" name="Google Shape;355;p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9695059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5084393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840705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51313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46915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07646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53367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/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4963" y="181703"/>
            <a:ext cx="2164507" cy="631097"/>
          </a:xfrm>
          <a:prstGeom prst="rect">
            <a:avLst/>
          </a:prstGeom>
        </p:spPr>
      </p:pic>
      <p:pic>
        <p:nvPicPr>
          <p:cNvPr id="9" name="Picture 8"/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2023" y="114300"/>
            <a:ext cx="1202336" cy="698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0420427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088793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521159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5428817"/>
      </p:ext>
    </p:extLst>
  </p:cSld>
  <p:clrMapOvr>
    <a:masterClrMapping/>
  </p:clrMapOvr>
  <p:hf sldNum="0" hdr="0" ft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6196213"/>
      </p:ext>
    </p:extLst>
  </p:cSld>
  <p:clrMapOvr>
    <a:masterClrMapping/>
  </p:clrMapOvr>
  <p:hf sldNum="0" hdr="0" ft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en-US" smtClean="0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95241418"/>
      </p:ext>
    </p:extLst>
  </p:cSld>
  <p:clrMapOvr>
    <a:masterClrMapping/>
  </p:clrMapOvr>
  <p:hf sldNum="0" hdr="0" ft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83673"/>
      </p:ext>
    </p:extLst>
  </p:cSld>
  <p:clrMapOvr>
    <a:masterClrMapping/>
  </p:clrMapOvr>
  <p:hf sldNum="0" hdr="0" ft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13250"/>
      </p:ext>
    </p:extLst>
  </p:cSld>
  <p:clrMapOvr>
    <a:masterClrMapping/>
  </p:clrMapOvr>
  <p:hf sldNum="0" hdr="0" ft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62657521"/>
      </p:ext>
    </p:extLst>
  </p:cSld>
  <p:clrMapOvr>
    <a:masterClrMapping/>
  </p:clrMapOvr>
  <p:hf sldNum="0" hdr="0" ftr="0" dt="0"/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732566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84604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41667030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hf sldNum="0" hdr="0" ftr="0" dt="0"/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2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3"/>
          <p:cNvSpPr txBox="1"/>
          <p:nvPr/>
        </p:nvSpPr>
        <p:spPr>
          <a:xfrm>
            <a:off x="495300" y="1545133"/>
            <a:ext cx="11201400" cy="159246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 b="1" i="0" u="none" strike="noStrike" cap="non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Cybersecurity &amp; Secure</a:t>
            </a:r>
            <a: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/>
            </a:r>
            <a:br>
              <a:rPr lang="en-US"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</a:br>
            <a:r>
              <a:rPr lang="en-US" sz="5700" b="1" i="0" u="none" strike="noStrike" cap="non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 IoT System Design</a:t>
            </a:r>
            <a:endParaRPr/>
          </a:p>
        </p:txBody>
      </p:sp>
      <p:sp>
        <p:nvSpPr>
          <p:cNvPr id="88" name="Google Shape;88;p13"/>
          <p:cNvSpPr txBox="1"/>
          <p:nvPr/>
        </p:nvSpPr>
        <p:spPr>
          <a:xfrm>
            <a:off x="762000" y="3423344"/>
            <a:ext cx="10668000" cy="506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850" b="1" i="0" u="none" strike="noStrike" cap="none">
                <a:solidFill>
                  <a:srgbClr val="AE2D2C"/>
                </a:solidFill>
                <a:latin typeface="Lato"/>
                <a:ea typeface="Lato"/>
                <a:cs typeface="Lato"/>
                <a:sym typeface="Lato"/>
              </a:rPr>
              <a:t>Hardware Security, Cryptography, &amp; Device Hardening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7" name="Google Shape;97;p14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571500" y="1840557"/>
            <a:ext cx="3492400" cy="4435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8" name="Google Shape;98;p14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349650" y="1840557"/>
            <a:ext cx="3492549" cy="4435971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4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27950" y="1840557"/>
            <a:ext cx="3492400" cy="4435971"/>
          </a:xfrm>
          <a:prstGeom prst="rect">
            <a:avLst/>
          </a:prstGeom>
          <a:noFill/>
          <a:ln>
            <a:noFill/>
          </a:ln>
        </p:spPr>
      </p:pic>
      <p:sp>
        <p:nvSpPr>
          <p:cNvPr id="100" name="Google Shape;100;p14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COURSE MODULES</a:t>
            </a:r>
            <a:endParaRPr/>
          </a:p>
        </p:txBody>
      </p:sp>
      <p:sp>
        <p:nvSpPr>
          <p:cNvPr id="101" name="Google Shape;101;p14"/>
          <p:cNvSpPr/>
          <p:nvPr/>
        </p:nvSpPr>
        <p:spPr>
          <a:xfrm>
            <a:off x="571500" y="1047750"/>
            <a:ext cx="114300" cy="54471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" name="Google Shape;102;p14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2055762" y="2145357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3" name="Google Shape;103;p14"/>
          <p:cNvSpPr txBox="1"/>
          <p:nvPr/>
        </p:nvSpPr>
        <p:spPr>
          <a:xfrm>
            <a:off x="804229" y="2859732"/>
            <a:ext cx="3026940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AE2D2C"/>
                </a:solidFill>
                <a:latin typeface="Poppins"/>
                <a:ea typeface="Poppins"/>
                <a:cs typeface="Poppins"/>
                <a:sym typeface="Poppins"/>
              </a:rPr>
              <a:t>Hardware Roots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876300" y="3482578"/>
            <a:ext cx="2882800" cy="186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Securing the physical boundary through Secure Boot, PUFs, and Cryptographic Co-processors.</a:t>
            </a:r>
            <a:endParaRPr/>
          </a:p>
        </p:txBody>
      </p:sp>
      <p:pic>
        <p:nvPicPr>
          <p:cNvPr id="105" name="Google Shape;105;p14" descr="image.png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5833913" y="2145357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6" name="Google Shape;106;p14"/>
          <p:cNvSpPr txBox="1"/>
          <p:nvPr/>
        </p:nvSpPr>
        <p:spPr>
          <a:xfrm>
            <a:off x="4582377" y="2859732"/>
            <a:ext cx="3027097" cy="71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AE2D2C"/>
                </a:solidFill>
                <a:latin typeface="Poppins"/>
                <a:ea typeface="Poppins"/>
                <a:cs typeface="Poppins"/>
                <a:sym typeface="Poppins"/>
              </a:rPr>
              <a:t>Transport Security</a:t>
            </a:r>
            <a:endParaRPr/>
          </a:p>
        </p:txBody>
      </p:sp>
      <p:sp>
        <p:nvSpPr>
          <p:cNvPr id="107" name="Google Shape;107;p14"/>
          <p:cNvSpPr txBox="1"/>
          <p:nvPr/>
        </p:nvSpPr>
        <p:spPr>
          <a:xfrm>
            <a:off x="4654450" y="3838723"/>
            <a:ext cx="2882949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Implementing mutual TLS authentication, payload encryption, and lightweight cipher suites.</a:t>
            </a:r>
            <a:endParaRPr/>
          </a:p>
        </p:txBody>
      </p:sp>
      <p:pic>
        <p:nvPicPr>
          <p:cNvPr id="108" name="Google Shape;108;p14" descr="image.png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9612213" y="2145357"/>
            <a:ext cx="523875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109" name="Google Shape;109;p14"/>
          <p:cNvSpPr txBox="1"/>
          <p:nvPr/>
        </p:nvSpPr>
        <p:spPr>
          <a:xfrm>
            <a:off x="8360680" y="2859732"/>
            <a:ext cx="3026940" cy="71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AE2D2C"/>
                </a:solidFill>
                <a:latin typeface="Poppins"/>
                <a:ea typeface="Poppins"/>
                <a:cs typeface="Poppins"/>
                <a:sym typeface="Poppins"/>
              </a:rPr>
              <a:t>Lifecycle Security</a:t>
            </a:r>
            <a:endParaRPr/>
          </a:p>
        </p:txBody>
      </p:sp>
      <p:sp>
        <p:nvSpPr>
          <p:cNvPr id="110" name="Google Shape;110;p14"/>
          <p:cNvSpPr txBox="1"/>
          <p:nvPr/>
        </p:nvSpPr>
        <p:spPr>
          <a:xfrm>
            <a:off x="8432750" y="3838723"/>
            <a:ext cx="2882800" cy="186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ctr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Managing cryptographically signed over-the-air firmware modifications and key revocation frameworks.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15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THE UNIQUE VULNERABILITIES OF IOT</a:t>
            </a:r>
            <a:endParaRPr/>
          </a:p>
        </p:txBody>
      </p:sp>
      <p:sp>
        <p:nvSpPr>
          <p:cNvPr id="121" name="Google Shape;121;p15"/>
          <p:cNvSpPr txBox="1"/>
          <p:nvPr/>
        </p:nvSpPr>
        <p:spPr>
          <a:xfrm>
            <a:off x="571500" y="2097285"/>
            <a:ext cx="10991139" cy="90486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Unlike standard enterprise endpoints, </a:t>
            </a:r>
            <a:r>
              <a:rPr lang="en-US" sz="2100" b="0" i="0" u="none" strike="noStrike" cap="none" dirty="0" err="1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IoT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devices operate at a high risk of compromise due to their physical exposure.</a:t>
            </a:r>
            <a:endParaRPr dirty="0"/>
          </a:p>
        </p:txBody>
      </p:sp>
      <p:sp>
        <p:nvSpPr>
          <p:cNvPr id="123" name="Google Shape;123;p15"/>
          <p:cNvSpPr txBox="1"/>
          <p:nvPr/>
        </p:nvSpPr>
        <p:spPr>
          <a:xfrm>
            <a:off x="1000125" y="3483768"/>
            <a:ext cx="4857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1B4B"/>
                </a:solidFill>
                <a:latin typeface="Lato"/>
                <a:ea typeface="Lato"/>
                <a:cs typeface="Lato"/>
                <a:sym typeface="Lato"/>
              </a:rPr>
              <a:t>Physical Threat Vector: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Adversaries can buy field nodes, probe memory traces, or force fault injections.</a:t>
            </a:r>
            <a:endParaRPr/>
          </a:p>
        </p:txBody>
      </p:sp>
      <p:sp>
        <p:nvSpPr>
          <p:cNvPr id="124" name="Google Shape;124;p15"/>
          <p:cNvSpPr txBox="1"/>
          <p:nvPr/>
        </p:nvSpPr>
        <p:spPr>
          <a:xfrm>
            <a:off x="6704889" y="3217067"/>
            <a:ext cx="4857750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 dirty="0">
                <a:solidFill>
                  <a:srgbClr val="1E1B4B"/>
                </a:solidFill>
                <a:latin typeface="Lato"/>
                <a:ea typeface="Lato"/>
                <a:cs typeface="Lato"/>
                <a:sym typeface="Lato"/>
              </a:rPr>
              <a:t>Resource Constraints:</a:t>
            </a:r>
            <a:r>
              <a:rPr lang="en-US" sz="2100" b="0" i="0" u="none" strike="noStrike" cap="none" dirty="0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Low-power microcontrollers lack the memory space needed for massive asymmetric crypto libraries.</a:t>
            </a:r>
            <a:endParaRPr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6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HARDWARE ROOT OF TRUST (ROT)</a:t>
            </a:r>
            <a:endParaRPr/>
          </a:p>
        </p:txBody>
      </p:sp>
      <p:sp>
        <p:nvSpPr>
          <p:cNvPr id="138" name="Google Shape;138;p16"/>
          <p:cNvSpPr txBox="1"/>
          <p:nvPr/>
        </p:nvSpPr>
        <p:spPr>
          <a:xfrm>
            <a:off x="6334125" y="1830585"/>
            <a:ext cx="5550693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AE2D2C"/>
                </a:solidFill>
                <a:latin typeface="Poppins"/>
                <a:ea typeface="Poppins"/>
                <a:cs typeface="Poppins"/>
                <a:sym typeface="Poppins"/>
              </a:rPr>
              <a:t>The Anchor of Trust</a:t>
            </a:r>
            <a:endParaRPr/>
          </a:p>
        </p:txBody>
      </p:sp>
      <p:sp>
        <p:nvSpPr>
          <p:cNvPr id="139" name="Google Shape;139;p16"/>
          <p:cNvSpPr txBox="1"/>
          <p:nvPr/>
        </p:nvSpPr>
        <p:spPr>
          <a:xfrm>
            <a:off x="6334125" y="2453431"/>
            <a:ext cx="528637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Security must start in hardware. Software protections mean nothing if the underlying silicon layer is compromised.</a:t>
            </a:r>
            <a:endParaRPr/>
          </a:p>
        </p:txBody>
      </p:sp>
      <p:sp>
        <p:nvSpPr>
          <p:cNvPr id="140" name="Google Shape;140;p16"/>
          <p:cNvSpPr txBox="1"/>
          <p:nvPr/>
        </p:nvSpPr>
        <p:spPr>
          <a:xfrm>
            <a:off x="6762750" y="3839914"/>
            <a:ext cx="4857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1B4B"/>
                </a:solidFill>
                <a:latin typeface="Lato"/>
                <a:ea typeface="Lato"/>
                <a:cs typeface="Lato"/>
                <a:sym typeface="Lato"/>
              </a:rPr>
              <a:t>Secure Element (SE):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An isolated hardware vault designed to shield private keys from the application code.</a:t>
            </a:r>
            <a:endParaRPr/>
          </a:p>
        </p:txBody>
      </p:sp>
      <p:sp>
        <p:nvSpPr>
          <p:cNvPr id="141" name="Google Shape;141;p16"/>
          <p:cNvSpPr txBox="1"/>
          <p:nvPr/>
        </p:nvSpPr>
        <p:spPr>
          <a:xfrm>
            <a:off x="6762750" y="5102572"/>
            <a:ext cx="4857750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1B4B"/>
                </a:solidFill>
                <a:latin typeface="Lato"/>
                <a:ea typeface="Lato"/>
                <a:cs typeface="Lato"/>
                <a:sym typeface="Lato"/>
              </a:rPr>
              <a:t>Hardware Cryptographic Accelerators: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Offload resource-intensive AES-256 and ECC math operations to dedicated silicon logic gates.</a:t>
            </a:r>
            <a:endParaRPr/>
          </a:p>
        </p:txBody>
      </p:sp>
      <p:pic>
        <p:nvPicPr>
          <p:cNvPr id="142" name="Picture 141" descr="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1480" y="1592460"/>
            <a:ext cx="5683393" cy="5022847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2" name="Google Shape;152;p17"/>
          <p:cNvSpPr txBox="1"/>
          <p:nvPr/>
        </p:nvSpPr>
        <p:spPr>
          <a:xfrm>
            <a:off x="762000" y="1047750"/>
            <a:ext cx="11401425" cy="10894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PHYSICALLY UNCLONABLE FUNCTIONS (PUF)</a:t>
            </a:r>
            <a:endParaRPr/>
          </a:p>
        </p:txBody>
      </p:sp>
      <p:sp>
        <p:nvSpPr>
          <p:cNvPr id="154" name="Google Shape;154;p17"/>
          <p:cNvSpPr txBox="1"/>
          <p:nvPr/>
        </p:nvSpPr>
        <p:spPr>
          <a:xfrm>
            <a:off x="571500" y="2375296"/>
            <a:ext cx="5550693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AE2D2C"/>
                </a:solidFill>
                <a:latin typeface="Poppins"/>
                <a:ea typeface="Poppins"/>
                <a:cs typeface="Poppins"/>
                <a:sym typeface="Poppins"/>
              </a:rPr>
              <a:t>Silicon Fingerprinting</a:t>
            </a:r>
            <a:endParaRPr/>
          </a:p>
        </p:txBody>
      </p:sp>
      <p:sp>
        <p:nvSpPr>
          <p:cNvPr id="155" name="Google Shape;155;p17"/>
          <p:cNvSpPr txBox="1"/>
          <p:nvPr/>
        </p:nvSpPr>
        <p:spPr>
          <a:xfrm>
            <a:off x="571500" y="2998142"/>
            <a:ext cx="528637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Storing static cryptographic keys in digital flash memory creates a vulnerability to physical readout attacks.</a:t>
            </a:r>
            <a:endParaRPr/>
          </a:p>
        </p:txBody>
      </p:sp>
      <p:sp>
        <p:nvSpPr>
          <p:cNvPr id="157" name="Google Shape;157;p17"/>
          <p:cNvSpPr txBox="1"/>
          <p:nvPr/>
        </p:nvSpPr>
        <p:spPr>
          <a:xfrm>
            <a:off x="1000125" y="4384625"/>
            <a:ext cx="4857750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1B4B"/>
                </a:solidFill>
                <a:latin typeface="Lato"/>
                <a:ea typeface="Lato"/>
                <a:cs typeface="Lato"/>
                <a:sym typeface="Lato"/>
              </a:rPr>
              <a:t>The Mechanism: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A PUF leverages atomic micro-variations introduced during wafer fabrication to form a unique hardware signature.</a:t>
            </a:r>
            <a:endParaRPr/>
          </a:p>
        </p:txBody>
      </p:sp>
      <p:sp>
        <p:nvSpPr>
          <p:cNvPr id="158" name="Google Shape;158;p17"/>
          <p:cNvSpPr txBox="1"/>
          <p:nvPr/>
        </p:nvSpPr>
        <p:spPr>
          <a:xfrm>
            <a:off x="1000125" y="6020544"/>
            <a:ext cx="4857750" cy="83745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1B4B"/>
                </a:solidFill>
                <a:latin typeface="Lato"/>
                <a:ea typeface="Lato"/>
                <a:cs typeface="Lato"/>
                <a:sym typeface="Lato"/>
              </a:rPr>
              <a:t>The Advantage: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Keys are generated on-demand from silicon characteristics and disappear instantly when power is removed, leaving nothing for attackers to dump.</a:t>
            </a:r>
            <a:endParaRPr/>
          </a:p>
        </p:txBody>
      </p:sp>
      <p:pic>
        <p:nvPicPr>
          <p:cNvPr id="160" name="Picture 159" descr="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1988" y="2781671"/>
            <a:ext cx="3886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18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THE IMMUTABLE SECURE BOOT CHAIN</a:t>
            </a:r>
            <a:endParaRPr/>
          </a:p>
        </p:txBody>
      </p:sp>
      <p:sp>
        <p:nvSpPr>
          <p:cNvPr id="172" name="Google Shape;172;p18"/>
          <p:cNvSpPr txBox="1"/>
          <p:nvPr/>
        </p:nvSpPr>
        <p:spPr>
          <a:xfrm>
            <a:off x="6334125" y="1830585"/>
            <a:ext cx="5550693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AE2D2C"/>
                </a:solidFill>
                <a:latin typeface="Poppins"/>
                <a:ea typeface="Poppins"/>
                <a:cs typeface="Poppins"/>
                <a:sym typeface="Poppins"/>
              </a:rPr>
              <a:t>Establishing Chain of Custody</a:t>
            </a:r>
            <a:endParaRPr/>
          </a:p>
        </p:txBody>
      </p:sp>
      <p:sp>
        <p:nvSpPr>
          <p:cNvPr id="173" name="Google Shape;173;p18"/>
          <p:cNvSpPr txBox="1"/>
          <p:nvPr/>
        </p:nvSpPr>
        <p:spPr>
          <a:xfrm>
            <a:off x="6334125" y="2453431"/>
            <a:ext cx="528637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Secure Boot stops unauthorized or altered code from executing during the initialization process.</a:t>
            </a:r>
            <a:endParaRPr/>
          </a:p>
        </p:txBody>
      </p:sp>
      <p:sp>
        <p:nvSpPr>
          <p:cNvPr id="174" name="Google Shape;174;p18"/>
          <p:cNvSpPr txBox="1"/>
          <p:nvPr/>
        </p:nvSpPr>
        <p:spPr>
          <a:xfrm>
            <a:off x="6762750" y="3839914"/>
            <a:ext cx="4857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1B4B"/>
                </a:solidFill>
                <a:latin typeface="Lato"/>
                <a:ea typeface="Lato"/>
                <a:cs typeface="Lato"/>
                <a:sym typeface="Lato"/>
              </a:rPr>
              <a:t>Stage 0 (Mask ROM):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Code burned directly into silicon that cannot be altered. It holds the root public key.</a:t>
            </a:r>
            <a:endParaRPr/>
          </a:p>
        </p:txBody>
      </p:sp>
      <p:sp>
        <p:nvSpPr>
          <p:cNvPr id="175" name="Google Shape;175;p18"/>
          <p:cNvSpPr txBox="1"/>
          <p:nvPr/>
        </p:nvSpPr>
        <p:spPr>
          <a:xfrm>
            <a:off x="6762750" y="5102572"/>
            <a:ext cx="4857750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1B4B"/>
                </a:solidFill>
                <a:latin typeface="Lato"/>
                <a:ea typeface="Lato"/>
                <a:cs typeface="Lato"/>
                <a:sym typeface="Lato"/>
              </a:rPr>
              <a:t>Verification Steps: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Every boot stage calculates a SHA-256 hash of the next stage's payload, verifying it against a digital signature before executing.</a:t>
            </a:r>
            <a:endParaRPr/>
          </a:p>
        </p:txBody>
      </p:sp>
      <p:sp>
        <p:nvSpPr>
          <p:cNvPr id="176" name="Rounded Rectangle 175"/>
          <p:cNvSpPr/>
          <p:nvPr/>
        </p:nvSpPr>
        <p:spPr>
          <a:xfrm>
            <a:off x="484632" y="2130552"/>
            <a:ext cx="3785615" cy="1408176"/>
          </a:xfrm>
          <a:prstGeom prst="roundRect">
            <a:avLst/>
          </a:prstGeom>
          <a:solidFill>
            <a:srgbClr val="FFFFFF"/>
          </a:solidFill>
          <a:ln>
            <a:solidFill>
              <a:srgbClr val="E4E8E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177" name="Picture 176" descr="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" y="2148839"/>
            <a:ext cx="5765312" cy="4446776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4" name="Google Shape;184;p19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sp>
        <p:nvSpPr>
          <p:cNvPr id="185" name="Google Shape;185;p19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LIGHTWEIGHT CRYPTOGRAPHY CIPHERS</a:t>
            </a:r>
            <a:endParaRPr/>
          </a:p>
        </p:txBody>
      </p:sp>
      <p:sp>
        <p:nvSpPr>
          <p:cNvPr id="186" name="Google Shape;186;p19"/>
          <p:cNvSpPr/>
          <p:nvPr/>
        </p:nvSpPr>
        <p:spPr>
          <a:xfrm>
            <a:off x="571500" y="1047750"/>
            <a:ext cx="114300" cy="54471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graphicFrame>
        <p:nvGraphicFramePr>
          <p:cNvPr id="187" name="Google Shape;187;p19"/>
          <p:cNvGraphicFramePr/>
          <p:nvPr/>
        </p:nvGraphicFramePr>
        <p:xfrm>
          <a:off x="571500" y="1925835"/>
          <a:ext cx="11039475" cy="4758375"/>
        </p:xfrm>
        <a:graphic>
          <a:graphicData uri="http://schemas.openxmlformats.org/drawingml/2006/table">
            <a:tbl>
              <a:tblPr firstRow="1" bandRow="1">
                <a:noFill/>
                <a:tableStyleId>{7200522C-489B-488B-9DF3-FCDFFF292ED1}</a:tableStyleId>
              </a:tblPr>
              <a:tblGrid>
                <a:gridCol w="2042225"/>
                <a:gridCol w="2212025"/>
                <a:gridCol w="2557175"/>
                <a:gridCol w="4228050"/>
              </a:tblGrid>
              <a:tr h="951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Cipher Target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Structural Type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Memory Resource Footprint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1B4B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800" b="1" i="0" u="none" strike="noStrike" cap="none">
                          <a:solidFill>
                            <a:srgbClr val="FFFFFF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Primary IoT Application Scenario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1E1B4B"/>
                    </a:solidFill>
                  </a:tcPr>
                </a:tc>
              </a:tr>
              <a:tr h="951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AES-128 / GCM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Symmetric Block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Moderate ($4\text{--}8\text{ KB}$)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Standard gateway nodes with hardware acceleration blocks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951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ChaCha20 / Poly1305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Symmetric Stream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Low ($2\text{--}4\text{ KB}$)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Ultra-low-power devices lacking dedicated hardware ciphers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951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ASCON (NIST Standard)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Authenticated Encryption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Extremely Low ($&lt;1.5\text{ KB}$)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Resource-constrained smart sensor tags running on minimal energy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  <a:tr h="9516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1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ECC (ECDSA P-256)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Asymmetric Public-Key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High ($12\text{--}24\text{ KB}$)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1650" b="0" i="0" u="none" strike="noStrike" cap="none">
                          <a:solidFill>
                            <a:srgbClr val="334155"/>
                          </a:solidFill>
                          <a:latin typeface="Lato"/>
                          <a:ea typeface="Lato"/>
                          <a:cs typeface="Lato"/>
                          <a:sym typeface="Lato"/>
                        </a:rPr>
                        <a:t>Securing handshake protocols and verifying OTA firmware signatures</a:t>
                      </a:r>
                      <a:endParaRPr/>
                    </a:p>
                  </a:txBody>
                  <a:tcPr marL="63500" marR="63500" marT="25400" marB="25400" anchor="ctr">
                    <a:lnL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MUTUAL TLS HANDSHAKE MECHANICS</a:t>
            </a:r>
            <a:endParaRPr/>
          </a:p>
        </p:txBody>
      </p:sp>
      <p:sp>
        <p:nvSpPr>
          <p:cNvPr id="198" name="Google Shape;198;p20"/>
          <p:cNvSpPr txBox="1"/>
          <p:nvPr/>
        </p:nvSpPr>
        <p:spPr>
          <a:xfrm>
            <a:off x="571500" y="1830585"/>
            <a:ext cx="5550693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AE2D2C"/>
                </a:solidFill>
                <a:latin typeface="Poppins"/>
                <a:ea typeface="Poppins"/>
                <a:cs typeface="Poppins"/>
                <a:sym typeface="Poppins"/>
              </a:rPr>
              <a:t>Dual-Sided Verification</a:t>
            </a:r>
            <a:endParaRPr/>
          </a:p>
        </p:txBody>
      </p:sp>
      <p:sp>
        <p:nvSpPr>
          <p:cNvPr id="199" name="Google Shape;199;p20"/>
          <p:cNvSpPr txBox="1"/>
          <p:nvPr/>
        </p:nvSpPr>
        <p:spPr>
          <a:xfrm>
            <a:off x="571500" y="2453431"/>
            <a:ext cx="5286375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Standard web browsing requires only the user to verify the server's identity. Secure IoT systems mandate **Mutual Authentication (mTLS)**.</a:t>
            </a:r>
            <a:endParaRPr/>
          </a:p>
        </p:txBody>
      </p:sp>
      <p:sp>
        <p:nvSpPr>
          <p:cNvPr id="201" name="Google Shape;201;p20"/>
          <p:cNvSpPr txBox="1"/>
          <p:nvPr/>
        </p:nvSpPr>
        <p:spPr>
          <a:xfrm>
            <a:off x="1000125" y="4213175"/>
            <a:ext cx="4857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cloud endpoint verifies the unique X.509 certificate stored in the node's secure hardware.</a:t>
            </a:r>
            <a:endParaRPr/>
          </a:p>
        </p:txBody>
      </p:sp>
      <p:sp>
        <p:nvSpPr>
          <p:cNvPr id="202" name="Google Shape;202;p20"/>
          <p:cNvSpPr txBox="1"/>
          <p:nvPr/>
        </p:nvSpPr>
        <p:spPr>
          <a:xfrm>
            <a:off x="1000125" y="5475833"/>
            <a:ext cx="4857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The node verifies the cloud server's root certificate bundle, neutralizing potential Man-in-the-Middle (MitM) interceptions.</a:t>
            </a:r>
            <a:endParaRPr/>
          </a:p>
        </p:txBody>
      </p:sp>
      <p:pic>
        <p:nvPicPr>
          <p:cNvPr id="204" name="Picture 203" descr="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55391" y="1821936"/>
            <a:ext cx="4674358" cy="4399396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3" name="Google Shape;213;p21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HARDENING EDGE DEVICE INTERFACES</a:t>
            </a:r>
            <a:endParaRPr/>
          </a:p>
        </p:txBody>
      </p:sp>
      <p:sp>
        <p:nvSpPr>
          <p:cNvPr id="216" name="Google Shape;216;p21"/>
          <p:cNvSpPr txBox="1"/>
          <p:nvPr/>
        </p:nvSpPr>
        <p:spPr>
          <a:xfrm>
            <a:off x="6334125" y="1830585"/>
            <a:ext cx="5550693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AE2D2C"/>
                </a:solidFill>
                <a:latin typeface="Poppins"/>
                <a:ea typeface="Poppins"/>
                <a:cs typeface="Poppins"/>
                <a:sym typeface="Poppins"/>
              </a:rPr>
              <a:t>Closing Physical Backdoors</a:t>
            </a:r>
            <a:endParaRPr/>
          </a:p>
        </p:txBody>
      </p:sp>
      <p:sp>
        <p:nvSpPr>
          <p:cNvPr id="217" name="Google Shape;217;p21"/>
          <p:cNvSpPr txBox="1"/>
          <p:nvPr/>
        </p:nvSpPr>
        <p:spPr>
          <a:xfrm>
            <a:off x="6334125" y="2453431"/>
            <a:ext cx="528637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Unused diagnostic entry points on physical circuit boards are frequently targeted by malicious reverse-engineers.</a:t>
            </a:r>
            <a:endParaRPr/>
          </a:p>
        </p:txBody>
      </p:sp>
      <p:sp>
        <p:nvSpPr>
          <p:cNvPr id="218" name="Google Shape;218;p21"/>
          <p:cNvSpPr txBox="1"/>
          <p:nvPr/>
        </p:nvSpPr>
        <p:spPr>
          <a:xfrm>
            <a:off x="6762750" y="3839914"/>
            <a:ext cx="4857750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1B4B"/>
                </a:solidFill>
                <a:latin typeface="Lato"/>
                <a:ea typeface="Lato"/>
                <a:cs typeface="Lato"/>
                <a:sym typeface="Lato"/>
              </a:rPr>
              <a:t>JTAG/SWD Disabling: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Production firmware must blow internal silicon fuses to permanently deactivate debugging access before field deployment.</a:t>
            </a:r>
            <a:endParaRPr/>
          </a:p>
        </p:txBody>
      </p:sp>
      <p:sp>
        <p:nvSpPr>
          <p:cNvPr id="219" name="Google Shape;219;p21"/>
          <p:cNvSpPr txBox="1"/>
          <p:nvPr/>
        </p:nvSpPr>
        <p:spPr>
          <a:xfrm>
            <a:off x="6762750" y="5475833"/>
            <a:ext cx="4857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1B4B"/>
                </a:solidFill>
                <a:latin typeface="Lato"/>
                <a:ea typeface="Lato"/>
                <a:cs typeface="Lato"/>
                <a:sym typeface="Lato"/>
              </a:rPr>
              <a:t>Console Gating: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Serial UART console lines must be password-protected or entirely muted in production builds.</a:t>
            </a:r>
            <a:endParaRPr/>
          </a:p>
        </p:txBody>
      </p:sp>
      <p:pic>
        <p:nvPicPr>
          <p:cNvPr id="221" name="Picture 220" descr="9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23975" y="2453431"/>
            <a:ext cx="3886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p22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SECURE OVER-THE-AIR (OTA) UPDATES</a:t>
            </a:r>
            <a:endParaRPr/>
          </a:p>
        </p:txBody>
      </p:sp>
      <p:sp>
        <p:nvSpPr>
          <p:cNvPr id="232" name="Google Shape;232;p22"/>
          <p:cNvSpPr txBox="1"/>
          <p:nvPr/>
        </p:nvSpPr>
        <p:spPr>
          <a:xfrm>
            <a:off x="571500" y="1830585"/>
            <a:ext cx="5550693" cy="71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AE2D2C"/>
                </a:solidFill>
                <a:latin typeface="Poppins"/>
                <a:ea typeface="Poppins"/>
                <a:cs typeface="Poppins"/>
                <a:sym typeface="Poppins"/>
              </a:rPr>
              <a:t>Defending Firmware Distribution</a:t>
            </a:r>
            <a:endParaRPr/>
          </a:p>
        </p:txBody>
      </p:sp>
      <p:sp>
        <p:nvSpPr>
          <p:cNvPr id="233" name="Google Shape;233;p22"/>
          <p:cNvSpPr txBox="1"/>
          <p:nvPr/>
        </p:nvSpPr>
        <p:spPr>
          <a:xfrm>
            <a:off x="571500" y="2809577"/>
            <a:ext cx="528637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Flashing new code remotely introduces a critical risk of complete system takeover if unauthorized binaries are accepted.</a:t>
            </a:r>
            <a:endParaRPr/>
          </a:p>
        </p:txBody>
      </p:sp>
      <p:sp>
        <p:nvSpPr>
          <p:cNvPr id="235" name="Google Shape;235;p22"/>
          <p:cNvSpPr txBox="1"/>
          <p:nvPr/>
        </p:nvSpPr>
        <p:spPr>
          <a:xfrm>
            <a:off x="1000125" y="4196060"/>
            <a:ext cx="4857750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1B4B"/>
                </a:solidFill>
                <a:latin typeface="Lato"/>
                <a:ea typeface="Lato"/>
                <a:cs typeface="Lato"/>
                <a:sym typeface="Lato"/>
              </a:rPr>
              <a:t>Asymmetric Signing: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Firmware blobs must be compiled and signed offline inside a secure build facility using a private RSA/ECDSA key.</a:t>
            </a:r>
            <a:endParaRPr/>
          </a:p>
        </p:txBody>
      </p:sp>
      <p:sp>
        <p:nvSpPr>
          <p:cNvPr id="236" name="Google Shape;236;p22"/>
          <p:cNvSpPr txBox="1"/>
          <p:nvPr/>
        </p:nvSpPr>
        <p:spPr>
          <a:xfrm>
            <a:off x="1000125" y="5831978"/>
            <a:ext cx="4857750" cy="10260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1B4B"/>
                </a:solidFill>
                <a:latin typeface="Lato"/>
                <a:ea typeface="Lato"/>
                <a:cs typeface="Lato"/>
                <a:sym typeface="Lato"/>
              </a:rPr>
              <a:t>Device Validation: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target device uses its embedded public key to verify the binary signature before writing it to a flash partition.</a:t>
            </a:r>
            <a:endParaRPr/>
          </a:p>
        </p:txBody>
      </p:sp>
      <p:pic>
        <p:nvPicPr>
          <p:cNvPr id="238" name="Picture 237" descr="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7322" y="2945869"/>
            <a:ext cx="3886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7" name="Google Shape;247;p23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DUAL-PARTITION ANTI-BRICK ROLLBACKS</a:t>
            </a:r>
            <a:endParaRPr/>
          </a:p>
        </p:txBody>
      </p:sp>
      <p:sp>
        <p:nvSpPr>
          <p:cNvPr id="250" name="Google Shape;250;p23"/>
          <p:cNvSpPr txBox="1"/>
          <p:nvPr/>
        </p:nvSpPr>
        <p:spPr>
          <a:xfrm>
            <a:off x="6334125" y="1830585"/>
            <a:ext cx="5550693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AE2D2C"/>
                </a:solidFill>
                <a:latin typeface="Poppins"/>
                <a:ea typeface="Poppins"/>
                <a:cs typeface="Poppins"/>
                <a:sym typeface="Poppins"/>
              </a:rPr>
              <a:t>Resilient Recovery Design</a:t>
            </a:r>
            <a:endParaRPr/>
          </a:p>
        </p:txBody>
      </p:sp>
      <p:sp>
        <p:nvSpPr>
          <p:cNvPr id="251" name="Google Shape;251;p23"/>
          <p:cNvSpPr txBox="1"/>
          <p:nvPr/>
        </p:nvSpPr>
        <p:spPr>
          <a:xfrm>
            <a:off x="6334125" y="2453431"/>
            <a:ext cx="528637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failed firmware write can easily brick a remote node, requiring expensive manual field recovery.</a:t>
            </a:r>
            <a:endParaRPr/>
          </a:p>
        </p:txBody>
      </p:sp>
      <p:sp>
        <p:nvSpPr>
          <p:cNvPr id="252" name="Google Shape;252;p23"/>
          <p:cNvSpPr txBox="1"/>
          <p:nvPr/>
        </p:nvSpPr>
        <p:spPr>
          <a:xfrm>
            <a:off x="6762750" y="3839914"/>
            <a:ext cx="4857750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1B4B"/>
                </a:solidFill>
                <a:latin typeface="Lato"/>
                <a:ea typeface="Lato"/>
                <a:cs typeface="Lato"/>
                <a:sym typeface="Lato"/>
              </a:rPr>
              <a:t>A/B Memory Partitioning: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Devices maintain two distinct runtime banks. The active system executes from Bank A, while the update writes to Bank B.</a:t>
            </a:r>
            <a:endParaRPr/>
          </a:p>
        </p:txBody>
      </p:sp>
      <p:sp>
        <p:nvSpPr>
          <p:cNvPr id="253" name="Google Shape;253;p23"/>
          <p:cNvSpPr txBox="1"/>
          <p:nvPr/>
        </p:nvSpPr>
        <p:spPr>
          <a:xfrm>
            <a:off x="6762750" y="5475833"/>
            <a:ext cx="4857750" cy="13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1B4B"/>
                </a:solidFill>
                <a:latin typeface="Lato"/>
                <a:ea typeface="Lato"/>
                <a:cs typeface="Lato"/>
                <a:sym typeface="Lato"/>
              </a:rPr>
              <a:t>Automated Fallback: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If the updated image fails to boot or clear watchdogs, the bootloader safely reverts control back to the known stable partition.</a:t>
            </a:r>
            <a:endParaRPr/>
          </a:p>
        </p:txBody>
      </p:sp>
      <p:pic>
        <p:nvPicPr>
          <p:cNvPr id="255" name="Picture 254" descr="1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818" y="2186730"/>
            <a:ext cx="3886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Google Shape;264;p24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THE RISK OF REPLAY ATTACKS</a:t>
            </a:r>
            <a:endParaRPr/>
          </a:p>
        </p:txBody>
      </p:sp>
      <p:sp>
        <p:nvSpPr>
          <p:cNvPr id="266" name="Google Shape;266;p24"/>
          <p:cNvSpPr txBox="1"/>
          <p:nvPr/>
        </p:nvSpPr>
        <p:spPr>
          <a:xfrm>
            <a:off x="571500" y="1830585"/>
            <a:ext cx="5550693" cy="7122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AE2D2C"/>
                </a:solidFill>
                <a:latin typeface="Poppins"/>
                <a:ea typeface="Poppins"/>
                <a:cs typeface="Poppins"/>
                <a:sym typeface="Poppins"/>
              </a:rPr>
              <a:t>Preventing Command Interception</a:t>
            </a:r>
            <a:endParaRPr/>
          </a:p>
        </p:txBody>
      </p:sp>
      <p:sp>
        <p:nvSpPr>
          <p:cNvPr id="267" name="Google Shape;267;p24"/>
          <p:cNvSpPr txBox="1"/>
          <p:nvPr/>
        </p:nvSpPr>
        <p:spPr>
          <a:xfrm>
            <a:off x="571500" y="2809577"/>
            <a:ext cx="528637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Even if an attacker cannot decrypt a payload, they can capture a valid ciphertext command (such as "Unlock Gate") and resend it later.</a:t>
            </a:r>
            <a:endParaRPr/>
          </a:p>
        </p:txBody>
      </p:sp>
      <p:sp>
        <p:nvSpPr>
          <p:cNvPr id="269" name="Google Shape;269;p24"/>
          <p:cNvSpPr txBox="1"/>
          <p:nvPr/>
        </p:nvSpPr>
        <p:spPr>
          <a:xfrm>
            <a:off x="1000125" y="4196060"/>
            <a:ext cx="4857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1B4B"/>
                </a:solidFill>
                <a:latin typeface="Lato"/>
                <a:ea typeface="Lato"/>
                <a:cs typeface="Lato"/>
                <a:sym typeface="Lato"/>
              </a:rPr>
              <a:t>Cryptographic Nonces: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Every transaction incorporates a unique, single-use pseudorandom token string.</a:t>
            </a:r>
            <a:endParaRPr/>
          </a:p>
        </p:txBody>
      </p:sp>
      <p:sp>
        <p:nvSpPr>
          <p:cNvPr id="270" name="Google Shape;270;p24"/>
          <p:cNvSpPr txBox="1"/>
          <p:nvPr/>
        </p:nvSpPr>
        <p:spPr>
          <a:xfrm>
            <a:off x="1000125" y="5458717"/>
            <a:ext cx="4857750" cy="13992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1B4B"/>
                </a:solidFill>
                <a:latin typeface="Lato"/>
                <a:ea typeface="Lato"/>
                <a:cs typeface="Lato"/>
                <a:sym typeface="Lato"/>
              </a:rPr>
              <a:t>Monotonic Counters: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Messages include sequentially increasing indexes, forcing the system to reject any duplicated or out-of-order data packets.</a:t>
            </a:r>
            <a:endParaRPr/>
          </a:p>
        </p:txBody>
      </p:sp>
      <p:pic>
        <p:nvPicPr>
          <p:cNvPr id="272" name="Picture 271" descr="1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02857" y="2809577"/>
            <a:ext cx="3886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" name="Google Shape;281;p25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NETWORK MICRO-SEGMENTATION</a:t>
            </a:r>
            <a:endParaRPr/>
          </a:p>
        </p:txBody>
      </p:sp>
      <p:sp>
        <p:nvSpPr>
          <p:cNvPr id="284" name="Google Shape;284;p25"/>
          <p:cNvSpPr txBox="1"/>
          <p:nvPr/>
        </p:nvSpPr>
        <p:spPr>
          <a:xfrm>
            <a:off x="6334125" y="1830585"/>
            <a:ext cx="5550693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AE2D2C"/>
                </a:solidFill>
                <a:latin typeface="Poppins"/>
                <a:ea typeface="Poppins"/>
                <a:cs typeface="Poppins"/>
                <a:sym typeface="Poppins"/>
              </a:rPr>
              <a:t>Containing Compromise</a:t>
            </a:r>
            <a:endParaRPr/>
          </a:p>
        </p:txBody>
      </p:sp>
      <p:sp>
        <p:nvSpPr>
          <p:cNvPr id="285" name="Google Shape;285;p25"/>
          <p:cNvSpPr txBox="1"/>
          <p:nvPr/>
        </p:nvSpPr>
        <p:spPr>
          <a:xfrm>
            <a:off x="6334125" y="2453431"/>
            <a:ext cx="528637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A compromised IoT node should not provide an attacker lateral access to critical corporate infrastructure layers.</a:t>
            </a:r>
            <a:endParaRPr/>
          </a:p>
        </p:txBody>
      </p:sp>
      <p:sp>
        <p:nvSpPr>
          <p:cNvPr id="286" name="Google Shape;286;p25"/>
          <p:cNvSpPr txBox="1"/>
          <p:nvPr/>
        </p:nvSpPr>
        <p:spPr>
          <a:xfrm>
            <a:off x="6762750" y="3839914"/>
            <a:ext cx="4857750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1B4B"/>
                </a:solidFill>
                <a:latin typeface="Lato"/>
                <a:ea typeface="Lato"/>
                <a:cs typeface="Lato"/>
                <a:sym typeface="Lato"/>
              </a:rPr>
              <a:t>Isolated Subnets: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Field nodes must be kept on dedicated VLANs isolated from corporate workstations and sensitive asset databases.</a:t>
            </a:r>
            <a:endParaRPr/>
          </a:p>
        </p:txBody>
      </p:sp>
      <p:sp>
        <p:nvSpPr>
          <p:cNvPr id="287" name="Google Shape;287;p25"/>
          <p:cNvSpPr txBox="1"/>
          <p:nvPr/>
        </p:nvSpPr>
        <p:spPr>
          <a:xfrm>
            <a:off x="6762750" y="5475833"/>
            <a:ext cx="4857750" cy="1382166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1B4B"/>
                </a:solidFill>
                <a:latin typeface="Lato"/>
                <a:ea typeface="Lato"/>
                <a:cs typeface="Lato"/>
                <a:sym typeface="Lato"/>
              </a:rPr>
              <a:t>Zero-Trust Architecture: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Firewalls enforce strict access policies, restricting device traffic solely to authorized destination cloud endpoints and gateway servers.</a:t>
            </a:r>
            <a:endParaRPr/>
          </a:p>
        </p:txBody>
      </p:sp>
      <p:pic>
        <p:nvPicPr>
          <p:cNvPr id="289" name="Picture 288" descr="4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295" y="2186730"/>
            <a:ext cx="3886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2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8" name="Google Shape;298;p26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DEVICE ATTESTATION ARCHITECTURES</a:t>
            </a:r>
            <a:endParaRPr/>
          </a:p>
        </p:txBody>
      </p:sp>
      <p:sp>
        <p:nvSpPr>
          <p:cNvPr id="300" name="Google Shape;300;p26"/>
          <p:cNvSpPr txBox="1"/>
          <p:nvPr/>
        </p:nvSpPr>
        <p:spPr>
          <a:xfrm>
            <a:off x="571500" y="1830585"/>
            <a:ext cx="5550693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AE2D2C"/>
                </a:solidFill>
                <a:latin typeface="Poppins"/>
                <a:ea typeface="Poppins"/>
                <a:cs typeface="Poppins"/>
                <a:sym typeface="Poppins"/>
              </a:rPr>
              <a:t>Remote Health Audits</a:t>
            </a:r>
            <a:endParaRPr/>
          </a:p>
        </p:txBody>
      </p:sp>
      <p:sp>
        <p:nvSpPr>
          <p:cNvPr id="301" name="Google Shape;301;p26"/>
          <p:cNvSpPr txBox="1"/>
          <p:nvPr/>
        </p:nvSpPr>
        <p:spPr>
          <a:xfrm>
            <a:off x="571500" y="2453431"/>
            <a:ext cx="528637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Before a device is permitted to download configuration charts or fetch message blocks, its integrity must be verified remotely.</a:t>
            </a:r>
            <a:endParaRPr/>
          </a:p>
        </p:txBody>
      </p:sp>
      <p:sp>
        <p:nvSpPr>
          <p:cNvPr id="303" name="Google Shape;303;p26"/>
          <p:cNvSpPr txBox="1"/>
          <p:nvPr/>
        </p:nvSpPr>
        <p:spPr>
          <a:xfrm>
            <a:off x="1000125" y="3839914"/>
            <a:ext cx="4857750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1B4B"/>
                </a:solidFill>
                <a:latin typeface="Lato"/>
                <a:ea typeface="Lato"/>
                <a:cs typeface="Lato"/>
                <a:sym typeface="Lato"/>
              </a:rPr>
              <a:t>The Attestation Challenge: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cloud issues a random challenge payload token to the field node.</a:t>
            </a:r>
            <a:endParaRPr/>
          </a:p>
        </p:txBody>
      </p:sp>
      <p:sp>
        <p:nvSpPr>
          <p:cNvPr id="304" name="Google Shape;304;p26"/>
          <p:cNvSpPr txBox="1"/>
          <p:nvPr/>
        </p:nvSpPr>
        <p:spPr>
          <a:xfrm>
            <a:off x="1000125" y="5102572"/>
            <a:ext cx="4857750" cy="175542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1B4B"/>
                </a:solidFill>
                <a:latin typeface="Lato"/>
                <a:ea typeface="Lato"/>
                <a:cs typeface="Lato"/>
                <a:sym typeface="Lato"/>
              </a:rPr>
              <a:t>The Proof: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The hardware sign module generates a cryptographic digest of the running memory map, proving the device is operating an unmodified, secure software stack.</a:t>
            </a:r>
            <a:endParaRPr/>
          </a:p>
        </p:txBody>
      </p:sp>
      <p:pic>
        <p:nvPicPr>
          <p:cNvPr id="306" name="Picture 305" descr="8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43700" y="2322685"/>
            <a:ext cx="3886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3" name="Google Shape;313;p27" descr="image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314" name="Google Shape;314;p27" descr="image.png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1500" y="2391667"/>
            <a:ext cx="11049000" cy="3333750"/>
          </a:xfrm>
          <a:prstGeom prst="rect">
            <a:avLst/>
          </a:prstGeom>
          <a:noFill/>
          <a:ln>
            <a:noFill/>
          </a:ln>
        </p:spPr>
      </p:pic>
      <p:sp>
        <p:nvSpPr>
          <p:cNvPr id="315" name="Google Shape;315;p27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FIRMWARE VERIFICATION SCRIPT</a:t>
            </a:r>
            <a:endParaRPr/>
          </a:p>
        </p:txBody>
      </p:sp>
      <p:sp>
        <p:nvSpPr>
          <p:cNvPr id="316" name="Google Shape;316;p27"/>
          <p:cNvSpPr/>
          <p:nvPr/>
        </p:nvSpPr>
        <p:spPr>
          <a:xfrm>
            <a:off x="571500" y="1047750"/>
            <a:ext cx="114300" cy="544710"/>
          </a:xfrm>
          <a:prstGeom prst="rect">
            <a:avLst/>
          </a:prstGeom>
          <a:solidFill>
            <a:srgbClr val="AE2D2C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317" name="Google Shape;317;p27" descr="image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381000" y="238125"/>
            <a:ext cx="1071562" cy="71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318" name="Google Shape;318;p27" descr="image.png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11025187" y="238125"/>
            <a:ext cx="785812" cy="523875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Rounded Rectangle 318"/>
          <p:cNvSpPr/>
          <p:nvPr/>
        </p:nvSpPr>
        <p:spPr>
          <a:xfrm>
            <a:off x="640080" y="1417320"/>
            <a:ext cx="1828800" cy="310896"/>
          </a:xfrm>
          <a:prstGeom prst="roundRect">
            <a:avLst/>
          </a:prstGeom>
          <a:solidFill>
            <a:srgbClr val="BA312F"/>
          </a:solidFill>
          <a:ln>
            <a:solidFill>
              <a:srgbClr val="BA3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>
                <a:solidFill>
                  <a:srgbClr val="FFFFFF"/>
                </a:solidFill>
              </a:rPr>
              <a:t>Python validation logic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5" name="Google Shape;325;p28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SECURING THE SUPPLY CHAIN LIFECYCLE</a:t>
            </a:r>
            <a:endParaRPr/>
          </a:p>
        </p:txBody>
      </p:sp>
      <p:sp>
        <p:nvSpPr>
          <p:cNvPr id="328" name="Google Shape;328;p28"/>
          <p:cNvSpPr txBox="1"/>
          <p:nvPr/>
        </p:nvSpPr>
        <p:spPr>
          <a:xfrm>
            <a:off x="6334125" y="1830585"/>
            <a:ext cx="5550693" cy="3561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0996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550" b="1" i="0" u="none" strike="noStrike" cap="none">
                <a:solidFill>
                  <a:srgbClr val="AE2D2C"/>
                </a:solidFill>
                <a:latin typeface="Poppins"/>
                <a:ea typeface="Poppins"/>
                <a:cs typeface="Poppins"/>
                <a:sym typeface="Poppins"/>
              </a:rPr>
              <a:t>Secure Factory Provisioning</a:t>
            </a:r>
            <a:endParaRPr/>
          </a:p>
        </p:txBody>
      </p:sp>
      <p:sp>
        <p:nvSpPr>
          <p:cNvPr id="329" name="Google Shape;329;p28"/>
          <p:cNvSpPr txBox="1"/>
          <p:nvPr/>
        </p:nvSpPr>
        <p:spPr>
          <a:xfrm>
            <a:off x="6334125" y="2453431"/>
            <a:ext cx="5286375" cy="111978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Devices must be secured from the start, well before they are installed in a client environment.</a:t>
            </a:r>
            <a:endParaRPr/>
          </a:p>
        </p:txBody>
      </p:sp>
      <p:sp>
        <p:nvSpPr>
          <p:cNvPr id="330" name="Google Shape;330;p28"/>
          <p:cNvSpPr txBox="1"/>
          <p:nvPr/>
        </p:nvSpPr>
        <p:spPr>
          <a:xfrm>
            <a:off x="6762750" y="3839914"/>
            <a:ext cx="4857750" cy="1866304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1" i="0" u="none" strike="noStrike" cap="none">
                <a:solidFill>
                  <a:srgbClr val="1E1B4B"/>
                </a:solidFill>
                <a:latin typeface="Lato"/>
                <a:ea typeface="Lato"/>
                <a:cs typeface="Lato"/>
                <a:sym typeface="Lato"/>
              </a:rPr>
              <a:t>Zero-Touch Staging:</a:t>
            </a: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 Unique cryptographic identities and mTLS device certificates must be injected into the silicon vault inside a trusted, secure manufacturing facility.</a:t>
            </a:r>
            <a:endParaRPr/>
          </a:p>
        </p:txBody>
      </p:sp>
      <p:sp>
        <p:nvSpPr>
          <p:cNvPr id="331" name="Google Shape;331;p28"/>
          <p:cNvSpPr txBox="1"/>
          <p:nvPr/>
        </p:nvSpPr>
        <p:spPr>
          <a:xfrm>
            <a:off x="6762750" y="5849094"/>
            <a:ext cx="4857750" cy="100890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This prevents third-party contract manufacturers from copying the firmware image onto unauthorized clone hardware.</a:t>
            </a:r>
            <a:endParaRPr/>
          </a:p>
        </p:txBody>
      </p:sp>
      <p:pic>
        <p:nvPicPr>
          <p:cNvPr id="333" name="Picture 332" descr="16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11295" y="2191494"/>
            <a:ext cx="3886200" cy="36576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p29"/>
          <p:cNvSpPr txBox="1"/>
          <p:nvPr/>
        </p:nvSpPr>
        <p:spPr>
          <a:xfrm>
            <a:off x="762000" y="1047750"/>
            <a:ext cx="11401425" cy="5447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900" b="1" i="0" u="none" strike="noStrike" cap="none">
                <a:solidFill>
                  <a:srgbClr val="1E1B4B"/>
                </a:solidFill>
                <a:latin typeface="Poppins"/>
                <a:ea typeface="Poppins"/>
                <a:cs typeface="Poppins"/>
                <a:sym typeface="Poppins"/>
              </a:rPr>
              <a:t>TECHNICAL REVIEW QUESTIONS</a:t>
            </a:r>
            <a:endParaRPr/>
          </a:p>
        </p:txBody>
      </p:sp>
      <p:sp>
        <p:nvSpPr>
          <p:cNvPr id="345" name="Google Shape;345;p29"/>
          <p:cNvSpPr txBox="1"/>
          <p:nvPr/>
        </p:nvSpPr>
        <p:spPr>
          <a:xfrm>
            <a:off x="685800" y="1554480"/>
            <a:ext cx="3749039" cy="388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000" b="0" i="0" u="none" strike="noStrike" cap="none">
                <a:solidFill>
                  <a:srgbClr val="354867"/>
                </a:solidFill>
                <a:latin typeface="Aptos"/>
                <a:ea typeface="Lato"/>
                <a:cs typeface="Lato"/>
                <a:sym typeface="Lato"/>
              </a:rPr>
              <a:t>How does a Hardware Root of Trust protect a remote device from runtime firmware modifications?</a:t>
            </a:r>
            <a:endParaRPr/>
          </a:p>
        </p:txBody>
      </p:sp>
      <p:sp>
        <p:nvSpPr>
          <p:cNvPr id="346" name="Google Shape;346;p29"/>
          <p:cNvSpPr txBox="1"/>
          <p:nvPr/>
        </p:nvSpPr>
        <p:spPr>
          <a:xfrm>
            <a:off x="1000125" y="3093243"/>
            <a:ext cx="4857750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Explain why Mutual TLS (mTLS) is preferred over standard asymmetric encryption strategies in industrial IoT networks.</a:t>
            </a:r>
            <a:endParaRPr/>
          </a:p>
        </p:txBody>
      </p:sp>
      <p:sp>
        <p:nvSpPr>
          <p:cNvPr id="347" name="Google Shape;347;p29"/>
          <p:cNvSpPr txBox="1"/>
          <p:nvPr/>
        </p:nvSpPr>
        <p:spPr>
          <a:xfrm>
            <a:off x="1000125" y="4729162"/>
            <a:ext cx="4857750" cy="1493043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marR="0" lvl="0" indent="0" algn="l" rtl="0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100" b="0" i="0" u="none" strike="noStrike" cap="none">
                <a:solidFill>
                  <a:srgbClr val="334155"/>
                </a:solidFill>
                <a:latin typeface="Lato"/>
                <a:ea typeface="Lato"/>
                <a:cs typeface="Lato"/>
                <a:sym typeface="Lato"/>
              </a:rPr>
              <a:t>Describe the advantages of implementing a dual-partition memory layout for automated fallback during remote OTA updates.</a:t>
            </a:r>
            <a:endParaRPr/>
          </a:p>
        </p:txBody>
      </p:sp>
      <p:pic>
        <p:nvPicPr>
          <p:cNvPr id="351" name="Picture 350" descr="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4345" y="2710909"/>
            <a:ext cx="3822191" cy="3511296"/>
          </a:xfrm>
          <a:prstGeom prst="rect">
            <a:avLst/>
          </a:prstGeom>
        </p:spPr>
      </p:pic>
      <p:sp>
        <p:nvSpPr>
          <p:cNvPr id="352" name="Rounded Rectangle 351"/>
          <p:cNvSpPr/>
          <p:nvPr/>
        </p:nvSpPr>
        <p:spPr>
          <a:xfrm>
            <a:off x="7324345" y="6373504"/>
            <a:ext cx="3474720" cy="245660"/>
          </a:xfrm>
          <a:prstGeom prst="roundRect">
            <a:avLst/>
          </a:prstGeom>
          <a:solidFill>
            <a:srgbClr val="1B1D63"/>
          </a:solidFill>
          <a:ln>
            <a:solidFill>
              <a:srgbClr val="1B1D6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200" b="1" dirty="0">
                <a:solidFill>
                  <a:srgbClr val="FFFFFF"/>
                </a:solidFill>
                <a:latin typeface="Aptos"/>
              </a:rPr>
              <a:t>Concept recap visual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3" name="Picture 362" descr="17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364" name="Rectangle 363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0307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65" name="TextBox 364"/>
          <p:cNvSpPr txBox="1"/>
          <p:nvPr/>
        </p:nvSpPr>
        <p:spPr>
          <a:xfrm>
            <a:off x="731520" y="960120"/>
            <a:ext cx="804672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3400" b="1">
                <a:solidFill>
                  <a:srgbClr val="FFFFFF"/>
                </a:solidFill>
                <a:latin typeface="Aptos Display"/>
              </a:rPr>
              <a:t>Defense in Depth for the
Edge</a:t>
            </a:r>
          </a:p>
        </p:txBody>
      </p:sp>
      <p:sp>
        <p:nvSpPr>
          <p:cNvPr id="366" name="TextBox 365"/>
          <p:cNvSpPr txBox="1"/>
          <p:nvPr/>
        </p:nvSpPr>
        <p:spPr>
          <a:xfrm>
            <a:off x="914400" y="2606040"/>
            <a:ext cx="7772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900">
                <a:solidFill>
                  <a:srgbClr val="FFFFFF"/>
                </a:solidFill>
                <a:latin typeface="Aptos"/>
              </a:rPr>
              <a:t>Integrating secure hardware boundaries, strong cryptographic transport tunnels, and automated recovery loops builds resilient defenses against modern network threats.</a:t>
            </a:r>
          </a:p>
        </p:txBody>
      </p:sp>
      <p:sp>
        <p:nvSpPr>
          <p:cNvPr id="367" name="Rounded Rectangle 366"/>
          <p:cNvSpPr/>
          <p:nvPr/>
        </p:nvSpPr>
        <p:spPr>
          <a:xfrm>
            <a:off x="1920240" y="4983480"/>
            <a:ext cx="5303520" cy="548640"/>
          </a:xfrm>
          <a:prstGeom prst="roundRect">
            <a:avLst/>
          </a:prstGeom>
          <a:solidFill>
            <a:srgbClr val="BA312F"/>
          </a:solidFill>
          <a:ln>
            <a:solidFill>
              <a:srgbClr val="BA312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800" b="1">
                <a:solidFill>
                  <a:srgbClr val="FFFFFF"/>
                </a:solidFill>
                <a:latin typeface="Aptos"/>
              </a:rPr>
              <a:t>QUESTIONS &amp; DISCUSSION | END OF MASTERCLASS</a:t>
            </a:r>
          </a:p>
        </p:txBody>
      </p:sp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">
  <a:themeElements>
    <a:clrScheme name="Ion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Ion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0</TotalTime>
  <Words>1059</Words>
  <Application>Microsoft Office PowerPoint</Application>
  <PresentationFormat>Widescreen</PresentationFormat>
  <Paragraphs>99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7" baseType="lpstr">
      <vt:lpstr>Poppins</vt:lpstr>
      <vt:lpstr>Lato</vt:lpstr>
      <vt:lpstr>Arial</vt:lpstr>
      <vt:lpstr>Wingdings 3</vt:lpstr>
      <vt:lpstr>Calibri</vt:lpstr>
      <vt:lpstr>Aptos Display</vt:lpstr>
      <vt:lpstr>Century Gothic</vt:lpstr>
      <vt:lpstr>Aptos</vt:lpstr>
      <vt:lpstr>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cp:lastModifiedBy>Microsoft account</cp:lastModifiedBy>
  <cp:revision>4</cp:revision>
  <dcterms:modified xsi:type="dcterms:W3CDTF">2026-06-11T06:26:18Z</dcterms:modified>
</cp:coreProperties>
</file>