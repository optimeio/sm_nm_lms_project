
<file path=[Content_Types].xml><?xml version="1.0" encoding="utf-8"?>
<Types xmlns="http://schemas.openxmlformats.org/package/2006/content-types">
  <Default Extension="png" ContentType="image/png"/>
  <Default Extension="webp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6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6" r:id="rId31"/>
    <p:sldId id="288" r:id="rId32"/>
    <p:sldId id="290" r:id="rId33"/>
  </p:sldIdLst>
  <p:sldSz cx="12192000" cy="6858000"/>
  <p:notesSz cx="6858000" cy="9144000"/>
  <p:embeddedFontLst>
    <p:embeddedFont>
      <p:font typeface="Calibri Light" panose="020F0302020204030204" pitchFamily="34" charset="0"/>
      <p:regular r:id="rId35"/>
      <p:italic r:id="rId36"/>
    </p:embeddedFont>
    <p:embeddedFont>
      <p:font typeface="Poppins" panose="020B0604020202020204" charset="0"/>
      <p:regular r:id="rId37"/>
      <p:bold r:id="rId38"/>
      <p:italic r:id="rId39"/>
      <p:boldItalic r:id="rId40"/>
    </p:embeddedFont>
    <p:embeddedFont>
      <p:font typeface="Calibri" panose="020F0502020204030204" pitchFamily="34" charset="0"/>
      <p:regular r:id="rId41"/>
      <p:bold r:id="rId42"/>
      <p:italic r:id="rId43"/>
      <p:boldItalic r:id="rId44"/>
    </p:embeddedFont>
    <p:embeddedFont>
      <p:font typeface="Lato" panose="020B060402020202020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6CDE0BF-B4BA-418E-9ECD-C3DC2DA675D7}">
  <a:tblStyle styleId="{16CDE0BF-B4BA-418E-9ECD-C3DC2DA675D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13650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5825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9433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8559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7600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9308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4182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8223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25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82252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3664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10170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93834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9659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36111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82881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0802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29329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91048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26301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10084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6572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71502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40982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46687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3997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53304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21156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10578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27851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736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03976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7743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65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182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398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7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562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28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420" y="0"/>
            <a:ext cx="2330420" cy="679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" y="0"/>
            <a:ext cx="935845" cy="54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612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97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41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21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39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82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web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gif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jp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jpg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jpg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jpg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7546" y="900752"/>
            <a:ext cx="11102454" cy="358936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1377255"/>
            <a:ext cx="11201400" cy="20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Sensor Interfacing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75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 &amp; Real-Time DAQ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758505"/>
            <a:ext cx="10668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E7D32"/>
                </a:solidFill>
                <a:latin typeface="Lato"/>
                <a:ea typeface="Lato"/>
                <a:cs typeface="Lato"/>
                <a:sym typeface="Lato"/>
              </a:rPr>
              <a:t>Bridging Physical Phenomena and Digital Reality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911030"/>
            <a:ext cx="10668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 Comprehensive Training for Future Systems Engineers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940421"/>
            <a:ext cx="3429000" cy="4053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1940421"/>
            <a:ext cx="3429000" cy="4053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1940421"/>
            <a:ext cx="3429000" cy="405348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TRAINING OUTCOMES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95500" y="2340471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001077" y="3150096"/>
            <a:ext cx="276034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Hardware Master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66800" y="4331196"/>
            <a:ext cx="262890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Master transduction and physical signaling standards.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38812" y="2340471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4715827" y="3150096"/>
            <a:ext cx="276034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Signal Logic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781550" y="3873996"/>
            <a:ext cx="262890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Design precision conditioning and hardware filtering.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0" y="2340471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8430577" y="3150096"/>
            <a:ext cx="276034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Real-Time DAQ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496300" y="3873996"/>
            <a:ext cx="262890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 deterministic sampling and DMA flow.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66912"/>
            <a:ext cx="51911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 INDUSTRIAL DAQ CORE</a:t>
            </a:r>
            <a:endParaRPr dirty="0"/>
          </a:p>
        </p:txBody>
      </p:sp>
      <p:sp>
        <p:nvSpPr>
          <p:cNvPr id="115" name="Google Shape;115;p15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666750" y="2233612"/>
            <a:ext cx="5191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Acquisition (DAQ) forms the nervous system of modern automation.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3175" y="1985962"/>
            <a:ext cx="26003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143000" y="3132534"/>
            <a:ext cx="471487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Safety: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Real-time monitoring prevents machine failure.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143000" y="4069556"/>
            <a:ext cx="471487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Optimization: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Granular data allows for precision tuning.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143000" y="5006578"/>
            <a:ext cx="471487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Predictive: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Catching bearing wear before it breaks.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3151584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4088606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5025628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325" y="1746684"/>
            <a:ext cx="5844085" cy="42207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66912"/>
            <a:ext cx="51911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 FUNCTIONAL PIPELINE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666750" y="2233612"/>
            <a:ext cx="5191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Digital transformation follows a strict sequential path:</a:t>
            </a:r>
            <a:endParaRPr/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3175" y="1985962"/>
            <a:ext cx="5153025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838200" y="3266836"/>
            <a:ext cx="2095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047750" y="3265884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Transducer: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Physical to Electrical.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38200" y="3782972"/>
            <a:ext cx="2095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47750" y="3782020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Conditioning: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Filtering &amp; Scaling.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38200" y="4299108"/>
            <a:ext cx="2095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047750" y="4298156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ADC: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Analog to Digital Bits.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38200" y="4815244"/>
            <a:ext cx="2095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047750" y="4814292"/>
            <a:ext cx="48101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Driver: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Register to Software Array.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966912"/>
            <a:ext cx="51911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PHYSICS OF TRANSDUCTION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1985962"/>
            <a:ext cx="19907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6334125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Energy Conversion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334125" y="2805112"/>
            <a:ext cx="5191125" cy="186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Sensors exploit physical properties like </a:t>
            </a: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Resistance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Capacitance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and </a:t>
            </a: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Piezoelectricity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 convert mechanical/thermal energy into micro-currents or voltages.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985962"/>
            <a:ext cx="5097790" cy="37188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THERMAL STATE ACQUISITION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666750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Thermocouples vs RTDs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66750" y="2805112"/>
            <a:ext cx="5191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Thermocouples: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Robust, Wide Range, based on Seebeck Effect.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66750" y="3818334"/>
            <a:ext cx="5191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RTDs: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Platinum resistance shifts (PT100). High accuracy, limited range.</a:t>
            </a:r>
            <a:endParaRPr/>
          </a:p>
        </p:txBody>
      </p:sp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3175" y="1985962"/>
            <a:ext cx="22002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431" y="1775817"/>
            <a:ext cx="5626087" cy="31646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966912"/>
            <a:ext cx="51911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PRESSURE &amp; FORCE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1985962"/>
            <a:ext cx="5153025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6334125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Differential Logic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334125" y="2805112"/>
            <a:ext cx="519112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Industrial pressure cells measure the strain on a diaphragm. Integrated electronics scale the micro-mV signals into standard loops.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66912"/>
            <a:ext cx="51911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STRAIN GAUGE INTERFACING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666750" y="1966912"/>
            <a:ext cx="545068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Micro-Deflection Detection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66750" y="3376612"/>
            <a:ext cx="5191125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Resistance changes linearly with mechanical stress. Because the shift is tiny, we use a </a:t>
            </a: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Wheatstone Bridge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 extract a measurable differential voltage.</a:t>
            </a:r>
            <a:endParaRPr/>
          </a:p>
        </p:txBody>
      </p:sp>
      <p:pic>
        <p:nvPicPr>
          <p:cNvPr id="186" name="Google Shape;18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3175" y="1985962"/>
            <a:ext cx="2124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431" y="1611218"/>
            <a:ext cx="5808259" cy="43561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966912"/>
            <a:ext cx="51911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VIBRATION &amp; MEMS</a:t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1985962"/>
            <a:ext cx="23050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6334125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Micro-Machine Systems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334125" y="2805112"/>
            <a:ext cx="5191125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MEMS sensors integrate the spring-mass system directly on silicon. Essential for high-frequency vibration harmonics tracking (&gt;10kHz).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" y="1966912"/>
            <a:ext cx="5186149" cy="38896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66912"/>
            <a:ext cx="51911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OPTICAL &amp; PROXIMITY</a:t>
            </a:r>
            <a:endParaRPr/>
          </a:p>
        </p:txBody>
      </p:sp>
      <p:sp>
        <p:nvSpPr>
          <p:cNvPr id="205" name="Google Shape;205;p22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666750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Non-Contact Telemetry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666750" y="2805112"/>
            <a:ext cx="519112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LiDAR and Laser sensors calculate distance using Time-of-Flight (ToF). Requires precise nanosecond timing and pulse shaping.</a:t>
            </a:r>
            <a:endParaRPr/>
          </a:p>
        </p:txBody>
      </p:sp>
      <p:pic>
        <p:nvPicPr>
          <p:cNvPr id="208" name="Google Shape;20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3175" y="1985962"/>
            <a:ext cx="5153025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966912"/>
            <a:ext cx="51911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ACTIVE VS PASSIVE SIGNALS</a:t>
            </a:r>
            <a:endParaRPr/>
          </a:p>
        </p:txBody>
      </p:sp>
      <p:sp>
        <p:nvSpPr>
          <p:cNvPr id="216" name="Google Shape;216;p23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1985962"/>
            <a:ext cx="5153025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6334125" y="2233612"/>
            <a:ext cx="519112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Active: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Generates own EMF (Thermocouple). No external power for signal.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6334125" y="3620095"/>
            <a:ext cx="519112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Passive: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Requires excitation (RTD). Resistance shift must be "driven" by current to see volts.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OP-AMP ARCHITECTURE</a:t>
            </a:r>
            <a:endParaRPr/>
          </a:p>
        </p:txBody>
      </p:sp>
      <p:sp>
        <p:nvSpPr>
          <p:cNvPr id="227" name="Google Shape;227;p24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666750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High-Precision Scaling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666750" y="2805112"/>
            <a:ext cx="519112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Raw signals are too weak for ADCs. Op-Amps provide: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1143000" y="3704034"/>
            <a:ext cx="471487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Buffering: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No signal loss to ADC input impedance.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1143000" y="4641056"/>
            <a:ext cx="471487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Gain: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Multiplying microvolts to standard 0-5V levels.</a:t>
            </a:r>
            <a:endParaRPr/>
          </a:p>
        </p:txBody>
      </p:sp>
      <p:pic>
        <p:nvPicPr>
          <p:cNvPr id="233" name="Google Shape;23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3723084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4660106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355" y="1266826"/>
            <a:ext cx="6299295" cy="44515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966912"/>
            <a:ext cx="51911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DIFFERENTIAL SIGNALING</a:t>
            </a:r>
            <a:endParaRPr/>
          </a:p>
        </p:txBody>
      </p:sp>
      <p:sp>
        <p:nvSpPr>
          <p:cNvPr id="242" name="Google Shape;242;p25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1985962"/>
            <a:ext cx="22383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5"/>
          <p:cNvSpPr txBox="1"/>
          <p:nvPr/>
        </p:nvSpPr>
        <p:spPr>
          <a:xfrm>
            <a:off x="6334125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Noise Rejection</a:t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6334125" y="2805112"/>
            <a:ext cx="519112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Industrial noise hits both lines equally. By taking the difference (A-B), we cancel out the common-mode interference completely.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49" y="1429105"/>
            <a:ext cx="5447447" cy="44291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BRIDGE CALIBRATION</a:t>
            </a:r>
            <a:endParaRPr/>
          </a:p>
        </p:txBody>
      </p:sp>
      <p:sp>
        <p:nvSpPr>
          <p:cNvPr id="253" name="Google Shape;253;p26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 txBox="1"/>
          <p:nvPr/>
        </p:nvSpPr>
        <p:spPr>
          <a:xfrm>
            <a:off x="666750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Null Balancing</a:t>
            </a:r>
            <a:endParaRPr/>
          </a:p>
        </p:txBody>
      </p:sp>
      <p:sp>
        <p:nvSpPr>
          <p:cNvPr id="255" name="Google Shape;255;p26"/>
          <p:cNvSpPr txBox="1"/>
          <p:nvPr/>
        </p:nvSpPr>
        <p:spPr>
          <a:xfrm>
            <a:off x="666750" y="2805112"/>
            <a:ext cx="5191125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Real hardware has offsets. Calibration involves adjusting bridge legs to ensure 0V output at 0 physical stress, maximizing dynamic range.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498" y="1514902"/>
            <a:ext cx="5730873" cy="42981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966912"/>
            <a:ext cx="51911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7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HARDWARE FILTERING</a:t>
            </a:r>
            <a:endParaRPr/>
          </a:p>
        </p:txBody>
      </p:sp>
      <p:sp>
        <p:nvSpPr>
          <p:cNvPr id="264" name="Google Shape;264;p27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1985962"/>
            <a:ext cx="5153025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7"/>
          <p:cNvSpPr txBox="1"/>
          <p:nvPr/>
        </p:nvSpPr>
        <p:spPr>
          <a:xfrm>
            <a:off x="6334125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Cleaning the Edge</a:t>
            </a:r>
            <a:endParaRPr/>
          </a:p>
        </p:txBody>
      </p:sp>
      <p:sp>
        <p:nvSpPr>
          <p:cNvPr id="267" name="Google Shape;267;p27"/>
          <p:cNvSpPr txBox="1"/>
          <p:nvPr/>
        </p:nvSpPr>
        <p:spPr>
          <a:xfrm>
            <a:off x="6334125" y="2805112"/>
            <a:ext cx="519112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Hardware Low-Pass Filters (LPF) are mandatory before ADC to remove high-freq jitter and prevent signal </a:t>
            </a: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Aliasing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66912"/>
            <a:ext cx="51911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8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GALVANIC ISOLATION</a:t>
            </a:r>
            <a:endParaRPr/>
          </a:p>
        </p:txBody>
      </p:sp>
      <p:sp>
        <p:nvSpPr>
          <p:cNvPr id="275" name="Google Shape;275;p28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8"/>
          <p:cNvSpPr txBox="1"/>
          <p:nvPr/>
        </p:nvSpPr>
        <p:spPr>
          <a:xfrm>
            <a:off x="666750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Optical Protection</a:t>
            </a:r>
            <a:endParaRPr/>
          </a:p>
        </p:txBody>
      </p:sp>
      <p:sp>
        <p:nvSpPr>
          <p:cNvPr id="277" name="Google Shape;277;p28"/>
          <p:cNvSpPr txBox="1"/>
          <p:nvPr/>
        </p:nvSpPr>
        <p:spPr>
          <a:xfrm>
            <a:off x="666750" y="2805112"/>
            <a:ext cx="5191125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Isolating the high-voltage factory floor from sensitive logic. Signals pass as light pulses across an air gap. No electrical connection = Total safety.</a:t>
            </a:r>
            <a:endParaRPr/>
          </a:p>
        </p:txBody>
      </p:sp>
      <p:pic>
        <p:nvPicPr>
          <p:cNvPr id="278" name="Google Shape;278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3175" y="1985962"/>
            <a:ext cx="5153025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966912"/>
            <a:ext cx="51911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9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NYQUIST SAMPLING THEORY</a:t>
            </a:r>
            <a:endParaRPr/>
          </a:p>
        </p:txBody>
      </p:sp>
      <p:sp>
        <p:nvSpPr>
          <p:cNvPr id="286" name="Google Shape;286;p29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1985962"/>
            <a:ext cx="5153025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9"/>
          <p:cNvSpPr txBox="1"/>
          <p:nvPr/>
        </p:nvSpPr>
        <p:spPr>
          <a:xfrm>
            <a:off x="6334125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F_s &gt; 2 * F_m</a:t>
            </a:r>
            <a:endParaRPr/>
          </a:p>
        </p:txBody>
      </p:sp>
      <p:sp>
        <p:nvSpPr>
          <p:cNvPr id="289" name="Google Shape;289;p29"/>
          <p:cNvSpPr txBox="1"/>
          <p:nvPr/>
        </p:nvSpPr>
        <p:spPr>
          <a:xfrm>
            <a:off x="6334125" y="2805112"/>
            <a:ext cx="5191125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accurately capture a waveform, you must sample at </a:t>
            </a: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at least twice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highest frequency. In industry, we oversample 10x for safety.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0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 ALIASING HAZARD</a:t>
            </a:r>
            <a:endParaRPr/>
          </a:p>
        </p:txBody>
      </p:sp>
      <p:sp>
        <p:nvSpPr>
          <p:cNvPr id="297" name="Google Shape;297;p30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0"/>
          <p:cNvSpPr txBox="1"/>
          <p:nvPr/>
        </p:nvSpPr>
        <p:spPr>
          <a:xfrm>
            <a:off x="666750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Spectral Plotting</a:t>
            </a:r>
            <a:endParaRPr/>
          </a:p>
        </p:txBody>
      </p:sp>
      <p:sp>
        <p:nvSpPr>
          <p:cNvPr id="299" name="Google Shape;299;p30"/>
          <p:cNvSpPr txBox="1"/>
          <p:nvPr/>
        </p:nvSpPr>
        <p:spPr>
          <a:xfrm>
            <a:off x="666750" y="2805112"/>
            <a:ext cx="11525250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Sampling too slowly creates "ghost" frequencies that do not exist in the real signal. This data corruption is irreversible in software.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603" y="3614441"/>
            <a:ext cx="8572500" cy="262681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966912"/>
            <a:ext cx="51911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1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QUANTIZATION ERROR</a:t>
            </a:r>
            <a:endParaRPr/>
          </a:p>
        </p:txBody>
      </p:sp>
      <p:sp>
        <p:nvSpPr>
          <p:cNvPr id="308" name="Google Shape;308;p31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1985962"/>
            <a:ext cx="5153025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1"/>
          <p:cNvSpPr txBox="1"/>
          <p:nvPr/>
        </p:nvSpPr>
        <p:spPr>
          <a:xfrm>
            <a:off x="6334125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Rounding Realities</a:t>
            </a:r>
            <a:endParaRPr/>
          </a:p>
        </p:txBody>
      </p:sp>
      <p:sp>
        <p:nvSpPr>
          <p:cNvPr id="311" name="Google Shape;311;p31"/>
          <p:cNvSpPr txBox="1"/>
          <p:nvPr/>
        </p:nvSpPr>
        <p:spPr>
          <a:xfrm>
            <a:off x="6334125" y="2805112"/>
            <a:ext cx="519112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gap between the real voltage and the digital bit. More bits = smaller steps. 12-bit is industrial standard (4096 levels).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66912"/>
            <a:ext cx="51911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2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SAR ADC ARCHITECTURE</a:t>
            </a:r>
            <a:endParaRPr/>
          </a:p>
        </p:txBody>
      </p:sp>
      <p:sp>
        <p:nvSpPr>
          <p:cNvPr id="319" name="Google Shape;319;p32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2"/>
          <p:cNvSpPr txBox="1"/>
          <p:nvPr/>
        </p:nvSpPr>
        <p:spPr>
          <a:xfrm>
            <a:off x="666750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Binary Search Logic</a:t>
            </a:r>
            <a:endParaRPr/>
          </a:p>
        </p:txBody>
      </p:sp>
      <p:sp>
        <p:nvSpPr>
          <p:cNvPr id="321" name="Google Shape;321;p32"/>
          <p:cNvSpPr txBox="1"/>
          <p:nvPr/>
        </p:nvSpPr>
        <p:spPr>
          <a:xfrm>
            <a:off x="666750" y="2805112"/>
            <a:ext cx="5191125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Successive Approximation Register (SAR) ADCs balance speed and power. They find the correct bit value by testing half-steps until convergence.</a:t>
            </a:r>
            <a:endParaRPr/>
          </a:p>
        </p:txBody>
      </p:sp>
      <p:pic>
        <p:nvPicPr>
          <p:cNvPr id="322" name="Google Shape;322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3175" y="1985962"/>
            <a:ext cx="23145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431" y="1528549"/>
            <a:ext cx="5476015" cy="42981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966912"/>
            <a:ext cx="51911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3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DELTA-SIGMA MODULATION</a:t>
            </a:r>
            <a:endParaRPr/>
          </a:p>
        </p:txBody>
      </p:sp>
      <p:sp>
        <p:nvSpPr>
          <p:cNvPr id="330" name="Google Shape;330;p33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1" name="Google Shape;331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1985962"/>
            <a:ext cx="22574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3"/>
          <p:cNvSpPr txBox="1"/>
          <p:nvPr/>
        </p:nvSpPr>
        <p:spPr>
          <a:xfrm>
            <a:off x="6334125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Noise Shaping</a:t>
            </a:r>
            <a:endParaRPr/>
          </a:p>
        </p:txBody>
      </p:sp>
      <p:sp>
        <p:nvSpPr>
          <p:cNvPr id="333" name="Google Shape;333;p33"/>
          <p:cNvSpPr txBox="1"/>
          <p:nvPr/>
        </p:nvSpPr>
        <p:spPr>
          <a:xfrm>
            <a:off x="6334125" y="2805112"/>
            <a:ext cx="5191125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Uses extreme oversampling (1-bit) and digital decimation filtering to achieve 24-bit resolution. Perfect for high-fidelity audio and weighing scales.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60" y="1966912"/>
            <a:ext cx="5401429" cy="395342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HIGH SPEED BUS: SPI</a:t>
            </a:r>
            <a:endParaRPr/>
          </a:p>
        </p:txBody>
      </p:sp>
      <p:sp>
        <p:nvSpPr>
          <p:cNvPr id="341" name="Google Shape;341;p34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4"/>
          <p:cNvSpPr txBox="1"/>
          <p:nvPr/>
        </p:nvSpPr>
        <p:spPr>
          <a:xfrm>
            <a:off x="666750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Full-Duplex Master-Slave</a:t>
            </a:r>
            <a:endParaRPr/>
          </a:p>
        </p:txBody>
      </p:sp>
      <p:sp>
        <p:nvSpPr>
          <p:cNvPr id="343" name="Google Shape;343;p34"/>
          <p:cNvSpPr txBox="1"/>
          <p:nvPr/>
        </p:nvSpPr>
        <p:spPr>
          <a:xfrm>
            <a:off x="666750" y="2452693"/>
            <a:ext cx="11525250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Fastest board-level bus (&gt;50MHz). 4 wires: SCK, MOSI, MISO, CS. Essential for high-resolution ADC streaming.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167" y="3357556"/>
            <a:ext cx="5915025" cy="28479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INTERFACE: I2C</a:t>
            </a:r>
            <a:endParaRPr/>
          </a:p>
        </p:txBody>
      </p:sp>
      <p:sp>
        <p:nvSpPr>
          <p:cNvPr id="352" name="Google Shape;352;p35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3" name="Google Shape;353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985962"/>
            <a:ext cx="17049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5"/>
          <p:cNvSpPr txBox="1"/>
          <p:nvPr/>
        </p:nvSpPr>
        <p:spPr>
          <a:xfrm>
            <a:off x="6334125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Multi-Drop Networking</a:t>
            </a:r>
            <a:endParaRPr/>
          </a:p>
        </p:txBody>
      </p:sp>
      <p:sp>
        <p:nvSpPr>
          <p:cNvPr id="355" name="Google Shape;355;p35"/>
          <p:cNvSpPr txBox="1"/>
          <p:nvPr/>
        </p:nvSpPr>
        <p:spPr>
          <a:xfrm>
            <a:off x="6334125" y="2805112"/>
            <a:ext cx="5191125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Uses only 2 wires (SDA/SCL) and software addressing. Supports up to 127 sensors on one bus segment. Ideal for low-speed peripherals.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54" y="1782455"/>
            <a:ext cx="4848225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6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BUS SELECTION MATRIX</a:t>
            </a:r>
            <a:endParaRPr/>
          </a:p>
        </p:txBody>
      </p:sp>
      <p:sp>
        <p:nvSpPr>
          <p:cNvPr id="363" name="Google Shape;363;p36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4" name="Google Shape;364;p36"/>
          <p:cNvGraphicFramePr/>
          <p:nvPr>
            <p:extLst>
              <p:ext uri="{D42A27DB-BD31-4B8C-83A1-F6EECF244321}">
                <p14:modId xmlns:p14="http://schemas.microsoft.com/office/powerpoint/2010/main" val="3194299136"/>
              </p:ext>
            </p:extLst>
          </p:nvPr>
        </p:nvGraphicFramePr>
        <p:xfrm>
          <a:off x="666749" y="1252947"/>
          <a:ext cx="10858500" cy="4888545"/>
        </p:xfrm>
        <a:graphic>
          <a:graphicData uri="http://schemas.openxmlformats.org/drawingml/2006/table">
            <a:tbl>
              <a:tblPr firstRow="1" bandRow="1">
                <a:noFill/>
                <a:tableStyleId>{16CDE0BF-B4BA-418E-9ECD-C3DC2DA675D7}</a:tableStyleId>
              </a:tblPr>
              <a:tblGrid>
                <a:gridCol w="2564300"/>
                <a:gridCol w="2544225"/>
                <a:gridCol w="3225400"/>
                <a:gridCol w="2524575"/>
              </a:tblGrid>
              <a:tr h="97770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Metric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I2C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RS-485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</a:tr>
              <a:tr h="97770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Wires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4+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 (Diff)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7770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Distance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&lt;5m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&lt;3m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&gt;1000m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7770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Speed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400kbps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50Mbps+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10Mbps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7770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Nodes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Line-limited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32-256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65" name="Google Shape;365;p36"/>
          <p:cNvSpPr/>
          <p:nvPr/>
        </p:nvSpPr>
        <p:spPr>
          <a:xfrm>
            <a:off x="666750" y="3014662"/>
            <a:ext cx="25643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6"/>
          <p:cNvSpPr/>
          <p:nvPr/>
        </p:nvSpPr>
        <p:spPr>
          <a:xfrm>
            <a:off x="3231058" y="3014662"/>
            <a:ext cx="25442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6"/>
          <p:cNvSpPr/>
          <p:nvPr/>
        </p:nvSpPr>
        <p:spPr>
          <a:xfrm>
            <a:off x="5775275" y="3014662"/>
            <a:ext cx="32254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6"/>
          <p:cNvSpPr/>
          <p:nvPr/>
        </p:nvSpPr>
        <p:spPr>
          <a:xfrm>
            <a:off x="9000678" y="3014662"/>
            <a:ext cx="25245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6"/>
          <p:cNvSpPr/>
          <p:nvPr/>
        </p:nvSpPr>
        <p:spPr>
          <a:xfrm>
            <a:off x="666750" y="3643312"/>
            <a:ext cx="25643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6"/>
          <p:cNvSpPr/>
          <p:nvPr/>
        </p:nvSpPr>
        <p:spPr>
          <a:xfrm>
            <a:off x="3231058" y="3643312"/>
            <a:ext cx="25442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6"/>
          <p:cNvSpPr/>
          <p:nvPr/>
        </p:nvSpPr>
        <p:spPr>
          <a:xfrm>
            <a:off x="5775275" y="3643312"/>
            <a:ext cx="32254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6"/>
          <p:cNvSpPr/>
          <p:nvPr/>
        </p:nvSpPr>
        <p:spPr>
          <a:xfrm>
            <a:off x="9000678" y="3643312"/>
            <a:ext cx="25245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6"/>
          <p:cNvSpPr/>
          <p:nvPr/>
        </p:nvSpPr>
        <p:spPr>
          <a:xfrm>
            <a:off x="666750" y="4271962"/>
            <a:ext cx="25643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6"/>
          <p:cNvSpPr/>
          <p:nvPr/>
        </p:nvSpPr>
        <p:spPr>
          <a:xfrm>
            <a:off x="3231058" y="4271962"/>
            <a:ext cx="25442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6"/>
          <p:cNvSpPr/>
          <p:nvPr/>
        </p:nvSpPr>
        <p:spPr>
          <a:xfrm>
            <a:off x="5775275" y="4271962"/>
            <a:ext cx="32254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6"/>
          <p:cNvSpPr/>
          <p:nvPr/>
        </p:nvSpPr>
        <p:spPr>
          <a:xfrm>
            <a:off x="9000678" y="4271962"/>
            <a:ext cx="25245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6"/>
          <p:cNvSpPr/>
          <p:nvPr/>
        </p:nvSpPr>
        <p:spPr>
          <a:xfrm>
            <a:off x="666750" y="4900612"/>
            <a:ext cx="25643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6"/>
          <p:cNvSpPr/>
          <p:nvPr/>
        </p:nvSpPr>
        <p:spPr>
          <a:xfrm>
            <a:off x="3231058" y="4900612"/>
            <a:ext cx="25442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6"/>
          <p:cNvSpPr/>
          <p:nvPr/>
        </p:nvSpPr>
        <p:spPr>
          <a:xfrm>
            <a:off x="5775275" y="4900612"/>
            <a:ext cx="32254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6"/>
          <p:cNvSpPr/>
          <p:nvPr/>
        </p:nvSpPr>
        <p:spPr>
          <a:xfrm>
            <a:off x="9000678" y="4900612"/>
            <a:ext cx="25245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66912"/>
            <a:ext cx="51911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7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DIRECT MEMORY ACCESS</a:t>
            </a:r>
            <a:endParaRPr/>
          </a:p>
        </p:txBody>
      </p:sp>
      <p:sp>
        <p:nvSpPr>
          <p:cNvPr id="389" name="Google Shape;389;p37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7"/>
          <p:cNvSpPr txBox="1"/>
          <p:nvPr/>
        </p:nvSpPr>
        <p:spPr>
          <a:xfrm>
            <a:off x="666750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Freeing the CPU</a:t>
            </a:r>
            <a:endParaRPr/>
          </a:p>
        </p:txBody>
      </p:sp>
      <p:sp>
        <p:nvSpPr>
          <p:cNvPr id="391" name="Google Shape;391;p37"/>
          <p:cNvSpPr txBox="1"/>
          <p:nvPr/>
        </p:nvSpPr>
        <p:spPr>
          <a:xfrm>
            <a:off x="666750" y="2805112"/>
            <a:ext cx="519112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DMA allows the ADC to dump data directly into RAM arrays without CPU intervention. Critical for multi-MHz sampling rates.</a:t>
            </a:r>
            <a:endParaRPr/>
          </a:p>
        </p:txBody>
      </p:sp>
      <p:pic>
        <p:nvPicPr>
          <p:cNvPr id="392" name="Google Shape;392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3175" y="1985962"/>
            <a:ext cx="20859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125" y="2021243"/>
            <a:ext cx="5702300" cy="407930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966912"/>
            <a:ext cx="51911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8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INTERRUPT CONTROL</a:t>
            </a:r>
            <a:endParaRPr/>
          </a:p>
        </p:txBody>
      </p:sp>
      <p:sp>
        <p:nvSpPr>
          <p:cNvPr id="400" name="Google Shape;400;p38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1985962"/>
            <a:ext cx="14382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8"/>
          <p:cNvSpPr txBox="1"/>
          <p:nvPr/>
        </p:nvSpPr>
        <p:spPr>
          <a:xfrm>
            <a:off x="6334125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Deterministic Jumps</a:t>
            </a:r>
            <a:endParaRPr/>
          </a:p>
        </p:txBody>
      </p:sp>
      <p:sp>
        <p:nvSpPr>
          <p:cNvPr id="403" name="Google Shape;403;p38"/>
          <p:cNvSpPr txBox="1"/>
          <p:nvPr/>
        </p:nvSpPr>
        <p:spPr>
          <a:xfrm>
            <a:off x="6334125" y="2805112"/>
            <a:ext cx="519112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Instead of "polling" a sensor, we jump to an </a:t>
            </a: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Interrupt Service Routine (ISR)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immediately when a signal threshold is hit.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37" y="1757361"/>
            <a:ext cx="5427829" cy="357891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66912"/>
            <a:ext cx="51911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9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CIRCULAR RING BUFFERS</a:t>
            </a:r>
            <a:endParaRPr/>
          </a:p>
        </p:txBody>
      </p:sp>
      <p:sp>
        <p:nvSpPr>
          <p:cNvPr id="411" name="Google Shape;411;p39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9"/>
          <p:cNvSpPr txBox="1"/>
          <p:nvPr/>
        </p:nvSpPr>
        <p:spPr>
          <a:xfrm>
            <a:off x="666750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Producer-Consumer Logic</a:t>
            </a:r>
            <a:endParaRPr/>
          </a:p>
        </p:txBody>
      </p:sp>
      <p:sp>
        <p:nvSpPr>
          <p:cNvPr id="413" name="Google Shape;413;p39"/>
          <p:cNvSpPr txBox="1"/>
          <p:nvPr/>
        </p:nvSpPr>
        <p:spPr>
          <a:xfrm>
            <a:off x="666750" y="2805112"/>
            <a:ext cx="519112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Prevents data loss during network spikes. ADC writes to the head, App reads from the tail. Data wraps around automatically.</a:t>
            </a:r>
            <a:endParaRPr/>
          </a:p>
        </p:txBody>
      </p:sp>
      <p:pic>
        <p:nvPicPr>
          <p:cNvPr id="414" name="Google Shape;414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3175" y="1985962"/>
            <a:ext cx="2028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125" y="1966912"/>
            <a:ext cx="4952574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966912"/>
            <a:ext cx="51911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0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TIMING JITTER</a:t>
            </a:r>
            <a:endParaRPr/>
          </a:p>
        </p:txBody>
      </p:sp>
      <p:sp>
        <p:nvSpPr>
          <p:cNvPr id="422" name="Google Shape;422;p40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3" name="Google Shape;423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1985962"/>
            <a:ext cx="22860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0"/>
          <p:cNvSpPr txBox="1"/>
          <p:nvPr/>
        </p:nvSpPr>
        <p:spPr>
          <a:xfrm>
            <a:off x="6334125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Real-Time Stability</a:t>
            </a:r>
            <a:endParaRPr/>
          </a:p>
        </p:txBody>
      </p:sp>
      <p:sp>
        <p:nvSpPr>
          <p:cNvPr id="425" name="Google Shape;425;p40"/>
          <p:cNvSpPr txBox="1"/>
          <p:nvPr/>
        </p:nvSpPr>
        <p:spPr>
          <a:xfrm>
            <a:off x="6334125" y="2805112"/>
            <a:ext cx="519112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Sampling intervals must be perfect. Software timers have jitter. Hardware </a:t>
            </a: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Timer-Triggers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for ADC ensure absolute temporal precision.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312" y="1869744"/>
            <a:ext cx="5523563" cy="311045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966912"/>
            <a:ext cx="51911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2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INDUSTRIAL GROUNDING</a:t>
            </a:r>
            <a:endParaRPr/>
          </a:p>
        </p:txBody>
      </p:sp>
      <p:sp>
        <p:nvSpPr>
          <p:cNvPr id="444" name="Google Shape;444;p42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5" name="Google Shape;445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1985962"/>
            <a:ext cx="5153025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2"/>
          <p:cNvSpPr txBox="1"/>
          <p:nvPr/>
        </p:nvSpPr>
        <p:spPr>
          <a:xfrm>
            <a:off x="6334125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The Star-Ground Rule</a:t>
            </a:r>
            <a:endParaRPr/>
          </a:p>
        </p:txBody>
      </p:sp>
      <p:sp>
        <p:nvSpPr>
          <p:cNvPr id="447" name="Google Shape;447;p42"/>
          <p:cNvSpPr txBox="1"/>
          <p:nvPr/>
        </p:nvSpPr>
        <p:spPr>
          <a:xfrm>
            <a:off x="6334125" y="2805112"/>
            <a:ext cx="519112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Ensure all analog sensor grounds meet at a single physical point to eliminate differential potentials between machines.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66912"/>
            <a:ext cx="51911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3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STATE ESTIMATION</a:t>
            </a:r>
            <a:endParaRPr/>
          </a:p>
        </p:txBody>
      </p:sp>
      <p:sp>
        <p:nvSpPr>
          <p:cNvPr id="455" name="Google Shape;455;p43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3"/>
          <p:cNvSpPr txBox="1"/>
          <p:nvPr/>
        </p:nvSpPr>
        <p:spPr>
          <a:xfrm>
            <a:off x="666750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Software Filtering</a:t>
            </a:r>
            <a:endParaRPr/>
          </a:p>
        </p:txBody>
      </p:sp>
      <p:sp>
        <p:nvSpPr>
          <p:cNvPr id="457" name="Google Shape;457;p43"/>
          <p:cNvSpPr txBox="1"/>
          <p:nvPr/>
        </p:nvSpPr>
        <p:spPr>
          <a:xfrm>
            <a:off x="666750" y="2805112"/>
            <a:ext cx="519112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Hardware can't clean everything. </a:t>
            </a:r>
            <a:r>
              <a:rPr lang="en-US" sz="21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Kalman Filters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use physical models to "guess" the true value among noisy readings.</a:t>
            </a:r>
            <a:endParaRPr/>
          </a:p>
        </p:txBody>
      </p:sp>
      <p:pic>
        <p:nvPicPr>
          <p:cNvPr id="458" name="Google Shape;458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3175" y="1985962"/>
            <a:ext cx="5153025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66912"/>
            <a:ext cx="51911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5"/>
          <p:cNvSpPr txBox="1"/>
          <p:nvPr/>
        </p:nvSpPr>
        <p:spPr>
          <a:xfrm>
            <a:off x="857250" y="476250"/>
            <a:ext cx="112014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PRACTICAL CASE STUDY</a:t>
            </a:r>
            <a:endParaRPr/>
          </a:p>
        </p:txBody>
      </p:sp>
      <p:sp>
        <p:nvSpPr>
          <p:cNvPr id="476" name="Google Shape;476;p45"/>
          <p:cNvSpPr/>
          <p:nvPr/>
        </p:nvSpPr>
        <p:spPr>
          <a:xfrm>
            <a:off x="666750" y="476250"/>
            <a:ext cx="114300" cy="79057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5"/>
          <p:cNvSpPr txBox="1"/>
          <p:nvPr/>
        </p:nvSpPr>
        <p:spPr>
          <a:xfrm>
            <a:off x="666750" y="1966912"/>
            <a:ext cx="545068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Motor Vibration Link</a:t>
            </a:r>
            <a:endParaRPr/>
          </a:p>
        </p:txBody>
      </p:sp>
      <p:sp>
        <p:nvSpPr>
          <p:cNvPr id="478" name="Google Shape;478;p45"/>
          <p:cNvSpPr txBox="1"/>
          <p:nvPr/>
        </p:nvSpPr>
        <p:spPr>
          <a:xfrm>
            <a:off x="666750" y="2805112"/>
            <a:ext cx="519112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Build an RPi logger that samples high-freq vibration, filters via EMA (Exponential Moving Avg), and pushes to cloud via MQTT.</a:t>
            </a:r>
            <a:endParaRPr/>
          </a:p>
        </p:txBody>
      </p:sp>
      <p:pic>
        <p:nvPicPr>
          <p:cNvPr id="479" name="Google Shape;479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3175" y="1985962"/>
            <a:ext cx="5153025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gular Pentagon 2"/>
          <p:cNvSpPr/>
          <p:nvPr/>
        </p:nvSpPr>
        <p:spPr>
          <a:xfrm>
            <a:off x="966798" y="-573206"/>
            <a:ext cx="10729333" cy="6919415"/>
          </a:xfrm>
          <a:prstGeom prst="pen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9" name="Google Shape;499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47"/>
          <p:cNvSpPr txBox="1"/>
          <p:nvPr/>
        </p:nvSpPr>
        <p:spPr>
          <a:xfrm>
            <a:off x="1922141" y="1531440"/>
            <a:ext cx="791098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Mastering the Edge</a:t>
            </a:r>
            <a:endParaRPr/>
          </a:p>
        </p:txBody>
      </p:sp>
      <p:sp>
        <p:nvSpPr>
          <p:cNvPr id="502" name="Google Shape;502;p47"/>
          <p:cNvSpPr txBox="1"/>
          <p:nvPr/>
        </p:nvSpPr>
        <p:spPr>
          <a:xfrm>
            <a:off x="762000" y="3095773"/>
            <a:ext cx="10668000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Sensors are the eyes of automation. Quality DAQ is the key to autonomy.</a:t>
            </a:r>
            <a:endParaRPr/>
          </a:p>
        </p:txBody>
      </p:sp>
      <p:sp>
        <p:nvSpPr>
          <p:cNvPr id="503" name="Google Shape;503;p47"/>
          <p:cNvSpPr txBox="1"/>
          <p:nvPr/>
        </p:nvSpPr>
        <p:spPr>
          <a:xfrm>
            <a:off x="3067050" y="4579590"/>
            <a:ext cx="60579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Q&amp;A SESSION | PROFESSIONAL TRAINING SERIES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</TotalTime>
  <Words>925</Words>
  <Application>Microsoft Office PowerPoint</Application>
  <PresentationFormat>Widescreen</PresentationFormat>
  <Paragraphs>130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 Light</vt:lpstr>
      <vt:lpstr>Poppins</vt:lpstr>
      <vt:lpstr>Calibri</vt:lpstr>
      <vt:lpstr>Lato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account</cp:lastModifiedBy>
  <cp:revision>4</cp:revision>
  <dcterms:modified xsi:type="dcterms:W3CDTF">2026-06-11T07:03:37Z</dcterms:modified>
</cp:coreProperties>
</file>