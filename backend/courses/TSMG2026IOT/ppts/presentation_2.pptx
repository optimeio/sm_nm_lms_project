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9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embeddedFontLst>
    <p:embeddedFont>
      <p:font typeface="Lato" panose="020B0604020202020204" charset="0"/>
      <p:regular r:id="rId38"/>
      <p:bold r:id="rId39"/>
      <p:italic r:id="rId40"/>
      <p:boldItalic r:id="rId41"/>
    </p:embeddedFont>
    <p:embeddedFont>
      <p:font typeface="Trebuchet MS" panose="020B0603020202020204" pitchFamily="34" charset="0"/>
      <p:regular r:id="rId42"/>
      <p:bold r:id="rId43"/>
      <p:italic r:id="rId44"/>
      <p:boldItalic r:id="rId45"/>
    </p:embeddedFont>
    <p:embeddedFont>
      <p:font typeface="Poppins" panose="020B0604020202020204" charset="0"/>
      <p:regular r:id="rId46"/>
      <p:bold r:id="rId47"/>
      <p:italic r:id="rId48"/>
      <p:boldItalic r:id="rId49"/>
    </p:embeddedFont>
    <p:embeddedFont>
      <p:font typeface="Tw Cen MT" panose="020B0602020104020603" pitchFamily="34" charset="0"/>
      <p:regular r:id="rId50"/>
      <p:bold r:id="rId51"/>
      <p:italic r:id="rId52"/>
      <p:boldItalic r:id="rId53"/>
    </p:embeddedFont>
    <p:embeddedFont>
      <p:font typeface="Calibri" panose="020F0502020204030204" pitchFamily="34" charset="0"/>
      <p:regular r:id="rId54"/>
      <p:bold r:id="rId55"/>
      <p:italic r:id="rId56"/>
      <p:boldItalic r:id="rId57"/>
    </p:embeddedFont>
    <p:embeddedFont>
      <p:font typeface="Poppins SemiBold" panose="020B0604020202020204" charset="0"/>
      <p:regular r:id="rId58"/>
      <p:bold r:id="rId59"/>
      <p:italic r:id="rId60"/>
      <p:bold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A86F69-6AAC-4CA4-B6D1-C4E8A80610A1}">
  <a:tblStyle styleId="{21A86F69-6AAC-4CA4-B6D1-C4E8A80610A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font" Target="fonts/font18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58" Type="http://schemas.openxmlformats.org/officeDocument/2006/relationships/font" Target="fonts/font21.fntdata"/><Relationship Id="rId5" Type="http://schemas.openxmlformats.org/officeDocument/2006/relationships/slide" Target="slides/slide4.xml"/><Relationship Id="rId61" Type="http://schemas.openxmlformats.org/officeDocument/2006/relationships/font" Target="fonts/font2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font" Target="fonts/font19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59" Type="http://schemas.openxmlformats.org/officeDocument/2006/relationships/font" Target="fonts/font22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font" Target="fonts/font17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57" Type="http://schemas.openxmlformats.org/officeDocument/2006/relationships/font" Target="fonts/font2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Relationship Id="rId60" Type="http://schemas.openxmlformats.org/officeDocument/2006/relationships/font" Target="fonts/font23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332598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176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4202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8459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8186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3653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673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7205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5275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1127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77961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15413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40624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07935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32686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37765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11265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51634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05710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91458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85535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41071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85077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99769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22674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19015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65642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47948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71025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05360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18849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09879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58947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01493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4051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4062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1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358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6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905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2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962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23" y="177800"/>
            <a:ext cx="1400129" cy="813408"/>
          </a:xfrm>
          <a:prstGeom prst="rect">
            <a:avLst/>
          </a:prstGeom>
          <a:solidFill>
            <a:schemeClr val="bg1">
              <a:alpha val="47000"/>
            </a:schemeClr>
          </a:solidFill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082" y="325064"/>
            <a:ext cx="2374489" cy="69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078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50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337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787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98337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480608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5103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2748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576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29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94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userDrawn="1">
  <p:cSld name="1_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23" y="177800"/>
            <a:ext cx="1400129" cy="813408"/>
          </a:xfrm>
          <a:prstGeom prst="rect">
            <a:avLst/>
          </a:prstGeom>
          <a:solidFill>
            <a:schemeClr val="bg1">
              <a:alpha val="47000"/>
            </a:schemeClr>
          </a:solidFill>
          <a:ln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082" y="325064"/>
            <a:ext cx="2374489" cy="69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6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110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4815631"/>
            <a:ext cx="10858500" cy="124197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3"/>
          <p:cNvSpPr txBox="1"/>
          <p:nvPr/>
        </p:nvSpPr>
        <p:spPr>
          <a:xfrm>
            <a:off x="395287" y="1276498"/>
            <a:ext cx="11401425" cy="171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Raspberry Pi Architecture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1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 &amp; Embedded Linux</a:t>
            </a:r>
            <a:endParaRPr/>
          </a:p>
        </p:txBody>
      </p:sp>
      <p:sp>
        <p:nvSpPr>
          <p:cNvPr id="84" name="Google Shape;84;p13"/>
          <p:cNvSpPr txBox="1"/>
          <p:nvPr/>
        </p:nvSpPr>
        <p:spPr>
          <a:xfrm>
            <a:off x="666750" y="3375570"/>
            <a:ext cx="10858500" cy="506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AE2D2C"/>
                </a:solidFill>
                <a:latin typeface="Lato"/>
                <a:ea typeface="Lato"/>
                <a:cs typeface="Lato"/>
                <a:sym typeface="Lato"/>
              </a:rPr>
              <a:t>Fundamentals for Industrial Systems &amp; Edge Computing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767780"/>
            <a:ext cx="3429000" cy="4550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1767780"/>
            <a:ext cx="3429000" cy="4550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1767780"/>
            <a:ext cx="3429000" cy="455041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TRAINING OUTCOMES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9175" y="2120205"/>
            <a:ext cx="27241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51071" y="2882205"/>
            <a:ext cx="2860357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Hardware Literacy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19175" y="3985021"/>
            <a:ext cx="2724150" cy="173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Master the silicon architecture of the Broadcom BCM2712 SoC and high-speed I/O busses.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33925" y="2471588"/>
            <a:ext cx="27241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665821" y="3233588"/>
            <a:ext cx="2860357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OS Proficiency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733925" y="3980259"/>
            <a:ext cx="2724150" cy="1386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Learn to navigate Embedded Linux kernels, filesystem structures, and Shell programming.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48675" y="2293441"/>
            <a:ext cx="27241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8380571" y="3055441"/>
            <a:ext cx="2860357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Engineering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448675" y="4158257"/>
            <a:ext cx="2724150" cy="1386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Build and deploy industrial-grade data loggers and HMIs using professional workflows.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789211"/>
            <a:ext cx="5143500" cy="447585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WHY SINGLE BOARD COMPUTERS?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66750" y="2036861"/>
            <a:ext cx="514350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Raspberry Pi 5 has bridged the gap between a hobbyist board and a robust industrial compute node.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1827311"/>
            <a:ext cx="5067300" cy="439965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143000" y="3324373"/>
            <a:ext cx="466725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Versatility: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Runs a full Linux stack while providing direct hardware I/O control.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143000" y="4189065"/>
            <a:ext cx="466725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Ecosystem: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Millions of developers and standardized libraries reduce time-to-market.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143000" y="5400377"/>
            <a:ext cx="466725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Reliability: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10+ year availability for industrial-grade Compute Modules.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336247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422716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543847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904875" y="1047750"/>
            <a:ext cx="4750593" cy="963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INDUSTRIAL FOOTPRINT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666750" y="1047750"/>
            <a:ext cx="114300" cy="9638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14865" y="1249613"/>
            <a:ext cx="4098878" cy="461123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666750" y="2497335"/>
            <a:ext cx="476250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From smart factories to hospital monitoring, Embedded Linux is everywhere.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143000" y="3438227"/>
            <a:ext cx="428625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Edge Gateways: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Aggregating PLC data and pushing to Cloud (Azure/AWS).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143000" y="4302918"/>
            <a:ext cx="428625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Industrial HMIs: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Driving interactive touch-panels on the factory floor.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143000" y="5167610"/>
            <a:ext cx="428625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Predictive Maintenance: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Real-time vibration and thermal analysis.</a:t>
            </a:r>
            <a:endParaRPr/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47632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34101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5205710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2657623"/>
            <a:ext cx="5143500" cy="2739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657623"/>
            <a:ext cx="5143500" cy="273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LEGACY SILO PROBLEM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908208" y="3010048"/>
            <a:ext cx="466058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Legacy Systems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019175" y="3756719"/>
            <a:ext cx="443865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Proprietary machines, manual data logging, high maintenance costs, and zero cloud visibility.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623208" y="3010048"/>
            <a:ext cx="466058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16653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Linux Solution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734175" y="3756719"/>
            <a:ext cx="443865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Open standards, real-time telemetry, automated control loops, and unified remote management.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/>
          <p:nvPr/>
        </p:nvSpPr>
        <p:spPr>
          <a:xfrm>
            <a:off x="5143500" y="1428750"/>
            <a:ext cx="1905000" cy="11430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395287" y="1924050"/>
            <a:ext cx="11401425" cy="9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Fundamental Concepts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66750" y="3093690"/>
            <a:ext cx="108585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SoC Architecture &amp; Hardware Operating Principles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SOC FUNDAMENTALS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666750" y="2264419"/>
            <a:ext cx="5400675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System-on-Chip (SoC)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66750" y="2868215"/>
            <a:ext cx="5143500" cy="1386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Unlike traditional PCs with discrete components, an SoC integrates the CPU, GPU, RAM, and I/O controllers into a single silicon substrate.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66750" y="4502348"/>
            <a:ext cx="514350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Why it's used: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Massive power efficiency, lower thermal footprint, and high-speed internal bus communication.</a:t>
            </a:r>
            <a:endParaRPr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4175" y="2616844"/>
            <a:ext cx="44386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6734175" y="3626494"/>
            <a:ext cx="443865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Broadcom BCM2712 is the heart of RPi 5, featuring quad-core ARM Cortex-A76 performance.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135832"/>
            <a:ext cx="5143500" cy="378261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GPIO: THE PHYSICAL LINK</a:t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666750" y="2383482"/>
            <a:ext cx="514350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GPIO (General Purpose Input/Output)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pins allow the Raspberry Pi to interact with the analog world.</a:t>
            </a:r>
            <a:endParaRPr/>
          </a:p>
        </p:txBody>
      </p:sp>
      <p:pic>
        <p:nvPicPr>
          <p:cNvPr id="183" name="Google Shape;18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173932"/>
            <a:ext cx="5067300" cy="370641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1143000" y="3670994"/>
            <a:ext cx="4667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Pins: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40-pin header for digital I/O.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1143000" y="4189065"/>
            <a:ext cx="466725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Logic: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3.3V Logic level (Strictly non-5V tolerant).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1143000" y="5053756"/>
            <a:ext cx="466725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Multi-function: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Can be configured for UART, SPI, or I2C communication.</a:t>
            </a:r>
            <a:endParaRPr/>
          </a:p>
        </p:txBody>
      </p:sp>
      <p:pic>
        <p:nvPicPr>
          <p:cNvPr id="187" name="Google Shape;18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370909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422716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5091856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RPI VS TRADITIONAL PC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8" name="Google Shape;198;p21"/>
          <p:cNvGraphicFramePr/>
          <p:nvPr/>
        </p:nvGraphicFramePr>
        <p:xfrm>
          <a:off x="666750" y="2250876"/>
          <a:ext cx="10848975" cy="3695250"/>
        </p:xfrm>
        <a:graphic>
          <a:graphicData uri="http://schemas.openxmlformats.org/drawingml/2006/table">
            <a:tbl>
              <a:tblPr firstRow="1" bandRow="1">
                <a:noFill/>
                <a:tableStyleId>{21A86F69-6AAC-4CA4-B6D1-C4E8A80610A1}</a:tableStyleId>
              </a:tblPr>
              <a:tblGrid>
                <a:gridCol w="2262625"/>
                <a:gridCol w="3917900"/>
                <a:gridCol w="4668450"/>
              </a:tblGrid>
              <a:tr h="739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 Desktop (x86)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Single Board Computer (ARM)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</a:tr>
              <a:tr h="739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Architecture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Complex (CISC)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Reduced (RISC)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739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Storage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SATA / NVMe SSD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MicroSD / PCIe NVMe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739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Power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150W - 600W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15W - 25W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739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I/O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USB / PCIe / Thunderbolt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GPIO / I2C / SPI / MIPI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POWER OPERATING PRINCIPLES</a:t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666750" y="2264419"/>
            <a:ext cx="5400675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Technical Specs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66750" y="2868215"/>
            <a:ext cx="5143500" cy="1386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Raspberry Pi 5 requires a </a:t>
            </a: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5V / 5A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USB-C PD supply for peak performance. The dedicated </a:t>
            </a: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DA9091 PMIC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manages internal voltages for the SoC cores, LPDDR4X, and I/O banks.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666750" y="4502348"/>
            <a:ext cx="514350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Limitation: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Inadequate power results in "Under-voltage" throttling, causing system instability.</a:t>
            </a:r>
            <a:endParaRPr/>
          </a:p>
        </p:txBody>
      </p:sp>
      <p:pic>
        <p:nvPicPr>
          <p:cNvPr id="210" name="Google Shape;21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4175" y="2616844"/>
            <a:ext cx="44386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6734175" y="3626494"/>
            <a:ext cx="443865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Supports Power Delivery (PD) to negotiate higher currents for external USB peripherals.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/>
          <p:nvPr/>
        </p:nvSpPr>
        <p:spPr>
          <a:xfrm>
            <a:off x="5143500" y="1428750"/>
            <a:ext cx="1905000" cy="11430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95287" y="1924050"/>
            <a:ext cx="11401425" cy="9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Core Architecture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666750" y="3093690"/>
            <a:ext cx="108585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Silicon, Memory, and the RP1 Southbridge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BCM2712 DEEP DIVE</a:t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666750" y="2653903"/>
            <a:ext cx="5400675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Compute Engine</a:t>
            </a:r>
            <a:endParaRPr/>
          </a:p>
        </p:txBody>
      </p:sp>
      <p:pic>
        <p:nvPicPr>
          <p:cNvPr id="230" name="Google Shape;23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4175" y="3006328"/>
            <a:ext cx="44386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 txBox="1"/>
          <p:nvPr/>
        </p:nvSpPr>
        <p:spPr>
          <a:xfrm>
            <a:off x="6734175" y="4015978"/>
            <a:ext cx="443865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3x performance increase over Raspberry Pi 4 due to re-architected pipelines.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1143000" y="3152923"/>
            <a:ext cx="466725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CPU: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Quad-core ARM Cortex-A76 (2.4GHz).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1143000" y="4017615"/>
            <a:ext cx="4667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GPU: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VideoCore VII (OpenGL ES 3.1).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1143000" y="4535685"/>
            <a:ext cx="466725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Bus: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Internal AXI bus fabric for low-latency memory access.</a:t>
            </a:r>
            <a:endParaRPr/>
          </a:p>
        </p:txBody>
      </p:sp>
      <p:pic>
        <p:nvPicPr>
          <p:cNvPr id="235" name="Google Shape;23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19102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05571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57378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233017"/>
            <a:ext cx="5143500" cy="358824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RP1 CONTROLLER</a:t>
            </a:r>
            <a:endParaRPr/>
          </a:p>
        </p:txBody>
      </p:sp>
      <p:sp>
        <p:nvSpPr>
          <p:cNvPr id="244" name="Google Shape;244;p25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666750" y="2233017"/>
            <a:ext cx="5400675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Custom Silicon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666750" y="2836812"/>
            <a:ext cx="5143500" cy="1386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 the first time, RPi uses in-house silicon for I/O. The </a:t>
            </a: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RP1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manages Ethernet, USB 3.0, and GPIO, connected to the main SoC via PCIe lanes.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666750" y="4470945"/>
            <a:ext cx="514350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Impact: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Massive bandwidth boost for all external peripherals without taxing the main CPU cores.</a:t>
            </a:r>
            <a:endParaRPr/>
          </a:p>
        </p:txBody>
      </p:sp>
      <p:pic>
        <p:nvPicPr>
          <p:cNvPr id="250" name="Google Shape;25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271117"/>
            <a:ext cx="5067300" cy="3512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767781"/>
            <a:ext cx="10858500" cy="1445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3247553"/>
            <a:ext cx="10858500" cy="1807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" y="5089273"/>
            <a:ext cx="10858500" cy="138642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6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LPDDR4X MEMORY SUBSYSTEM</a:t>
            </a:r>
            <a:endParaRPr/>
          </a:p>
        </p:txBody>
      </p:sp>
      <p:sp>
        <p:nvSpPr>
          <p:cNvPr id="259" name="Google Shape;259;p26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 txBox="1"/>
          <p:nvPr/>
        </p:nvSpPr>
        <p:spPr>
          <a:xfrm>
            <a:off x="765333" y="2120205"/>
            <a:ext cx="1066133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Bandwidth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1019175" y="2866876"/>
            <a:ext cx="101536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LPDDR4X-4267 SDRAM providing peak bandwidth of 17 GB/s.</a:t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765333" y="4165996"/>
            <a:ext cx="1066133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 dirty="0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Unified RAM</a:t>
            </a:r>
            <a:endParaRPr dirty="0"/>
          </a:p>
        </p:txBody>
      </p:sp>
      <p:sp>
        <p:nvSpPr>
          <p:cNvPr id="265" name="Google Shape;265;p26"/>
          <p:cNvSpPr txBox="1"/>
          <p:nvPr/>
        </p:nvSpPr>
        <p:spPr>
          <a:xfrm>
            <a:off x="1076325" y="4544093"/>
            <a:ext cx="101536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GPU and CPU share the same memory pool (User-configurable split).</a:t>
            </a:r>
            <a:endParaRPr dirty="0"/>
          </a:p>
        </p:txBody>
      </p:sp>
      <p:sp>
        <p:nvSpPr>
          <p:cNvPr id="266" name="Google Shape;266;p26"/>
          <p:cNvSpPr txBox="1"/>
          <p:nvPr/>
        </p:nvSpPr>
        <p:spPr>
          <a:xfrm>
            <a:off x="781050" y="5270503"/>
            <a:ext cx="10661332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 dirty="0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Capacity</a:t>
            </a:r>
            <a:endParaRPr dirty="0"/>
          </a:p>
        </p:txBody>
      </p:sp>
      <p:sp>
        <p:nvSpPr>
          <p:cNvPr id="267" name="Google Shape;267;p26"/>
          <p:cNvSpPr txBox="1"/>
          <p:nvPr/>
        </p:nvSpPr>
        <p:spPr>
          <a:xfrm>
            <a:off x="1076325" y="5807878"/>
            <a:ext cx="1015365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Available in 1GB to 8GB variants for diverse compute loads.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233017"/>
            <a:ext cx="5143500" cy="358824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7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EXPANSION &amp; HIGH-SPEED I/O</a:t>
            </a:r>
            <a:endParaRPr/>
          </a:p>
        </p:txBody>
      </p:sp>
      <p:sp>
        <p:nvSpPr>
          <p:cNvPr id="274" name="Google Shape;274;p27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7"/>
          <p:cNvSpPr txBox="1"/>
          <p:nvPr/>
        </p:nvSpPr>
        <p:spPr>
          <a:xfrm>
            <a:off x="666750" y="2233017"/>
            <a:ext cx="5400675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PCIe Gen 2.0 x1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666750" y="2836812"/>
            <a:ext cx="514350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RPi 5 exposes a single PCIe lane, enabling direct connection to NVMe SSDs and high-speed network cards via HATs.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666750" y="4124325"/>
            <a:ext cx="514350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Ethernet: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Dedicated RGMII interface for full 1Gbps throughput.</a:t>
            </a:r>
            <a:endParaRPr/>
          </a:p>
        </p:txBody>
      </p:sp>
      <p:pic>
        <p:nvPicPr>
          <p:cNvPr id="280" name="Google Shape;28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271117"/>
            <a:ext cx="5067300" cy="3512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/>
          <p:nvPr/>
        </p:nvSpPr>
        <p:spPr>
          <a:xfrm>
            <a:off x="5143500" y="1428750"/>
            <a:ext cx="1905000" cy="11430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8"/>
          <p:cNvSpPr txBox="1"/>
          <p:nvPr/>
        </p:nvSpPr>
        <p:spPr>
          <a:xfrm>
            <a:off x="395287" y="1924050"/>
            <a:ext cx="11401425" cy="1843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Embedded Linux Foundations</a:t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666750" y="4015680"/>
            <a:ext cx="108585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Kernel Architecture, Shell &amp; Filesystems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LINUX KERNEL LAYERS</a:t>
            </a:r>
            <a:endParaRPr/>
          </a:p>
        </p:txBody>
      </p:sp>
      <p:sp>
        <p:nvSpPr>
          <p:cNvPr id="296" name="Google Shape;296;p29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9"/>
          <p:cNvSpPr txBox="1"/>
          <p:nvPr/>
        </p:nvSpPr>
        <p:spPr>
          <a:xfrm>
            <a:off x="666750" y="2730103"/>
            <a:ext cx="514350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Kernel acts as the "Manager" between User Applications and Physical Hardware.</a:t>
            </a:r>
            <a:endParaRPr/>
          </a:p>
        </p:txBody>
      </p:sp>
      <p:sp>
        <p:nvSpPr>
          <p:cNvPr id="301" name="Google Shape;301;p29"/>
          <p:cNvSpPr txBox="1"/>
          <p:nvPr/>
        </p:nvSpPr>
        <p:spPr>
          <a:xfrm>
            <a:off x="1143000" y="3670994"/>
            <a:ext cx="4667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User Space: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Shell, Python, User Apps.</a:t>
            </a:r>
            <a:endParaRPr/>
          </a:p>
        </p:txBody>
      </p:sp>
      <p:sp>
        <p:nvSpPr>
          <p:cNvPr id="302" name="Google Shape;302;p29"/>
          <p:cNvSpPr txBox="1"/>
          <p:nvPr/>
        </p:nvSpPr>
        <p:spPr>
          <a:xfrm>
            <a:off x="1143000" y="4189065"/>
            <a:ext cx="4667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Kernel Space: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Process scheduling, Drivers.</a:t>
            </a:r>
            <a:endParaRPr/>
          </a:p>
        </p:txBody>
      </p:sp>
      <p:sp>
        <p:nvSpPr>
          <p:cNvPr id="303" name="Google Shape;303;p29"/>
          <p:cNvSpPr txBox="1"/>
          <p:nvPr/>
        </p:nvSpPr>
        <p:spPr>
          <a:xfrm>
            <a:off x="1143000" y="4707135"/>
            <a:ext cx="466725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Hardware Abstraction: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Unified interface for sensors.</a:t>
            </a:r>
            <a:endParaRPr/>
          </a:p>
        </p:txBody>
      </p:sp>
      <p:pic>
        <p:nvPicPr>
          <p:cNvPr id="304" name="Google Shape;30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370909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422716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474523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2558653"/>
            <a:ext cx="5143500" cy="2936974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0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FILESYSTEM HIERARCHY (FHS)</a:t>
            </a:r>
            <a:endParaRPr/>
          </a:p>
        </p:txBody>
      </p:sp>
      <p:sp>
        <p:nvSpPr>
          <p:cNvPr id="313" name="Google Shape;313;p30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850" y="2596753"/>
            <a:ext cx="5067300" cy="28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0"/>
          <p:cNvSpPr txBox="1"/>
          <p:nvPr/>
        </p:nvSpPr>
        <p:spPr>
          <a:xfrm>
            <a:off x="6858000" y="2558653"/>
            <a:ext cx="4667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/bin &amp; /sbin: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Essential binaries.</a:t>
            </a:r>
            <a:endParaRPr/>
          </a:p>
        </p:txBody>
      </p:sp>
      <p:sp>
        <p:nvSpPr>
          <p:cNvPr id="318" name="Google Shape;318;p30"/>
          <p:cNvSpPr txBox="1"/>
          <p:nvPr/>
        </p:nvSpPr>
        <p:spPr>
          <a:xfrm>
            <a:off x="6858000" y="3076723"/>
            <a:ext cx="4667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/etc: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Configuration files.</a:t>
            </a:r>
            <a:endParaRPr/>
          </a:p>
        </p:txBody>
      </p:sp>
      <p:sp>
        <p:nvSpPr>
          <p:cNvPr id="319" name="Google Shape;319;p30"/>
          <p:cNvSpPr txBox="1"/>
          <p:nvPr/>
        </p:nvSpPr>
        <p:spPr>
          <a:xfrm>
            <a:off x="6858000" y="3594794"/>
            <a:ext cx="4667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/dev: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Hardware devices as files.</a:t>
            </a:r>
            <a:endParaRPr/>
          </a:p>
        </p:txBody>
      </p:sp>
      <p:sp>
        <p:nvSpPr>
          <p:cNvPr id="320" name="Google Shape;320;p30"/>
          <p:cNvSpPr txBox="1"/>
          <p:nvPr/>
        </p:nvSpPr>
        <p:spPr>
          <a:xfrm>
            <a:off x="6858000" y="4112865"/>
            <a:ext cx="4667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/var: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Variable data (logs/caches).</a:t>
            </a:r>
            <a:endParaRPr/>
          </a:p>
        </p:txBody>
      </p:sp>
      <p:sp>
        <p:nvSpPr>
          <p:cNvPr id="321" name="Google Shape;321;p30"/>
          <p:cNvSpPr txBox="1"/>
          <p:nvPr/>
        </p:nvSpPr>
        <p:spPr>
          <a:xfrm>
            <a:off x="6858000" y="4630935"/>
            <a:ext cx="466725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/proc &amp; /sys: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Virtual filesystems for kernel info.</a:t>
            </a:r>
            <a:endParaRPr/>
          </a:p>
        </p:txBody>
      </p:sp>
      <p:pic>
        <p:nvPicPr>
          <p:cNvPr id="322" name="Google Shape;322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59675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11482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63289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15096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66903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767780"/>
            <a:ext cx="10858500" cy="451871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LINUX BOOT SEQUENCE</a:t>
            </a:r>
            <a:endParaRPr/>
          </a:p>
        </p:txBody>
      </p:sp>
      <p:sp>
        <p:nvSpPr>
          <p:cNvPr id="333" name="Google Shape;333;p31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767780"/>
            <a:ext cx="3429000" cy="4518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1500" y="1767780"/>
            <a:ext cx="3429000" cy="4518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0" y="1767780"/>
            <a:ext cx="3429000" cy="4518719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LINUX DISTRIBUTIONS (DISTROS)</a:t>
            </a:r>
            <a:endParaRPr/>
          </a:p>
        </p:txBody>
      </p:sp>
      <p:sp>
        <p:nvSpPr>
          <p:cNvPr id="344" name="Google Shape;344;p32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2"/>
          <p:cNvSpPr txBox="1"/>
          <p:nvPr/>
        </p:nvSpPr>
        <p:spPr>
          <a:xfrm>
            <a:off x="951071" y="3010048"/>
            <a:ext cx="2860357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Raspberry Pi OS</a:t>
            </a:r>
            <a:endParaRPr/>
          </a:p>
        </p:txBody>
      </p:sp>
      <p:sp>
        <p:nvSpPr>
          <p:cNvPr id="348" name="Google Shape;348;p32"/>
          <p:cNvSpPr txBox="1"/>
          <p:nvPr/>
        </p:nvSpPr>
        <p:spPr>
          <a:xfrm>
            <a:off x="1019175" y="3756719"/>
            <a:ext cx="272415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Standardized, Debian-based, easy to use for rapid development.</a:t>
            </a:r>
            <a:endParaRPr/>
          </a:p>
        </p:txBody>
      </p:sp>
      <p:sp>
        <p:nvSpPr>
          <p:cNvPr id="349" name="Google Shape;349;p32"/>
          <p:cNvSpPr txBox="1"/>
          <p:nvPr/>
        </p:nvSpPr>
        <p:spPr>
          <a:xfrm>
            <a:off x="4665821" y="3010048"/>
            <a:ext cx="2860357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Ubuntu Core</a:t>
            </a:r>
            <a:endParaRPr/>
          </a:p>
        </p:txBody>
      </p:sp>
      <p:sp>
        <p:nvSpPr>
          <p:cNvPr id="350" name="Google Shape;350;p32"/>
          <p:cNvSpPr txBox="1"/>
          <p:nvPr/>
        </p:nvSpPr>
        <p:spPr>
          <a:xfrm>
            <a:off x="4733925" y="3756719"/>
            <a:ext cx="272415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Security-focused, transactional updates for mass IoT deployment.</a:t>
            </a:r>
            <a:endParaRPr/>
          </a:p>
        </p:txBody>
      </p:sp>
      <p:sp>
        <p:nvSpPr>
          <p:cNvPr id="351" name="Google Shape;351;p32"/>
          <p:cNvSpPr txBox="1"/>
          <p:nvPr/>
        </p:nvSpPr>
        <p:spPr>
          <a:xfrm>
            <a:off x="8380571" y="3010048"/>
            <a:ext cx="2860357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Yocto / Buildroot</a:t>
            </a:r>
            <a:endParaRPr/>
          </a:p>
        </p:txBody>
      </p:sp>
      <p:sp>
        <p:nvSpPr>
          <p:cNvPr id="352" name="Google Shape;352;p32"/>
          <p:cNvSpPr txBox="1"/>
          <p:nvPr/>
        </p:nvSpPr>
        <p:spPr>
          <a:xfrm>
            <a:off x="8448675" y="3756719"/>
            <a:ext cx="272415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Custom industrial Linux. Extremely small and highly specialized.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3"/>
          <p:cNvSpPr/>
          <p:nvPr/>
        </p:nvSpPr>
        <p:spPr>
          <a:xfrm>
            <a:off x="5143500" y="1428750"/>
            <a:ext cx="1905000" cy="11430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3"/>
          <p:cNvSpPr txBox="1"/>
          <p:nvPr/>
        </p:nvSpPr>
        <p:spPr>
          <a:xfrm>
            <a:off x="395287" y="1924050"/>
            <a:ext cx="11401425" cy="9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Technical Deep Dive</a:t>
            </a:r>
            <a:endParaRPr/>
          </a:p>
        </p:txBody>
      </p:sp>
      <p:sp>
        <p:nvSpPr>
          <p:cNvPr id="361" name="Google Shape;361;p33"/>
          <p:cNvSpPr txBox="1"/>
          <p:nvPr/>
        </p:nvSpPr>
        <p:spPr>
          <a:xfrm>
            <a:off x="666750" y="3093690"/>
            <a:ext cx="108585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Device Trees, systemd &amp; Shell Mastery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4406056"/>
            <a:ext cx="5143500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4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DEVICE TREE OVERLAYS</a:t>
            </a:r>
            <a:endParaRPr/>
          </a:p>
        </p:txBody>
      </p:sp>
      <p:sp>
        <p:nvSpPr>
          <p:cNvPr id="368" name="Google Shape;368;p34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4"/>
          <p:cNvSpPr txBox="1"/>
          <p:nvPr/>
        </p:nvSpPr>
        <p:spPr>
          <a:xfrm>
            <a:off x="666750" y="2771923"/>
            <a:ext cx="5143500" cy="1386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Device Tree (DT)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 a data structure describing hardware to the Kernel. </a:t>
            </a: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Overlays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allow you to add peripherals at runtime without re-compiling the kernel.</a:t>
            </a:r>
            <a:endParaRPr/>
          </a:p>
        </p:txBody>
      </p:sp>
      <p:pic>
        <p:nvPicPr>
          <p:cNvPr id="372" name="Google Shape;372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34175" y="2876698"/>
            <a:ext cx="44386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4"/>
          <p:cNvSpPr txBox="1"/>
          <p:nvPr/>
        </p:nvSpPr>
        <p:spPr>
          <a:xfrm>
            <a:off x="6734175" y="3886348"/>
            <a:ext cx="443865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Enables the same Kernel to run on hundreds of different board revisions.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467123"/>
            <a:ext cx="5143500" cy="3120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002285"/>
            <a:ext cx="5143500" cy="12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5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SYSTEMD INIT SYSTEM</a:t>
            </a:r>
            <a:endParaRPr/>
          </a:p>
        </p:txBody>
      </p:sp>
      <p:sp>
        <p:nvSpPr>
          <p:cNvPr id="381" name="Google Shape;381;p35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5"/>
          <p:cNvSpPr txBox="1"/>
          <p:nvPr/>
        </p:nvSpPr>
        <p:spPr>
          <a:xfrm>
            <a:off x="666750" y="2714773"/>
            <a:ext cx="514350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systemd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manages background services (daemons). It ensures your IoT application starts automatically after a power failure.</a:t>
            </a:r>
            <a:endParaRPr/>
          </a:p>
        </p:txBody>
      </p:sp>
      <p:sp>
        <p:nvSpPr>
          <p:cNvPr id="385" name="Google Shape;385;p35"/>
          <p:cNvSpPr txBox="1"/>
          <p:nvPr/>
        </p:nvSpPr>
        <p:spPr>
          <a:xfrm>
            <a:off x="6734175" y="3067198"/>
            <a:ext cx="44386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sudo systemctl status my_app.service</a:t>
            </a:r>
            <a:endParaRPr/>
          </a:p>
        </p:txBody>
      </p:sp>
      <p:sp>
        <p:nvSpPr>
          <p:cNvPr id="386" name="Google Shape;386;p35"/>
          <p:cNvSpPr txBox="1"/>
          <p:nvPr/>
        </p:nvSpPr>
        <p:spPr>
          <a:xfrm>
            <a:off x="6734175" y="4293840"/>
            <a:ext cx="443865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standard way to monitor, stop, and start industrial application flows.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3476476"/>
            <a:ext cx="10858500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6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BASH SCRIPTING AUTOMATION</a:t>
            </a:r>
            <a:endParaRPr/>
          </a:p>
        </p:txBody>
      </p:sp>
      <p:sp>
        <p:nvSpPr>
          <p:cNvPr id="393" name="Google Shape;393;p36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6"/>
          <p:cNvSpPr txBox="1"/>
          <p:nvPr/>
        </p:nvSpPr>
        <p:spPr>
          <a:xfrm>
            <a:off x="666750" y="2596455"/>
            <a:ext cx="108585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Industrial reliability requires automated tasks. Use </a:t>
            </a: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Bash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 hardware monitoring and log rotation.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7"/>
          <p:cNvSpPr/>
          <p:nvPr/>
        </p:nvSpPr>
        <p:spPr>
          <a:xfrm>
            <a:off x="5143500" y="1428750"/>
            <a:ext cx="1905000" cy="11430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7"/>
          <p:cNvSpPr txBox="1"/>
          <p:nvPr/>
        </p:nvSpPr>
        <p:spPr>
          <a:xfrm>
            <a:off x="395287" y="1924050"/>
            <a:ext cx="11401425" cy="1843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Implementation Workflow</a:t>
            </a:r>
            <a:endParaRPr/>
          </a:p>
        </p:txBody>
      </p:sp>
      <p:sp>
        <p:nvSpPr>
          <p:cNvPr id="405" name="Google Shape;405;p37"/>
          <p:cNvSpPr txBox="1"/>
          <p:nvPr/>
        </p:nvSpPr>
        <p:spPr>
          <a:xfrm>
            <a:off x="666750" y="4015680"/>
            <a:ext cx="108585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Configuration, Programming &amp; Toolchains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HEADLESS SETUP (SSH)</a:t>
            </a:r>
            <a:endParaRPr/>
          </a:p>
        </p:txBody>
      </p:sp>
      <p:sp>
        <p:nvSpPr>
          <p:cNvPr id="411" name="Google Shape;411;p38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8"/>
          <p:cNvSpPr txBox="1"/>
          <p:nvPr/>
        </p:nvSpPr>
        <p:spPr>
          <a:xfrm>
            <a:off x="666750" y="2537668"/>
            <a:ext cx="514350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Most industrial nodes run without a monitor (Headless). We use </a:t>
            </a: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SSH (Secure Shell)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 configuration.</a:t>
            </a:r>
            <a:endParaRPr/>
          </a:p>
        </p:txBody>
      </p:sp>
      <p:pic>
        <p:nvPicPr>
          <p:cNvPr id="415" name="Google Shape;415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4175" y="2642443"/>
            <a:ext cx="44386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8"/>
          <p:cNvSpPr txBox="1"/>
          <p:nvPr/>
        </p:nvSpPr>
        <p:spPr>
          <a:xfrm>
            <a:off x="6734175" y="3652093"/>
            <a:ext cx="4438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Command: ssh pi@192.168.1.10</a:t>
            </a:r>
            <a:endParaRPr/>
          </a:p>
        </p:txBody>
      </p:sp>
      <p:sp>
        <p:nvSpPr>
          <p:cNvPr id="417" name="Google Shape;417;p38"/>
          <p:cNvSpPr txBox="1"/>
          <p:nvPr/>
        </p:nvSpPr>
        <p:spPr>
          <a:xfrm>
            <a:off x="1143000" y="3825180"/>
            <a:ext cx="46672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Tool: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raspi-config for CLI interface setup.</a:t>
            </a:r>
            <a:endParaRPr/>
          </a:p>
        </p:txBody>
      </p:sp>
      <p:sp>
        <p:nvSpPr>
          <p:cNvPr id="418" name="Google Shape;418;p38"/>
          <p:cNvSpPr txBox="1"/>
          <p:nvPr/>
        </p:nvSpPr>
        <p:spPr>
          <a:xfrm>
            <a:off x="1143000" y="4362301"/>
            <a:ext cx="4667250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Connectivity: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Static IP or MDNS (.local) addressing.</a:t>
            </a:r>
            <a:endParaRPr/>
          </a:p>
        </p:txBody>
      </p:sp>
      <p:sp>
        <p:nvSpPr>
          <p:cNvPr id="419" name="Google Shape;419;p38"/>
          <p:cNvSpPr txBox="1"/>
          <p:nvPr/>
        </p:nvSpPr>
        <p:spPr>
          <a:xfrm>
            <a:off x="1143000" y="5246042"/>
            <a:ext cx="4667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Remote: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SCP/SFTP for file transfers.</a:t>
            </a:r>
            <a:endParaRPr/>
          </a:p>
        </p:txBody>
      </p:sp>
      <p:pic>
        <p:nvPicPr>
          <p:cNvPr id="420" name="Google Shape;420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86328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40040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528414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767780"/>
            <a:ext cx="3429000" cy="4518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1500" y="1767780"/>
            <a:ext cx="3429000" cy="4518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0" y="1767780"/>
            <a:ext cx="3429000" cy="4518719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9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DEVELOPMENT TOOLCHAINS</a:t>
            </a:r>
            <a:endParaRPr/>
          </a:p>
        </p:txBody>
      </p:sp>
      <p:sp>
        <p:nvSpPr>
          <p:cNvPr id="431" name="Google Shape;431;p39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9"/>
          <p:cNvSpPr txBox="1"/>
          <p:nvPr/>
        </p:nvSpPr>
        <p:spPr>
          <a:xfrm>
            <a:off x="951071" y="3173759"/>
            <a:ext cx="2860357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Python / pip</a:t>
            </a:r>
            <a:endParaRPr/>
          </a:p>
        </p:txBody>
      </p:sp>
      <p:sp>
        <p:nvSpPr>
          <p:cNvPr id="435" name="Google Shape;435;p39"/>
          <p:cNvSpPr txBox="1"/>
          <p:nvPr/>
        </p:nvSpPr>
        <p:spPr>
          <a:xfrm>
            <a:off x="1019175" y="3920430"/>
            <a:ext cx="2724150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High-level libraries like paho-mqtt and gpiozero.</a:t>
            </a:r>
            <a:endParaRPr/>
          </a:p>
        </p:txBody>
      </p:sp>
      <p:sp>
        <p:nvSpPr>
          <p:cNvPr id="436" name="Google Shape;436;p39"/>
          <p:cNvSpPr txBox="1"/>
          <p:nvPr/>
        </p:nvSpPr>
        <p:spPr>
          <a:xfrm>
            <a:off x="4665821" y="3010048"/>
            <a:ext cx="2860357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 / C++ (GCC)</a:t>
            </a:r>
            <a:endParaRPr/>
          </a:p>
        </p:txBody>
      </p:sp>
      <p:sp>
        <p:nvSpPr>
          <p:cNvPr id="437" name="Google Shape;437;p39"/>
          <p:cNvSpPr txBox="1"/>
          <p:nvPr/>
        </p:nvSpPr>
        <p:spPr>
          <a:xfrm>
            <a:off x="4733925" y="3756719"/>
            <a:ext cx="272415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 high-performance drivers and memory-critical tasks.</a:t>
            </a:r>
            <a:endParaRPr/>
          </a:p>
        </p:txBody>
      </p:sp>
      <p:sp>
        <p:nvSpPr>
          <p:cNvPr id="438" name="Google Shape;438;p39"/>
          <p:cNvSpPr txBox="1"/>
          <p:nvPr/>
        </p:nvSpPr>
        <p:spPr>
          <a:xfrm>
            <a:off x="8380571" y="3010048"/>
            <a:ext cx="2860357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Node-RED</a:t>
            </a:r>
            <a:endParaRPr/>
          </a:p>
        </p:txBody>
      </p:sp>
      <p:sp>
        <p:nvSpPr>
          <p:cNvPr id="439" name="Google Shape;439;p39"/>
          <p:cNvSpPr txBox="1"/>
          <p:nvPr/>
        </p:nvSpPr>
        <p:spPr>
          <a:xfrm>
            <a:off x="8448675" y="3756719"/>
            <a:ext cx="272415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Visual programming for rapid dashboarding and logic flow.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0"/>
          <p:cNvSpPr txBox="1"/>
          <p:nvPr/>
        </p:nvSpPr>
        <p:spPr>
          <a:xfrm>
            <a:off x="904875" y="1047750"/>
            <a:ext cx="4750593" cy="963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USE CASE: OPERATOR HMI</a:t>
            </a:r>
            <a:endParaRPr/>
          </a:p>
        </p:txBody>
      </p:sp>
      <p:sp>
        <p:nvSpPr>
          <p:cNvPr id="445" name="Google Shape;445;p40"/>
          <p:cNvSpPr/>
          <p:nvPr/>
        </p:nvSpPr>
        <p:spPr>
          <a:xfrm>
            <a:off x="666750" y="1047750"/>
            <a:ext cx="114300" cy="9638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40"/>
          <p:cNvSpPr txBox="1"/>
          <p:nvPr/>
        </p:nvSpPr>
        <p:spPr>
          <a:xfrm>
            <a:off x="666750" y="2249685"/>
            <a:ext cx="5000625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 Interface</a:t>
            </a:r>
            <a:endParaRPr/>
          </a:p>
        </p:txBody>
      </p:sp>
      <p:sp>
        <p:nvSpPr>
          <p:cNvPr id="448" name="Google Shape;448;p40"/>
          <p:cNvSpPr txBox="1"/>
          <p:nvPr/>
        </p:nvSpPr>
        <p:spPr>
          <a:xfrm>
            <a:off x="666750" y="2996356"/>
            <a:ext cx="4762500" cy="1386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Using RPi 5 to drive industrial touch-screens. Kiosk mode Chromium allows web-based dashboards to act as local controllers for PLCs.</a:t>
            </a:r>
            <a:endParaRPr/>
          </a:p>
        </p:txBody>
      </p:sp>
      <p:sp>
        <p:nvSpPr>
          <p:cNvPr id="449" name="Google Shape;449;p40"/>
          <p:cNvSpPr txBox="1"/>
          <p:nvPr/>
        </p:nvSpPr>
        <p:spPr>
          <a:xfrm>
            <a:off x="1143000" y="4630489"/>
            <a:ext cx="4286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Real-time OEE Dashboard.</a:t>
            </a:r>
            <a:endParaRPr/>
          </a:p>
        </p:txBody>
      </p:sp>
      <p:sp>
        <p:nvSpPr>
          <p:cNvPr id="450" name="Google Shape;450;p40"/>
          <p:cNvSpPr txBox="1"/>
          <p:nvPr/>
        </p:nvSpPr>
        <p:spPr>
          <a:xfrm>
            <a:off x="1143000" y="5148560"/>
            <a:ext cx="4286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Digital Work Instructions.</a:t>
            </a:r>
            <a:endParaRPr/>
          </a:p>
        </p:txBody>
      </p:sp>
      <p:pic>
        <p:nvPicPr>
          <p:cNvPr id="451" name="Google Shape;451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66858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5186660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1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USE CASE: IOT GATEWAY</a:t>
            </a:r>
            <a:endParaRPr/>
          </a:p>
        </p:txBody>
      </p:sp>
      <p:sp>
        <p:nvSpPr>
          <p:cNvPr id="459" name="Google Shape;459;p41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1"/>
          <p:cNvSpPr txBox="1"/>
          <p:nvPr/>
        </p:nvSpPr>
        <p:spPr>
          <a:xfrm>
            <a:off x="981075" y="1929407"/>
            <a:ext cx="5400675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 dirty="0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Bridge</a:t>
            </a:r>
            <a:endParaRPr dirty="0"/>
          </a:p>
        </p:txBody>
      </p:sp>
      <p:sp>
        <p:nvSpPr>
          <p:cNvPr id="464" name="Google Shape;464;p41"/>
          <p:cNvSpPr txBox="1"/>
          <p:nvPr/>
        </p:nvSpPr>
        <p:spPr>
          <a:xfrm>
            <a:off x="904875" y="3041451"/>
            <a:ext cx="10620375" cy="84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Acts as the bridge between legacy serial devices (RS-485/Modbus) and modern Cloud servers. It provides local buffering and encryption.</a:t>
            </a:r>
            <a:endParaRPr dirty="0"/>
          </a:p>
        </p:txBody>
      </p:sp>
      <p:sp>
        <p:nvSpPr>
          <p:cNvPr id="465" name="Google Shape;465;p41"/>
          <p:cNvSpPr txBox="1"/>
          <p:nvPr/>
        </p:nvSpPr>
        <p:spPr>
          <a:xfrm>
            <a:off x="981074" y="4290959"/>
            <a:ext cx="6675319" cy="84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Impact: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Secure, stable connectivity for brown-field factory floors.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088802"/>
            <a:ext cx="5143500" cy="38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42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USE CASE: EDGE AI</a:t>
            </a:r>
            <a:endParaRPr/>
          </a:p>
        </p:txBody>
      </p:sp>
      <p:sp>
        <p:nvSpPr>
          <p:cNvPr id="472" name="Google Shape;472;p42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2"/>
          <p:cNvSpPr txBox="1"/>
          <p:nvPr/>
        </p:nvSpPr>
        <p:spPr>
          <a:xfrm>
            <a:off x="666750" y="2088802"/>
            <a:ext cx="5400675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AE2D2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Local Inference</a:t>
            </a:r>
            <a:endParaRPr/>
          </a:p>
        </p:txBody>
      </p:sp>
      <p:sp>
        <p:nvSpPr>
          <p:cNvPr id="476" name="Google Shape;476;p42"/>
          <p:cNvSpPr txBox="1"/>
          <p:nvPr/>
        </p:nvSpPr>
        <p:spPr>
          <a:xfrm>
            <a:off x="666750" y="2692598"/>
            <a:ext cx="514350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Running Neural Networks (TensorFlow Lite) directly on RPi 5 to identify defects in manufacturing without cloud latency.</a:t>
            </a:r>
            <a:endParaRPr/>
          </a:p>
        </p:txBody>
      </p:sp>
      <p:sp>
        <p:nvSpPr>
          <p:cNvPr id="477" name="Google Shape;477;p42"/>
          <p:cNvSpPr txBox="1"/>
          <p:nvPr/>
        </p:nvSpPr>
        <p:spPr>
          <a:xfrm>
            <a:off x="666750" y="3980110"/>
            <a:ext cx="514350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Benefit: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100% Privacy and Zero dependency on internet uptime.</a:t>
            </a:r>
            <a:endParaRPr/>
          </a:p>
        </p:txBody>
      </p:sp>
      <p:pic>
        <p:nvPicPr>
          <p:cNvPr id="478" name="Google Shape;478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9850" y="2126902"/>
            <a:ext cx="5067300" cy="38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3"/>
          <p:cNvSpPr/>
          <p:nvPr/>
        </p:nvSpPr>
        <p:spPr>
          <a:xfrm>
            <a:off x="5143500" y="1428750"/>
            <a:ext cx="1905000" cy="11430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3"/>
          <p:cNvSpPr txBox="1"/>
          <p:nvPr/>
        </p:nvSpPr>
        <p:spPr>
          <a:xfrm>
            <a:off x="395287" y="1924050"/>
            <a:ext cx="11401425" cy="9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Mini Project</a:t>
            </a:r>
            <a:endParaRPr/>
          </a:p>
        </p:txBody>
      </p:sp>
      <p:sp>
        <p:nvSpPr>
          <p:cNvPr id="487" name="Google Shape;487;p43"/>
          <p:cNvSpPr txBox="1"/>
          <p:nvPr/>
        </p:nvSpPr>
        <p:spPr>
          <a:xfrm>
            <a:off x="666750" y="3093690"/>
            <a:ext cx="108585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Industrial Edge Data Logger Implementation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4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PROJECT COMPONENTS</a:t>
            </a:r>
            <a:endParaRPr/>
          </a:p>
        </p:txBody>
      </p:sp>
      <p:sp>
        <p:nvSpPr>
          <p:cNvPr id="493" name="Google Shape;493;p44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34175" y="2878484"/>
            <a:ext cx="44386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4"/>
          <p:cNvSpPr txBox="1"/>
          <p:nvPr/>
        </p:nvSpPr>
        <p:spPr>
          <a:xfrm>
            <a:off x="6734175" y="3888134"/>
            <a:ext cx="4438650" cy="103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Objective: Track vibration and temperature trends to predict motor failure.</a:t>
            </a:r>
            <a:endParaRPr/>
          </a:p>
        </p:txBody>
      </p:sp>
      <p:sp>
        <p:nvSpPr>
          <p:cNvPr id="498" name="Google Shape;498;p44"/>
          <p:cNvSpPr txBox="1"/>
          <p:nvPr/>
        </p:nvSpPr>
        <p:spPr>
          <a:xfrm>
            <a:off x="1143000" y="2526059"/>
            <a:ext cx="4667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Gateway: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Raspberry Pi 5.</a:t>
            </a:r>
            <a:endParaRPr/>
          </a:p>
        </p:txBody>
      </p:sp>
      <p:sp>
        <p:nvSpPr>
          <p:cNvPr id="499" name="Google Shape;499;p44"/>
          <p:cNvSpPr txBox="1"/>
          <p:nvPr/>
        </p:nvSpPr>
        <p:spPr>
          <a:xfrm>
            <a:off x="1143000" y="3044130"/>
            <a:ext cx="4667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Sensors: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MPU6050 &amp; BME280 (I2C).</a:t>
            </a:r>
            <a:endParaRPr/>
          </a:p>
        </p:txBody>
      </p:sp>
      <p:sp>
        <p:nvSpPr>
          <p:cNvPr id="500" name="Google Shape;500;p44"/>
          <p:cNvSpPr txBox="1"/>
          <p:nvPr/>
        </p:nvSpPr>
        <p:spPr>
          <a:xfrm>
            <a:off x="1143000" y="3562201"/>
            <a:ext cx="4667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Protocol: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MQTT (HiveMQ Broker).</a:t>
            </a:r>
            <a:endParaRPr/>
          </a:p>
        </p:txBody>
      </p:sp>
      <p:sp>
        <p:nvSpPr>
          <p:cNvPr id="501" name="Google Shape;501;p44"/>
          <p:cNvSpPr txBox="1"/>
          <p:nvPr/>
        </p:nvSpPr>
        <p:spPr>
          <a:xfrm>
            <a:off x="1143000" y="4080271"/>
            <a:ext cx="4667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Visualization: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Grafana Dashboard.</a:t>
            </a:r>
            <a:endParaRPr/>
          </a:p>
        </p:txBody>
      </p:sp>
      <p:pic>
        <p:nvPicPr>
          <p:cNvPr id="502" name="Google Shape;502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56415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08223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60030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4118371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2479923"/>
            <a:ext cx="5143500" cy="3094434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5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WORKING PRINCIPLE</a:t>
            </a:r>
            <a:endParaRPr/>
          </a:p>
        </p:txBody>
      </p:sp>
      <p:sp>
        <p:nvSpPr>
          <p:cNvPr id="512" name="Google Shape;512;p45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5" name="Google Shape;515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4850" y="2518023"/>
            <a:ext cx="5067300" cy="3018234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45"/>
          <p:cNvSpPr txBox="1"/>
          <p:nvPr/>
        </p:nvSpPr>
        <p:spPr>
          <a:xfrm>
            <a:off x="6381750" y="2727573"/>
            <a:ext cx="5143500" cy="209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Polling: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Python script reads I2C busses every 1s.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2. </a:t>
            </a: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Formatting: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Data converted to JSON.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3. </a:t>
            </a: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Pub/Sub: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Published to factory/vib topic.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4. </a:t>
            </a:r>
            <a:r>
              <a:rPr lang="en-US" sz="1950" b="1" i="0" u="none" strike="noStrike" cap="none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Auto-start:</a:t>
            </a: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Systemd ensures service resilience.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6"/>
          <p:cNvSpPr txBox="1"/>
          <p:nvPr/>
        </p:nvSpPr>
        <p:spPr>
          <a:xfrm>
            <a:off x="904875" y="1047750"/>
            <a:ext cx="11151393" cy="48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TECHNICAL INTERVIEW PREP</a:t>
            </a:r>
            <a:endParaRPr/>
          </a:p>
        </p:txBody>
      </p:sp>
      <p:sp>
        <p:nvSpPr>
          <p:cNvPr id="522" name="Google Shape;522;p46"/>
          <p:cNvSpPr/>
          <p:nvPr/>
        </p:nvSpPr>
        <p:spPr>
          <a:xfrm>
            <a:off x="666750" y="1047750"/>
            <a:ext cx="114300" cy="481905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6"/>
          <p:cNvSpPr txBox="1"/>
          <p:nvPr/>
        </p:nvSpPr>
        <p:spPr>
          <a:xfrm>
            <a:off x="1143000" y="2731889"/>
            <a:ext cx="10382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What is the significance of the /proc filesystem in Linux?</a:t>
            </a:r>
            <a:endParaRPr/>
          </a:p>
        </p:txBody>
      </p:sp>
      <p:sp>
        <p:nvSpPr>
          <p:cNvPr id="526" name="Google Shape;526;p46"/>
          <p:cNvSpPr txBox="1"/>
          <p:nvPr/>
        </p:nvSpPr>
        <p:spPr>
          <a:xfrm>
            <a:off x="1143000" y="3249959"/>
            <a:ext cx="10382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How does an I2C protocol address 127 different devices?</a:t>
            </a:r>
            <a:endParaRPr/>
          </a:p>
        </p:txBody>
      </p:sp>
      <p:sp>
        <p:nvSpPr>
          <p:cNvPr id="527" name="Google Shape;527;p46"/>
          <p:cNvSpPr txBox="1"/>
          <p:nvPr/>
        </p:nvSpPr>
        <p:spPr>
          <a:xfrm>
            <a:off x="1143000" y="3768030"/>
            <a:ext cx="10382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Differentiate between Kernel Space and User Space.</a:t>
            </a:r>
            <a:endParaRPr/>
          </a:p>
        </p:txBody>
      </p:sp>
      <p:sp>
        <p:nvSpPr>
          <p:cNvPr id="528" name="Google Shape;528;p46"/>
          <p:cNvSpPr txBox="1"/>
          <p:nvPr/>
        </p:nvSpPr>
        <p:spPr>
          <a:xfrm>
            <a:off x="1143000" y="4286101"/>
            <a:ext cx="10382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What is a Device Tree Overlay and why is it used for HATs?</a:t>
            </a:r>
            <a:endParaRPr/>
          </a:p>
        </p:txBody>
      </p:sp>
      <p:sp>
        <p:nvSpPr>
          <p:cNvPr id="529" name="Google Shape;529;p46"/>
          <p:cNvSpPr txBox="1"/>
          <p:nvPr/>
        </p:nvSpPr>
        <p:spPr>
          <a:xfrm>
            <a:off x="1143000" y="4804171"/>
            <a:ext cx="103822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Explain the "systemd" unit file structure for an IoT app.</a:t>
            </a:r>
            <a:endParaRPr/>
          </a:p>
        </p:txBody>
      </p:sp>
      <p:pic>
        <p:nvPicPr>
          <p:cNvPr id="530" name="Google Shape;530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276998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328805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380613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432420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4842271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7"/>
          <p:cNvSpPr txBox="1"/>
          <p:nvPr/>
        </p:nvSpPr>
        <p:spPr>
          <a:xfrm>
            <a:off x="395287" y="1889819"/>
            <a:ext cx="11401425" cy="859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AE2D2C"/>
                </a:solidFill>
                <a:latin typeface="Poppins"/>
                <a:ea typeface="Poppins"/>
                <a:cs typeface="Poppins"/>
                <a:sym typeface="Poppins"/>
              </a:rPr>
              <a:t>Summary &amp; Conclusion</a:t>
            </a:r>
            <a:endParaRPr/>
          </a:p>
        </p:txBody>
      </p:sp>
      <p:sp>
        <p:nvSpPr>
          <p:cNvPr id="542" name="Google Shape;542;p47"/>
          <p:cNvSpPr txBox="1"/>
          <p:nvPr/>
        </p:nvSpPr>
        <p:spPr>
          <a:xfrm>
            <a:off x="666750" y="3034605"/>
            <a:ext cx="10858500" cy="45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Architecture | Linux | Industrial IoT</a:t>
            </a:r>
            <a:endParaRPr/>
          </a:p>
        </p:txBody>
      </p:sp>
      <p:sp>
        <p:nvSpPr>
          <p:cNvPr id="543" name="Google Shape;543;p47"/>
          <p:cNvSpPr txBox="1"/>
          <p:nvPr/>
        </p:nvSpPr>
        <p:spPr>
          <a:xfrm>
            <a:off x="666750" y="4288035"/>
            <a:ext cx="1085850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connected industrial future is open, modular, and Linux-powered.</a:t>
            </a:r>
            <a:endParaRPr/>
          </a:p>
        </p:txBody>
      </p:sp>
      <p:sp>
        <p:nvSpPr>
          <p:cNvPr id="544" name="Google Shape;544;p47"/>
          <p:cNvSpPr txBox="1"/>
          <p:nvPr/>
        </p:nvSpPr>
        <p:spPr>
          <a:xfrm>
            <a:off x="666750" y="5263306"/>
            <a:ext cx="10858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Q &amp; A SESSION</a:t>
            </a:r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9</TotalTime>
  <Words>1270</Words>
  <Application>Microsoft Office PowerPoint</Application>
  <PresentationFormat>Widescreen</PresentationFormat>
  <Paragraphs>160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Lato</vt:lpstr>
      <vt:lpstr>Trebuchet MS</vt:lpstr>
      <vt:lpstr>Poppins</vt:lpstr>
      <vt:lpstr>Tw Cen MT</vt:lpstr>
      <vt:lpstr>Calibri</vt:lpstr>
      <vt:lpstr>Poppins SemiBold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3</cp:revision>
  <dcterms:modified xsi:type="dcterms:W3CDTF">2026-06-11T07:23:05Z</dcterms:modified>
</cp:coreProperties>
</file>