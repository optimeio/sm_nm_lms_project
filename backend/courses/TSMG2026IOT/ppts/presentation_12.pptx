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Lato" panose="020B0604020202020204" charset="0"/>
      <p:regular r:id="rId31"/>
      <p:bold r:id="rId32"/>
      <p:italic r:id="rId33"/>
      <p:boldItalic r:id="rId34"/>
    </p:embeddedFont>
    <p:embeddedFont>
      <p:font typeface="Poppins" panose="020B0604020202020204" charset="0"/>
      <p:regular r:id="rId35"/>
      <p:bold r:id="rId36"/>
      <p:italic r:id="rId37"/>
      <p:boldItalic r:id="rId38"/>
    </p:embeddedFont>
    <p:embeddedFont>
      <p:font typeface="Poppins SemiBold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AD6D45-09E8-4BCC-8D9D-11D12ED9F9E7}">
  <a:tblStyle styleId="{4AAD6D45-09E8-4BCC-8D9D-11D12ED9F9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4660"/>
  </p:normalViewPr>
  <p:slideViewPr>
    <p:cSldViewPr snapToGrid="0">
      <p:cViewPr>
        <p:scale>
          <a:sx n="33" d="100"/>
          <a:sy n="33" d="100"/>
        </p:scale>
        <p:origin x="2502" y="8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5779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5145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397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6964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1051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4330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8079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6431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2330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7608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5681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72557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8977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1884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86125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47132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0827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85324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960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056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60339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3" name="Google Shape;4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00868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4482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21918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179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23" y="165100"/>
            <a:ext cx="1228777" cy="7138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563" y="245007"/>
            <a:ext cx="1900238" cy="554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e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495300" y="1115466"/>
            <a:ext cx="11201400" cy="245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Capstone Project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8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Development, Validation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8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&amp; Deployment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79775" y="4264012"/>
            <a:ext cx="10668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AE2D2C"/>
                </a:solidFill>
                <a:latin typeface="Lato"/>
                <a:ea typeface="Lato"/>
                <a:cs typeface="Lato"/>
                <a:sym typeface="Lato"/>
              </a:rPr>
              <a:t>Professional Engineering Lifecycle Series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5102423"/>
            <a:ext cx="10668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End-to-End System Design Mastery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031801"/>
            <a:ext cx="3365450" cy="405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3200" y="2031801"/>
            <a:ext cx="3365450" cy="405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031801"/>
            <a:ext cx="3365599" cy="405333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LEARNING OBJECTIVES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4425" y="2384226"/>
            <a:ext cx="26606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047909" y="3193851"/>
            <a:ext cx="279363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Ideation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14425" y="3972966"/>
            <a:ext cx="266060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Learn to define precise problem statements and conduct market gap analysis.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5625" y="2384226"/>
            <a:ext cx="26606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4699110" y="3193851"/>
            <a:ext cx="279363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Engineering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765625" y="3972966"/>
            <a:ext cx="266060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Master integrated hardware/software design and simulation workflows.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6825" y="2384226"/>
            <a:ext cx="2660749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350307" y="3193851"/>
            <a:ext cx="2793786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Deployment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416825" y="3972966"/>
            <a:ext cx="2660749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Deploy secure, scalable industrial edge nodes with remote observability.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30585"/>
            <a:ext cx="5048250" cy="4780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PHASE 1: IDEATION &amp; RESEARCH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2097285"/>
            <a:ext cx="50482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Every successful project begins with identifying a genuine friction point in industry or society.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1868685"/>
            <a:ext cx="4972050" cy="470415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238250" y="3483768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Market Research: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Analyzing existing patents and competitor products.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238250" y="4401740"/>
            <a:ext cx="457200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Stakeholder Mapping: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Who is the end-user? (Factory Manager, Farmer, Doctor).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238250" y="5692973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Gap Analysis: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Identifying what standard solutions miss.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521868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43984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731073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967061"/>
            <a:ext cx="5048250" cy="343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7061"/>
            <a:ext cx="5048250" cy="418281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PROBLEM STATEMENT DEFINITION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005840" y="2319486"/>
            <a:ext cx="456057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Poor Example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114425" y="3098601"/>
            <a:ext cx="43434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"Build an IoT device for monitoring factories to make them better."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14425" y="4254698"/>
            <a:ext cx="43434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Reason: Too vague, no target metrics, no specific pain point.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25590" y="2319486"/>
            <a:ext cx="456057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2E7D3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Engineering Example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734175" y="3098601"/>
            <a:ext cx="434340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"Develop an edge-based vibration analyzer to detect bearing defects in industrial pumps before failure, reducing downtime by 15%."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734175" y="5001220"/>
            <a:ext cx="43434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Reason: Quantifiable, technical, and industry-focused.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NEED ANALYSIS &amp; CONSTRAINTS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7"/>
          <p:cNvGraphicFramePr/>
          <p:nvPr/>
        </p:nvGraphicFramePr>
        <p:xfrm>
          <a:off x="762000" y="1973460"/>
          <a:ext cx="10658500" cy="4384750"/>
        </p:xfrm>
        <a:graphic>
          <a:graphicData uri="http://schemas.openxmlformats.org/drawingml/2006/table">
            <a:tbl>
              <a:tblPr firstRow="1" bandRow="1">
                <a:noFill/>
                <a:tableStyleId>{4AAD6D45-09E8-4BCC-8D9D-11D12ED9F9E7}</a:tableStyleId>
              </a:tblPr>
              <a:tblGrid>
                <a:gridCol w="2392275"/>
                <a:gridCol w="4172250"/>
                <a:gridCol w="4093975"/>
              </a:tblGrid>
              <a:tr h="876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Requirement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 Requirement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Impact on Design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</a:tr>
              <a:tr h="876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Functional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Device must log temp data every 10ms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Requires high-speed ADC and DMA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876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Environmental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Must operate in -20°C to 70°C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Requires industrial-grade components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876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Connectivity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Must transmit data over 5km distance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Forces LoRaWAN or Cellular choice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876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Power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Must run 2 years on battery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Requires Deep Sleep architecture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30585"/>
            <a:ext cx="5048250" cy="4805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PHASE 2: PROJECT MANAGEMENT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6381750" y="1830585"/>
            <a:ext cx="530066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Planning for Success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381750" y="2495401"/>
            <a:ext cx="50482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Managing dependencies is critical. Hardware delays can stall firmware teams if not tracked.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858000" y="3881883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Gantt Charts: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Mapping task durations and milestones.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858000" y="4799855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Agile Sprints: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Two-week development cycles with clear demo-able outputs.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858000" y="5717827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BOM Tracking: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Managing lead times for silicon components.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919983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83795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575592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What Is a Gantt Chart in Project Management and How to Use I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228700"/>
            <a:ext cx="5524500" cy="331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42529"/>
            <a:ext cx="5048250" cy="383202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762000" y="2409229"/>
            <a:ext cx="50482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capstone IoT project must follow the integrated 4-layer model to be considered industrial-grade.</a:t>
            </a:r>
            <a:endParaRPr/>
          </a:p>
        </p:txBody>
      </p:sp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180629"/>
            <a:ext cx="4972050" cy="375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1238250" y="3795712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Perception: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Sensors/GPIO/ADC.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238250" y="4340423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Network: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MQTT/TLS/TCP.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238250" y="4885134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Processing: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Edge filtering/Cloud DB.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238250" y="5429845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Application: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Dashboards/HMIs.</a:t>
            </a:r>
            <a:endParaRPr/>
          </a:p>
        </p:txBody>
      </p:sp>
      <p:pic>
        <p:nvPicPr>
          <p:cNvPr id="186" name="Google Shape;18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83381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378523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923234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467945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029122"/>
            <a:ext cx="5048250" cy="405869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HARDWARE SELECTION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067222"/>
            <a:ext cx="4972050" cy="398249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381750" y="2029122"/>
            <a:ext cx="530066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Silicon Foundation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381750" y="2693937"/>
            <a:ext cx="50482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Choosing the **Raspberry Pi 5** for Capstone projects provides: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858000" y="3707159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Performance: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Cortex-A76 for Edge AI.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858000" y="4251870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I/O Step-change: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Dedicated RP1 southbridge for stable GPIO.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858000" y="5169842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Software Depth: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Full Linux stack for rapid prototyping.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745259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28997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207942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36614"/>
            <a:ext cx="3328987" cy="324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6737" y="2436614"/>
            <a:ext cx="3328987" cy="324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1475" y="2436614"/>
            <a:ext cx="3438525" cy="324370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SOFTWARE STACK SELECTION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1048821" y="2789039"/>
            <a:ext cx="2755344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Firmware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114425" y="3568154"/>
            <a:ext cx="2624137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Python (Rapid) vs C++ (Performance). Linux kernel overlays for custom peripherals.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663559" y="2789039"/>
            <a:ext cx="2755344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Middleware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729162" y="3568154"/>
            <a:ext cx="2624137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MQTT Brokers (EMQX/Mosquitto) for decoupled messaging layers.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275558" y="2975669"/>
            <a:ext cx="2870358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Cloud/Storage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343900" y="3754784"/>
            <a:ext cx="27336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InfluxDB for time-series logs and Grafana for insights.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54993"/>
            <a:ext cx="5048250" cy="440709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CIRCUIT SIMULATION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762000" y="2121693"/>
            <a:ext cx="50482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Never solder before you simulate. Use LTSpice or Multisim to verify analog conditioning paths.</a:t>
            </a:r>
            <a:endParaRPr/>
          </a:p>
        </p:txBody>
      </p:sp>
      <p:pic>
        <p:nvPicPr>
          <p:cNvPr id="235" name="Google Shape;23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1893093"/>
            <a:ext cx="4972050" cy="433089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1238250" y="3508176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Frequency Response: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Testing hardware filters.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238250" y="4426148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Transient Analysis: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Checking voltage spikes during relay switching.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238250" y="5344120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Power Analysis: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Predicting battery drain cycles.</a:t>
            </a:r>
            <a:endParaRPr/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546276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464248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382220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30585"/>
            <a:ext cx="5048250" cy="480521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PCB DESIGN MASTERY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1868685"/>
            <a:ext cx="4972050" cy="472901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6381750" y="1830585"/>
            <a:ext cx="530066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From Prototype to Product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381750" y="2495401"/>
            <a:ext cx="50482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Transitioning from jumper wires to a custom printed circuit board (PCB) is mandatory for validation.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858000" y="3881883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Signal Integrity: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Managing differential pairs for USB/Ethernet.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858000" y="4799855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Thermal Dissipation: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Designing ground planes for SoC cooling.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858000" y="5717827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DFM: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Designing for manufacturing yield.</a:t>
            </a:r>
            <a:endParaRPr/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919983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83795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755927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/>
          <p:nvPr/>
        </p:nvSpPr>
        <p:spPr>
          <a:xfrm>
            <a:off x="5048250" y="2711350"/>
            <a:ext cx="2095500" cy="11430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95300" y="3206650"/>
            <a:ext cx="11201400" cy="89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Phase 3: Validation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762000" y="4363938"/>
            <a:ext cx="10668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Testing Beyond Functional Benchmarks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298948"/>
            <a:ext cx="5048250" cy="351918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V-MODEL FRAMEWORK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762000" y="2565648"/>
            <a:ext cx="50482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standard systems engineering approach to validation. It ensures every design step has a corresponding test phase.</a:t>
            </a:r>
            <a:endParaRPr/>
          </a:p>
        </p:txBody>
      </p:sp>
      <p:pic>
        <p:nvPicPr>
          <p:cNvPr id="279" name="Google Shape;27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337048"/>
            <a:ext cx="4972050" cy="3442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238250" y="3952130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Left Side: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Requirements and Architectural Design.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238250" y="4870102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Right Side: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Unit, Integration, and Acceptance Testing.</a:t>
            </a:r>
            <a:endParaRPr/>
          </a:p>
        </p:txBody>
      </p:sp>
      <p:pic>
        <p:nvPicPr>
          <p:cNvPr id="282" name="Google Shape;28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99023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908202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029122"/>
            <a:ext cx="5048250" cy="405869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HARDWARE-IN-THE-LOOP (HIL)</a:t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067222"/>
            <a:ext cx="4972050" cy="398249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6381750" y="2029122"/>
            <a:ext cx="530066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Safety-First Testing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6381750" y="2693937"/>
            <a:ext cx="50482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Instead of connecting to real industrial motors or power grids, connect your controller to a real-time simulator.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6858000" y="4080420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Simulate fault states (short circuits, spikes) without destroying hardware.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6858000" y="4998392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Verify real-time control stability.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6858000" y="5543103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 24/7 stress testing.</a:t>
            </a:r>
            <a:endParaRPr/>
          </a:p>
        </p:txBody>
      </p:sp>
      <p:pic>
        <p:nvPicPr>
          <p:cNvPr id="299" name="Google Shape;29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11852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03649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581203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30585"/>
            <a:ext cx="5048250" cy="958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7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ENVIRONMENTAL TESTING</a:t>
            </a:r>
            <a:endParaRPr/>
          </a:p>
        </p:txBody>
      </p:sp>
      <p:sp>
        <p:nvSpPr>
          <p:cNvPr id="308" name="Google Shape;308;p27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1868685"/>
            <a:ext cx="4972050" cy="95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1238250" y="1830585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Thermal Soak: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Running the device at 55°C for 48 hours to find memory leaks.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1238250" y="3393083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Vibration Test: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Ensuring connectors don't shake loose in industrial settings.</a:t>
            </a:r>
            <a:endParaRPr dirty="0"/>
          </a:p>
        </p:txBody>
      </p:sp>
      <p:sp>
        <p:nvSpPr>
          <p:cNvPr id="314" name="Google Shape;314;p27"/>
          <p:cNvSpPr txBox="1"/>
          <p:nvPr/>
        </p:nvSpPr>
        <p:spPr>
          <a:xfrm>
            <a:off x="1238250" y="4377729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EMI/EMC: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Testing radio emissions compliance (CE/FCC standards).</a:t>
            </a:r>
            <a:endParaRPr dirty="0"/>
          </a:p>
        </p:txBody>
      </p:sp>
      <p:pic>
        <p:nvPicPr>
          <p:cNvPr id="315" name="Google Shape;31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86868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53329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455714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/>
          <p:nvPr/>
        </p:nvSpPr>
        <p:spPr>
          <a:xfrm>
            <a:off x="5048250" y="2711350"/>
            <a:ext cx="2095500" cy="11430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495300" y="3206650"/>
            <a:ext cx="11201400" cy="89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Phase 4: Deployment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762000" y="4363938"/>
            <a:ext cx="10668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Transitioning from Lab to Field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45171"/>
            <a:ext cx="3365450" cy="4426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3200" y="1845171"/>
            <a:ext cx="3365450" cy="4426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845171"/>
            <a:ext cx="3365599" cy="442659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9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DEPLOYMENT WORKFLOW</a:t>
            </a:r>
            <a:endParaRPr/>
          </a:p>
        </p:txBody>
      </p:sp>
      <p:sp>
        <p:nvSpPr>
          <p:cNvPr id="335" name="Google Shape;335;p29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4425" y="2197596"/>
            <a:ext cx="26606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 txBox="1"/>
          <p:nvPr/>
        </p:nvSpPr>
        <p:spPr>
          <a:xfrm>
            <a:off x="1047909" y="3007221"/>
            <a:ext cx="279363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Site Survey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1114425" y="3786336"/>
            <a:ext cx="2660600" cy="18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Radio-mapping to ensure Wi-Fi/Cellular signals penetrate factory metal structures.</a:t>
            </a:r>
            <a:endParaRPr/>
          </a:p>
        </p:txBody>
      </p:sp>
      <p:pic>
        <p:nvPicPr>
          <p:cNvPr id="341" name="Google Shape;341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5625" y="2570857"/>
            <a:ext cx="26606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/>
          <p:nvPr/>
        </p:nvSpPr>
        <p:spPr>
          <a:xfrm>
            <a:off x="4699110" y="3380482"/>
            <a:ext cx="279363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Pre-wiring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4765625" y="4159597"/>
            <a:ext cx="266060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Configuring static IPs and SSH keys before shipping to site.</a:t>
            </a:r>
            <a:endParaRPr/>
          </a:p>
        </p:txBody>
      </p:sp>
      <p:pic>
        <p:nvPicPr>
          <p:cNvPr id="344" name="Google Shape;344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6825" y="2384226"/>
            <a:ext cx="2660749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9"/>
          <p:cNvSpPr txBox="1"/>
          <p:nvPr/>
        </p:nvSpPr>
        <p:spPr>
          <a:xfrm>
            <a:off x="8350307" y="3193851"/>
            <a:ext cx="2793786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Pilot Check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8416825" y="3972966"/>
            <a:ext cx="2660749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Running a single unit for one week to establish baseline data fidelity.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41624"/>
            <a:ext cx="5048250" cy="403383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REMOTE FLEET MANAGEMENT</a:t>
            </a:r>
            <a:endParaRPr/>
          </a:p>
        </p:txBody>
      </p:sp>
      <p:sp>
        <p:nvSpPr>
          <p:cNvPr id="353" name="Google Shape;353;p30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762000" y="2308324"/>
            <a:ext cx="50482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Once deployed, the project isn't "over." You must maintain observability.</a:t>
            </a:r>
            <a:endParaRPr/>
          </a:p>
        </p:txBody>
      </p:sp>
      <p:pic>
        <p:nvPicPr>
          <p:cNvPr id="357" name="Google Shape;35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079724"/>
            <a:ext cx="4972050" cy="395763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0"/>
          <p:cNvSpPr txBox="1"/>
          <p:nvPr/>
        </p:nvSpPr>
        <p:spPr>
          <a:xfrm>
            <a:off x="1238250" y="3321546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Heartbeat Signals: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Knowing instantly if a node goes offline.</a:t>
            </a:r>
            <a:endParaRPr/>
          </a:p>
        </p:txBody>
      </p:sp>
      <p:sp>
        <p:nvSpPr>
          <p:cNvPr id="359" name="Google Shape;359;p30"/>
          <p:cNvSpPr txBox="1"/>
          <p:nvPr/>
        </p:nvSpPr>
        <p:spPr>
          <a:xfrm>
            <a:off x="1238250" y="4239517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Metric Logging: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Tracking CPU temperature and memory usage.</a:t>
            </a:r>
            <a:endParaRPr/>
          </a:p>
        </p:txBody>
      </p:sp>
      <p:sp>
        <p:nvSpPr>
          <p:cNvPr id="360" name="Google Shape;360;p30"/>
          <p:cNvSpPr txBox="1"/>
          <p:nvPr/>
        </p:nvSpPr>
        <p:spPr>
          <a:xfrm>
            <a:off x="1238250" y="5157489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Remote Console: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Fixing bugs without physical site visits.</a:t>
            </a:r>
            <a:endParaRPr/>
          </a:p>
        </p:txBody>
      </p:sp>
      <p:pic>
        <p:nvPicPr>
          <p:cNvPr id="361" name="Google Shape;36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359646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27761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195589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30585"/>
            <a:ext cx="504825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1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OVER-THE-AIR (OTA) UPDATES</a:t>
            </a:r>
            <a:endParaRPr/>
          </a:p>
        </p:txBody>
      </p:sp>
      <p:sp>
        <p:nvSpPr>
          <p:cNvPr id="370" name="Google Shape;370;p31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 txBox="1"/>
          <p:nvPr/>
        </p:nvSpPr>
        <p:spPr>
          <a:xfrm>
            <a:off x="762000" y="1830585"/>
            <a:ext cx="530066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Maintaining Security</a:t>
            </a:r>
            <a:endParaRPr/>
          </a:p>
        </p:txBody>
      </p:sp>
      <p:sp>
        <p:nvSpPr>
          <p:cNvPr id="374" name="Google Shape;374;p31"/>
          <p:cNvSpPr txBox="1"/>
          <p:nvPr/>
        </p:nvSpPr>
        <p:spPr>
          <a:xfrm>
            <a:off x="762000" y="2495401"/>
            <a:ext cx="50482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Flashing new code remotely must be secure and resilient.</a:t>
            </a:r>
            <a:endParaRPr/>
          </a:p>
        </p:txBody>
      </p:sp>
      <p:sp>
        <p:nvSpPr>
          <p:cNvPr id="375" name="Google Shape;375;p31"/>
          <p:cNvSpPr txBox="1"/>
          <p:nvPr/>
        </p:nvSpPr>
        <p:spPr>
          <a:xfrm>
            <a:off x="1238250" y="3508623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A/B Rollbacks: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Reverting to last working version if update fails.</a:t>
            </a:r>
            <a:endParaRPr/>
          </a:p>
        </p:txBody>
      </p:sp>
      <p:sp>
        <p:nvSpPr>
          <p:cNvPr id="376" name="Google Shape;376;p31"/>
          <p:cNvSpPr txBox="1"/>
          <p:nvPr/>
        </p:nvSpPr>
        <p:spPr>
          <a:xfrm>
            <a:off x="1238250" y="4426594"/>
            <a:ext cx="457200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Binary Signing: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Using ECDSA keys to ensure code hasn't been tampered with.</a:t>
            </a:r>
            <a:endParaRPr/>
          </a:p>
        </p:txBody>
      </p:sp>
      <p:sp>
        <p:nvSpPr>
          <p:cNvPr id="377" name="Google Shape;377;p31"/>
          <p:cNvSpPr txBox="1"/>
          <p:nvPr/>
        </p:nvSpPr>
        <p:spPr>
          <a:xfrm>
            <a:off x="1238250" y="5717827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Delta Updates: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Sending only changes to save data costs.</a:t>
            </a:r>
            <a:endParaRPr/>
          </a:p>
        </p:txBody>
      </p:sp>
      <p:pic>
        <p:nvPicPr>
          <p:cNvPr id="378" name="Google Shape;37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546723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464694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755927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30585"/>
            <a:ext cx="5048250" cy="4976663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2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PHASE 5: DOCUMENTATION</a:t>
            </a:r>
            <a:endParaRPr/>
          </a:p>
        </p:txBody>
      </p:sp>
      <p:sp>
        <p:nvSpPr>
          <p:cNvPr id="387" name="Google Shape;387;p32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1868685"/>
            <a:ext cx="4972050" cy="4900463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2"/>
          <p:cNvSpPr txBox="1"/>
          <p:nvPr/>
        </p:nvSpPr>
        <p:spPr>
          <a:xfrm>
            <a:off x="6381750" y="1830585"/>
            <a:ext cx="530066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Technical Legacy</a:t>
            </a:r>
            <a:endParaRPr/>
          </a:p>
        </p:txBody>
      </p:sp>
      <p:sp>
        <p:nvSpPr>
          <p:cNvPr id="392" name="Google Shape;392;p32"/>
          <p:cNvSpPr txBox="1"/>
          <p:nvPr/>
        </p:nvSpPr>
        <p:spPr>
          <a:xfrm>
            <a:off x="6381750" y="2495401"/>
            <a:ext cx="50482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 engineer's work is only as good as their documentation. Mandatory sections:</a:t>
            </a:r>
            <a:endParaRPr/>
          </a:p>
        </p:txBody>
      </p:sp>
      <p:sp>
        <p:nvSpPr>
          <p:cNvPr id="393" name="Google Shape;393;p32"/>
          <p:cNvSpPr txBox="1"/>
          <p:nvPr/>
        </p:nvSpPr>
        <p:spPr>
          <a:xfrm>
            <a:off x="6858000" y="3508623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Abstract: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200-word concise summary.</a:t>
            </a:r>
            <a:endParaRPr/>
          </a:p>
        </p:txBody>
      </p:sp>
      <p:sp>
        <p:nvSpPr>
          <p:cNvPr id="394" name="Google Shape;394;p32"/>
          <p:cNvSpPr txBox="1"/>
          <p:nvPr/>
        </p:nvSpPr>
        <p:spPr>
          <a:xfrm>
            <a:off x="6858000" y="4053333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Architecture: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Wiring and Block diagrams.</a:t>
            </a:r>
            <a:endParaRPr/>
          </a:p>
        </p:txBody>
      </p:sp>
      <p:sp>
        <p:nvSpPr>
          <p:cNvPr id="395" name="Google Shape;395;p32"/>
          <p:cNvSpPr txBox="1"/>
          <p:nvPr/>
        </p:nvSpPr>
        <p:spPr>
          <a:xfrm>
            <a:off x="6858000" y="4971305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Test Reports: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Proof of validation results.</a:t>
            </a:r>
            <a:endParaRPr/>
          </a:p>
        </p:txBody>
      </p:sp>
      <p:sp>
        <p:nvSpPr>
          <p:cNvPr id="396" name="Google Shape;396;p32"/>
          <p:cNvSpPr txBox="1"/>
          <p:nvPr/>
        </p:nvSpPr>
        <p:spPr>
          <a:xfrm>
            <a:off x="6858000" y="5889277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User Manual: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How to install and operate.</a:t>
            </a:r>
            <a:endParaRPr/>
          </a:p>
        </p:txBody>
      </p:sp>
      <p:pic>
        <p:nvPicPr>
          <p:cNvPr id="397" name="Google Shape;397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546723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91433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00940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927377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336" y="7576476"/>
            <a:ext cx="1623846" cy="1557274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3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PREPARING THE FINAL PITCH</a:t>
            </a:r>
            <a:endParaRPr/>
          </a:p>
        </p:txBody>
      </p:sp>
      <p:sp>
        <p:nvSpPr>
          <p:cNvPr id="407" name="Google Shape;407;p33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 txBox="1"/>
          <p:nvPr/>
        </p:nvSpPr>
        <p:spPr>
          <a:xfrm>
            <a:off x="1238250" y="2222599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Hook: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Start with the industrial pain point.</a:t>
            </a:r>
            <a:endParaRPr/>
          </a:p>
        </p:txBody>
      </p:sp>
      <p:sp>
        <p:nvSpPr>
          <p:cNvPr id="412" name="Google Shape;412;p33"/>
          <p:cNvSpPr txBox="1"/>
          <p:nvPr/>
        </p:nvSpPr>
        <p:spPr>
          <a:xfrm>
            <a:off x="1238250" y="3140571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Demo: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Show the real-time dashboard data.</a:t>
            </a:r>
            <a:endParaRPr/>
          </a:p>
        </p:txBody>
      </p:sp>
      <p:sp>
        <p:nvSpPr>
          <p:cNvPr id="413" name="Google Shape;413;p33"/>
          <p:cNvSpPr txBox="1"/>
          <p:nvPr/>
        </p:nvSpPr>
        <p:spPr>
          <a:xfrm>
            <a:off x="1238250" y="4058542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Results: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Quantify the improvement (e.g., 20% energy saved).</a:t>
            </a:r>
            <a:endParaRPr/>
          </a:p>
        </p:txBody>
      </p:sp>
      <p:sp>
        <p:nvSpPr>
          <p:cNvPr id="414" name="Google Shape;414;p33"/>
          <p:cNvSpPr txBox="1"/>
          <p:nvPr/>
        </p:nvSpPr>
        <p:spPr>
          <a:xfrm>
            <a:off x="1238250" y="4976514"/>
            <a:ext cx="4572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Scalability: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Explain how to build 1,000 more units.</a:t>
            </a:r>
            <a:endParaRPr/>
          </a:p>
        </p:txBody>
      </p:sp>
      <p:pic>
        <p:nvPicPr>
          <p:cNvPr id="415" name="Google Shape;41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60699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78671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09664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014614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How To Present Team Expertise In A Pitch Deck | Metamindz Blog | Metamindz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1818806"/>
            <a:ext cx="4706089" cy="413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4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UNIT ECONOMICS &amp; BOM</a:t>
            </a:r>
            <a:endParaRPr dirty="0"/>
          </a:p>
        </p:txBody>
      </p:sp>
      <p:sp>
        <p:nvSpPr>
          <p:cNvPr id="424" name="Google Shape;424;p34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4"/>
          <p:cNvSpPr txBox="1"/>
          <p:nvPr/>
        </p:nvSpPr>
        <p:spPr>
          <a:xfrm>
            <a:off x="762000" y="6234558"/>
            <a:ext cx="10668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Scaling reduces the per-unit cost by over 70% through industrial SMT assembly.</a:t>
            </a:r>
            <a:endParaRPr/>
          </a:p>
        </p:txBody>
      </p:sp>
      <p:graphicFrame>
        <p:nvGraphicFramePr>
          <p:cNvPr id="11" name="Google Shape;427;p34"/>
          <p:cNvGraphicFramePr/>
          <p:nvPr>
            <p:extLst>
              <p:ext uri="{D42A27DB-BD31-4B8C-83A1-F6EECF244321}">
                <p14:modId xmlns:p14="http://schemas.microsoft.com/office/powerpoint/2010/main" val="2816172157"/>
              </p:ext>
            </p:extLst>
          </p:nvPr>
        </p:nvGraphicFramePr>
        <p:xfrm>
          <a:off x="762000" y="1973460"/>
          <a:ext cx="10658475" cy="4070550"/>
        </p:xfrm>
        <a:graphic>
          <a:graphicData uri="http://schemas.openxmlformats.org/drawingml/2006/table">
            <a:tbl>
              <a:tblPr firstRow="1" bandRow="1">
                <a:noFill/>
                <a:tableStyleId>{4AAD6D45-09E8-4BCC-8D9D-11D12ED9F9E7}</a:tableStyleId>
              </a:tblPr>
              <a:tblGrid>
                <a:gridCol w="3798400"/>
                <a:gridCol w="3047250"/>
                <a:gridCol w="3812825"/>
              </a:tblGrid>
              <a:tr h="67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Component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Prototype Cost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Scale Cost (1k units)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</a:tr>
              <a:tr h="67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SoC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(Raspberry Pi 5)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₹5713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₹4,951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7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 PCB &amp; SMD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₹14,284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₹1,190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7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Sensors (MEMS/DHT)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₹2,380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₹799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7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Enclosure (IP67)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₹3,333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₹399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7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Base Cost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₹25,712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₹7,342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"/>
          <p:cNvSpPr txBox="1"/>
          <p:nvPr/>
        </p:nvSpPr>
        <p:spPr>
          <a:xfrm>
            <a:off x="952500" y="1047750"/>
            <a:ext cx="1100137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TECHNICAL INTERVIEW PREP</a:t>
            </a:r>
            <a:endParaRPr/>
          </a:p>
        </p:txBody>
      </p:sp>
      <p:sp>
        <p:nvSpPr>
          <p:cNvPr id="434" name="Google Shape;434;p35"/>
          <p:cNvSpPr/>
          <p:nvPr/>
        </p:nvSpPr>
        <p:spPr>
          <a:xfrm>
            <a:off x="7620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1238250" y="2782490"/>
            <a:ext cx="101917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What was the most critical failure during your Integration Testing phase?</a:t>
            </a:r>
            <a:endParaRPr/>
          </a:p>
        </p:txBody>
      </p:sp>
      <p:sp>
        <p:nvSpPr>
          <p:cNvPr id="438" name="Google Shape;438;p35"/>
          <p:cNvSpPr txBox="1"/>
          <p:nvPr/>
        </p:nvSpPr>
        <p:spPr>
          <a:xfrm>
            <a:off x="1238250" y="3327201"/>
            <a:ext cx="101917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How did you ensure your data transmission was secure from local tampering?</a:t>
            </a:r>
            <a:endParaRPr/>
          </a:p>
        </p:txBody>
      </p:sp>
      <p:sp>
        <p:nvSpPr>
          <p:cNvPr id="439" name="Google Shape;439;p35"/>
          <p:cNvSpPr txBox="1"/>
          <p:nvPr/>
        </p:nvSpPr>
        <p:spPr>
          <a:xfrm>
            <a:off x="1238250" y="3871912"/>
            <a:ext cx="101917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Why did you choose a TSDB over a standard SQL database for this project?</a:t>
            </a:r>
            <a:endParaRPr/>
          </a:p>
        </p:txBody>
      </p:sp>
      <p:sp>
        <p:nvSpPr>
          <p:cNvPr id="440" name="Google Shape;440;p35"/>
          <p:cNvSpPr txBox="1"/>
          <p:nvPr/>
        </p:nvSpPr>
        <p:spPr>
          <a:xfrm>
            <a:off x="1238250" y="4416623"/>
            <a:ext cx="10191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Explain the difference between Unit Testing and System Validation in your project context.</a:t>
            </a:r>
            <a:endParaRPr/>
          </a:p>
        </p:txBody>
      </p:sp>
      <p:pic>
        <p:nvPicPr>
          <p:cNvPr id="441" name="Google Shape;44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82059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365301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91001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454723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" y="10477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6"/>
          <p:cNvSpPr txBox="1"/>
          <p:nvPr/>
        </p:nvSpPr>
        <p:spPr>
          <a:xfrm>
            <a:off x="1490422" y="3228525"/>
            <a:ext cx="9211151" cy="95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 dirty="0" smtClean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Summary</a:t>
            </a:r>
            <a:endParaRPr dirty="0"/>
          </a:p>
        </p:txBody>
      </p:sp>
      <p:sp>
        <p:nvSpPr>
          <p:cNvPr id="454" name="Google Shape;454;p36"/>
          <p:cNvSpPr txBox="1"/>
          <p:nvPr/>
        </p:nvSpPr>
        <p:spPr>
          <a:xfrm>
            <a:off x="761999" y="4180709"/>
            <a:ext cx="10668000" cy="90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Capstone project is the bridge between student theory and industrial expertise.</a:t>
            </a:r>
            <a:endParaRPr/>
          </a:p>
        </p:txBody>
      </p:sp>
      <p:sp>
        <p:nvSpPr>
          <p:cNvPr id="455" name="Google Shape;455;p36"/>
          <p:cNvSpPr txBox="1"/>
          <p:nvPr/>
        </p:nvSpPr>
        <p:spPr>
          <a:xfrm>
            <a:off x="3620708" y="5767386"/>
            <a:ext cx="53054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Q&amp;A SESSION | TRAINING COMPLETE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1021</Words>
  <Application>Microsoft Office PowerPoint</Application>
  <PresentationFormat>Widescreen</PresentationFormat>
  <Paragraphs>150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Calibri</vt:lpstr>
      <vt:lpstr>Lato</vt:lpstr>
      <vt:lpstr>Poppins</vt:lpstr>
      <vt:lpstr>Arial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7</cp:revision>
  <dcterms:modified xsi:type="dcterms:W3CDTF">2026-06-10T11:09:05Z</dcterms:modified>
</cp:coreProperties>
</file>